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7" r:id="rId7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r>
              <a:rPr sz="1620" b="0" i="0" u="none" strike="noStrike">
                <a:solidFill>
                  <a:srgbClr val="000000"/>
                </a:solidFill>
                <a:latin typeface="Helvetica Neue Bold Condensed"/>
              </a:rPr>
              <a:t>Postgrado</a:t>
            </a:r>
          </a:p>
        </c:rich>
      </c:tx>
      <c:layout>
        <c:manualLayout>
          <c:xMode val="edge"/>
          <c:yMode val="edge"/>
          <c:x val="0.424404"/>
          <c:y val="0"/>
          <c:w val="0.15119299999999999"/>
          <c:h val="0.20741000000000001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9.7012399999999999E-2"/>
          <c:y val="0.20741000000000001"/>
          <c:w val="0.89798800000000001"/>
          <c:h val="0.4375649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Doctorado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13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64-1147-A070-942C0AB042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Mg. Académico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20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64-1147-A070-942C0AB042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Mg. Profesional</c:v>
                </c:pt>
              </c:strCache>
            </c:strRef>
          </c:tx>
          <c:spPr>
            <a:solidFill>
              <a:schemeClr val="accent3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19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64-1147-A070-942C0AB04201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Esp. Medica</c:v>
                </c:pt>
              </c:strCache>
            </c:strRef>
          </c:tx>
          <c:spPr>
            <a:solidFill>
              <a:schemeClr val="accent4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28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64-1147-A070-942C0AB04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28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Nº Programas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7"/>
        <c:minorUnit val="3.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13037199999999999"/>
          <c:y val="0.82782999999999995"/>
          <c:w val="0.71693799999999996"/>
          <c:h val="0.172169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34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9.7012399999999999E-2"/>
          <c:y val="0.13109599999999999"/>
          <c:w val="0.89798800000000001"/>
          <c:h val="0.53616399999999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Diurno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25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4C-584D-800E-A328DCD39A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Vespertino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27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4C-584D-800E-A328DCD39A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Semiprescencial</c:v>
                </c:pt>
              </c:strCache>
            </c:strRef>
          </c:tx>
          <c:spPr>
            <a:solidFill>
              <a:schemeClr val="accent3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4C-584D-800E-A328DCD39AA5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A Distancia</c:v>
                </c:pt>
              </c:strCache>
            </c:strRef>
          </c:tx>
          <c:spPr>
            <a:solidFill>
              <a:schemeClr val="accent4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4C-584D-800E-A328DCD39A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27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Modalidad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6.75"/>
        <c:minorUnit val="3.37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101286"/>
          <c:y val="0.89017500000000005"/>
          <c:w val="0.89444100000000004"/>
          <c:h val="0.10982500000000001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34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r>
              <a:rPr sz="1620" b="0" i="0" u="none" strike="noStrike">
                <a:solidFill>
                  <a:srgbClr val="000000"/>
                </a:solidFill>
                <a:latin typeface="Helvetica Neue Bold Condensed"/>
              </a:rPr>
              <a:t>Pregrado</a:t>
            </a:r>
          </a:p>
        </c:rich>
      </c:tx>
      <c:layout>
        <c:manualLayout>
          <c:xMode val="edge"/>
          <c:yMode val="edge"/>
          <c:x val="0.43235099999999999"/>
          <c:y val="0"/>
          <c:w val="0.135298"/>
          <c:h val="0.20741000000000001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9.7012399999999999E-2"/>
          <c:y val="0.20741000000000001"/>
          <c:w val="0.89798800000000001"/>
          <c:h val="0.4375649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Técnico Nivel Superior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28-2646-8949-24B5AD76049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Profesional Sin Licenciatura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9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28-2646-8949-24B5AD76049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Profesional Con Licenciatura</c:v>
                </c:pt>
              </c:strCache>
            </c:strRef>
          </c:tx>
          <c:spPr>
            <a:solidFill>
              <a:schemeClr val="accent3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84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28-2646-8949-24B5AD76049F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Licenciatura Sin Título</c:v>
                </c:pt>
              </c:strCache>
            </c:strRef>
          </c:tx>
          <c:spPr>
            <a:solidFill>
              <a:schemeClr val="accent4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28-2646-8949-24B5AD760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95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Nº Carreras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23.75"/>
        <c:minorUnit val="11.87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101286"/>
          <c:y val="0.82782999999999995"/>
          <c:w val="0.89444100000000004"/>
          <c:h val="0.172169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34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9.7012399999999999E-2"/>
          <c:y val="0.13109599999999999"/>
          <c:w val="0.89798800000000001"/>
          <c:h val="0.53616399999999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Diurno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71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B8-DA48-B81A-52BE6FF6E59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Vespertino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26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B8-DA48-B81A-52BE6FF6E59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Semiprescencial</c:v>
                </c:pt>
              </c:strCache>
            </c:strRef>
          </c:tx>
          <c:spPr>
            <a:solidFill>
              <a:schemeClr val="accent3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B8-DA48-B81A-52BE6FF6E59B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A Distancia</c:v>
                </c:pt>
              </c:strCache>
            </c:strRef>
          </c:tx>
          <c:spPr>
            <a:solidFill>
              <a:schemeClr val="accent4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2020</c:v>
                </c:pt>
                <c:pt idx="1">
                  <c:v>2026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B8-DA48-B81A-52BE6FF6E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71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Modalidad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17.75"/>
        <c:minorUnit val="8.87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101286"/>
          <c:y val="0.89017500000000005"/>
          <c:w val="0.89444100000000004"/>
          <c:h val="0.10982500000000001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34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720" b="0" i="0" u="none" strike="noStrike">
                <a:solidFill>
                  <a:srgbClr val="000000"/>
                </a:solidFill>
                <a:latin typeface="Helvetica Neue Bold Condensed"/>
              </a:defRPr>
            </a:pPr>
            <a:r>
              <a:rPr sz="1720" b="0" i="0" u="none" strike="noStrike">
                <a:solidFill>
                  <a:srgbClr val="000000"/>
                </a:solidFill>
                <a:latin typeface="Helvetica Neue Bold Condensed"/>
              </a:rPr>
              <a:t>Pregrado (regular)</a:t>
            </a:r>
          </a:p>
        </c:rich>
      </c:tx>
      <c:layout>
        <c:manualLayout>
          <c:xMode val="edge"/>
          <c:yMode val="edge"/>
          <c:x val="0.31365399999999999"/>
          <c:y val="0"/>
          <c:w val="0.28278500000000001"/>
          <c:h val="0.28392099999999998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9.8088499999999995E-2"/>
          <c:y val="0.28392099999999998"/>
          <c:w val="0.80862199999999995"/>
          <c:h val="0.62759600000000004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1er año</c:v>
                </c:pt>
              </c:strCache>
            </c:strRef>
          </c:tx>
          <c:spPr>
            <a:ln w="31750" cap="flat">
              <a:solidFill>
                <a:schemeClr val="accent1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8"/>
                <c:pt idx="0">
                  <c:v>81.400000000000006</c:v>
                </c:pt>
                <c:pt idx="1">
                  <c:v>79.7</c:v>
                </c:pt>
                <c:pt idx="2">
                  <c:v>80.2</c:v>
                </c:pt>
                <c:pt idx="3">
                  <c:v>84.3</c:v>
                </c:pt>
                <c:pt idx="4">
                  <c:v>83.4</c:v>
                </c:pt>
                <c:pt idx="5">
                  <c:v>79.400000000000006</c:v>
                </c:pt>
                <c:pt idx="6">
                  <c:v>79.599999999999994</c:v>
                </c:pt>
                <c:pt idx="7">
                  <c:v>79.8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BD-544C-93FF-3E5CB891359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3er año</c:v>
                </c:pt>
              </c:strCache>
            </c:strRef>
          </c:tx>
          <c:spPr>
            <a:ln w="31750" cap="flat">
              <a:solidFill>
                <a:schemeClr val="accent2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6350" cap="flat">
                <a:solidFill>
                  <a:schemeClr val="accent2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6"/>
                <c:pt idx="0">
                  <c:v>63.3</c:v>
                </c:pt>
                <c:pt idx="1">
                  <c:v>66.2</c:v>
                </c:pt>
                <c:pt idx="2">
                  <c:v>69</c:v>
                </c:pt>
                <c:pt idx="3">
                  <c:v>68.7</c:v>
                </c:pt>
                <c:pt idx="4">
                  <c:v>62.6</c:v>
                </c:pt>
                <c:pt idx="5">
                  <c:v>61.2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BD-544C-93FF-3E5CB8913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90"/>
          <c:min val="6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Retención %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7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midCat"/>
        <c:majorUnit val="7.5"/>
        <c:minorUnit val="3.7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801562"/>
          <c:y val="0.14285500000000001"/>
          <c:w val="0.198438"/>
          <c:h val="0.238043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22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9.7510299999999994E-2"/>
          <c:y val="0.16492200000000001"/>
          <c:w val="0.80385600000000001"/>
          <c:h val="0.733968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Exacta</c:v>
                </c:pt>
              </c:strCache>
            </c:strRef>
          </c:tx>
          <c:spPr>
            <a:ln w="31750" cap="flat">
              <a:solidFill>
                <a:schemeClr val="accent1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7"/>
                <c:pt idx="1">
                  <c:v>5.0999999999999996</c:v>
                </c:pt>
                <c:pt idx="2">
                  <c:v>3.8</c:v>
                </c:pt>
                <c:pt idx="3">
                  <c:v>1</c:v>
                </c:pt>
                <c:pt idx="4">
                  <c:v>1.3</c:v>
                </c:pt>
                <c:pt idx="5">
                  <c:v>3</c:v>
                </c:pt>
                <c:pt idx="6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F4-5E4F-91DB-C40733FFDF4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Oportuna</c:v>
                </c:pt>
              </c:strCache>
            </c:strRef>
          </c:tx>
          <c:spPr>
            <a:ln w="31750" cap="flat">
              <a:solidFill>
                <a:schemeClr val="accent2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6350" cap="flat">
                <a:solidFill>
                  <a:schemeClr val="accent2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7"/>
                <c:pt idx="1">
                  <c:v>29.3</c:v>
                </c:pt>
                <c:pt idx="2">
                  <c:v>29</c:v>
                </c:pt>
                <c:pt idx="3">
                  <c:v>20.7</c:v>
                </c:pt>
                <c:pt idx="4">
                  <c:v>19</c:v>
                </c:pt>
                <c:pt idx="5">
                  <c:v>28.8</c:v>
                </c:pt>
                <c:pt idx="6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F4-5E4F-91DB-C40733FFDF4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+ 3años</c:v>
                </c:pt>
              </c:strCache>
            </c:strRef>
          </c:tx>
          <c:spPr>
            <a:ln w="31750" cap="flat">
              <a:solidFill>
                <a:schemeClr val="accent3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3"/>
              </a:solidFill>
              <a:ln w="6350" cap="flat">
                <a:solidFill>
                  <a:schemeClr val="accent3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7"/>
                <c:pt idx="1">
                  <c:v>49.5</c:v>
                </c:pt>
                <c:pt idx="2">
                  <c:v>48.4</c:v>
                </c:pt>
                <c:pt idx="3">
                  <c:v>43.7</c:v>
                </c:pt>
                <c:pt idx="4">
                  <c:v>43.9</c:v>
                </c:pt>
                <c:pt idx="5">
                  <c:v>41</c:v>
                </c:pt>
                <c:pt idx="6">
                  <c:v>41.7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F4-5E4F-91DB-C40733FFDF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50"/>
          <c:min val="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Titulación %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7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midCat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77807400000000004"/>
          <c:y val="0"/>
          <c:w val="0.22192600000000001"/>
          <c:h val="0.3976700000000000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22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208700000000001"/>
          <c:y val="0.142516"/>
          <c:w val="0.77341000000000004"/>
          <c:h val="0.6325539999999999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8 Sem</c:v>
                </c:pt>
              </c:strCache>
            </c:strRef>
          </c:tx>
          <c:spPr>
            <a:ln w="31750" cap="flat">
              <a:solidFill>
                <a:schemeClr val="accent1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7"/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2B-704D-9392-A0AFE4B5483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11 Sem</c:v>
                </c:pt>
              </c:strCache>
            </c:strRef>
          </c:tx>
          <c:spPr>
            <a:ln w="31750" cap="flat">
              <a:solidFill>
                <a:schemeClr val="accent2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6350" cap="flat">
                <a:solidFill>
                  <a:schemeClr val="accent2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7"/>
                <c:pt idx="1">
                  <c:v>13</c:v>
                </c:pt>
                <c:pt idx="2">
                  <c:v>17</c:v>
                </c:pt>
                <c:pt idx="3">
                  <c:v>20</c:v>
                </c:pt>
                <c:pt idx="4">
                  <c:v>20</c:v>
                </c:pt>
                <c:pt idx="5">
                  <c:v>22</c:v>
                </c:pt>
                <c:pt idx="6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2B-704D-9392-A0AFE4B5483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12 Sem</c:v>
                </c:pt>
              </c:strCache>
            </c:strRef>
          </c:tx>
          <c:spPr>
            <a:ln w="31750" cap="flat">
              <a:solidFill>
                <a:schemeClr val="accent3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3"/>
              </a:solidFill>
              <a:ln w="6350" cap="flat">
                <a:solidFill>
                  <a:schemeClr val="accent3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7"/>
                <c:pt idx="1">
                  <c:v>15</c:v>
                </c:pt>
                <c:pt idx="2">
                  <c:v>15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2B-704D-9392-A0AFE4B54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24"/>
          <c:min val="11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Permanencia (Sem)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7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midCat"/>
        <c:majorUnit val="3.25"/>
        <c:minorUnit val="1.62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78736799999999996"/>
          <c:y val="0"/>
          <c:w val="0.21263199999999999"/>
          <c:h val="0.347038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22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720" b="0" i="0" u="none" strike="noStrike">
                <a:solidFill>
                  <a:srgbClr val="000000"/>
                </a:solidFill>
                <a:latin typeface="Helvetica Neue Bold Condensed"/>
              </a:defRPr>
            </a:pPr>
            <a:r>
              <a:rPr sz="1720" b="0" i="0" u="none" strike="noStrike">
                <a:solidFill>
                  <a:srgbClr val="000000"/>
                </a:solidFill>
                <a:latin typeface="Helvetica Neue Bold Condensed"/>
              </a:rPr>
              <a:t>Postgrado</a:t>
            </a:r>
          </a:p>
        </c:rich>
      </c:tx>
      <c:layout>
        <c:manualLayout>
          <c:xMode val="edge"/>
          <c:yMode val="edge"/>
          <c:x val="0.39065899999999998"/>
          <c:y val="0"/>
          <c:w val="0.15387300000000001"/>
          <c:h val="0.28392099999999998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13641800000000001"/>
          <c:y val="0.28392099999999998"/>
          <c:w val="0.79544499999999996"/>
          <c:h val="0.62759600000000004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Doctorado</c:v>
                </c:pt>
              </c:strCache>
            </c:strRef>
          </c:tx>
          <c:spPr>
            <a:ln w="31750" cap="flat">
              <a:solidFill>
                <a:schemeClr val="accent1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8"/>
                <c:pt idx="0">
                  <c:v>75</c:v>
                </c:pt>
                <c:pt idx="1">
                  <c:v>89</c:v>
                </c:pt>
                <c:pt idx="2">
                  <c:v>91</c:v>
                </c:pt>
                <c:pt idx="3">
                  <c:v>81</c:v>
                </c:pt>
                <c:pt idx="4">
                  <c:v>78</c:v>
                </c:pt>
                <c:pt idx="5">
                  <c:v>77</c:v>
                </c:pt>
                <c:pt idx="6">
                  <c:v>89</c:v>
                </c:pt>
                <c:pt idx="7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B1-3443-BF06-180EF1A4614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Magíster</c:v>
                </c:pt>
              </c:strCache>
            </c:strRef>
          </c:tx>
          <c:spPr>
            <a:ln w="31750" cap="flat">
              <a:solidFill>
                <a:schemeClr val="accent2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6350" cap="flat">
                <a:solidFill>
                  <a:schemeClr val="accent2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8"/>
                <c:pt idx="0">
                  <c:v>86</c:v>
                </c:pt>
                <c:pt idx="1">
                  <c:v>76</c:v>
                </c:pt>
                <c:pt idx="2">
                  <c:v>73</c:v>
                </c:pt>
                <c:pt idx="3">
                  <c:v>85</c:v>
                </c:pt>
                <c:pt idx="4">
                  <c:v>85</c:v>
                </c:pt>
                <c:pt idx="5">
                  <c:v>83</c:v>
                </c:pt>
                <c:pt idx="6">
                  <c:v>80</c:v>
                </c:pt>
                <c:pt idx="7">
                  <c:v>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B1-3443-BF06-180EF1A461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100"/>
          <c:min val="7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Retención % 1er año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7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midCat"/>
        <c:majorUnit val="7.5"/>
        <c:minorUnit val="3.7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80479599999999996"/>
          <c:y val="0.14285500000000001"/>
          <c:w val="0.19520399999999999"/>
          <c:h val="0.238043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22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4774"/>
          <c:y val="0.16492200000000001"/>
          <c:w val="0.78585700000000003"/>
          <c:h val="0.733968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Doctorado</c:v>
                </c:pt>
              </c:strCache>
            </c:strRef>
          </c:tx>
          <c:spPr>
            <a:ln w="31750" cap="flat">
              <a:solidFill>
                <a:schemeClr val="accent1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7"/>
                <c:pt idx="1">
                  <c:v>60.3</c:v>
                </c:pt>
                <c:pt idx="2">
                  <c:v>57.3</c:v>
                </c:pt>
                <c:pt idx="3">
                  <c:v>62.2</c:v>
                </c:pt>
                <c:pt idx="4">
                  <c:v>64.099999999999994</c:v>
                </c:pt>
                <c:pt idx="5">
                  <c:v>55.8</c:v>
                </c:pt>
                <c:pt idx="6">
                  <c:v>52.9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A2-D64A-8515-24A3AC1B52D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Magíster</c:v>
                </c:pt>
              </c:strCache>
            </c:strRef>
          </c:tx>
          <c:spPr>
            <a:ln w="31750" cap="flat">
              <a:solidFill>
                <a:schemeClr val="accent2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6350" cap="flat">
                <a:solidFill>
                  <a:schemeClr val="accent2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7"/>
                <c:pt idx="1">
                  <c:v>51.1</c:v>
                </c:pt>
                <c:pt idx="2">
                  <c:v>56.6</c:v>
                </c:pt>
                <c:pt idx="3">
                  <c:v>52.9</c:v>
                </c:pt>
                <c:pt idx="4">
                  <c:v>57.6</c:v>
                </c:pt>
                <c:pt idx="5">
                  <c:v>52.8</c:v>
                </c:pt>
                <c:pt idx="6">
                  <c:v>52.9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A2-D64A-8515-24A3AC1B52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5"/>
          <c:min val="5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Graduación % 3er año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7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midCat"/>
        <c:majorUnit val="3.75"/>
        <c:minorUnit val="1.87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78304300000000004"/>
          <c:y val="0"/>
          <c:w val="0.21695700000000001"/>
          <c:h val="0.2734460000000000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22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2881"/>
          <c:y val="0.25718000000000002"/>
          <c:w val="0.778061"/>
          <c:h val="0.54629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Doctorado</c:v>
                </c:pt>
              </c:strCache>
            </c:strRef>
          </c:tx>
          <c:spPr>
            <a:ln w="31750" cap="flat">
              <a:solidFill>
                <a:schemeClr val="accent1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8"/>
                <c:pt idx="1">
                  <c:v>11.5</c:v>
                </c:pt>
                <c:pt idx="2">
                  <c:v>11.6</c:v>
                </c:pt>
                <c:pt idx="3">
                  <c:v>11.8</c:v>
                </c:pt>
                <c:pt idx="4">
                  <c:v>10.9</c:v>
                </c:pt>
                <c:pt idx="5">
                  <c:v>11.1</c:v>
                </c:pt>
                <c:pt idx="6">
                  <c:v>11</c:v>
                </c:pt>
                <c:pt idx="7">
                  <c:v>10.199999999999999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89-0D41-8068-A4FB65DD196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M. Académico</c:v>
                </c:pt>
              </c:strCache>
            </c:strRef>
          </c:tx>
          <c:spPr>
            <a:ln w="31750" cap="flat">
              <a:solidFill>
                <a:schemeClr val="accent2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6350" cap="flat">
                <a:solidFill>
                  <a:schemeClr val="accent2"/>
                </a:solidFill>
                <a:prstDash val="solid"/>
                <a:miter lim="800000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7"/>
                <c:pt idx="1">
                  <c:v>6.5</c:v>
                </c:pt>
                <c:pt idx="2">
                  <c:v>6.7</c:v>
                </c:pt>
                <c:pt idx="3">
                  <c:v>6.4</c:v>
                </c:pt>
                <c:pt idx="4">
                  <c:v>7.1</c:v>
                </c:pt>
                <c:pt idx="5">
                  <c:v>6.8</c:v>
                </c:pt>
                <c:pt idx="6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89-0D41-8068-A4FB65DD196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M. Profesional</c:v>
                </c:pt>
              </c:strCache>
            </c:strRef>
          </c:tx>
          <c:spPr>
            <a:ln w="31750" cap="flat">
              <a:solidFill>
                <a:schemeClr val="accent3"/>
              </a:solidFill>
              <a:prstDash val="solid"/>
              <a:miter lim="800000"/>
            </a:ln>
            <a:effectLst/>
          </c:spPr>
          <c:marker>
            <c:symbol val="circle"/>
            <c:size val="7"/>
            <c:spPr>
              <a:solidFill>
                <a:schemeClr val="accent3"/>
              </a:solidFill>
              <a:ln w="6350" cap="flat">
                <a:solidFill>
                  <a:schemeClr val="accent3"/>
                </a:solidFill>
                <a:prstDash val="solid"/>
                <a:miter lim="800000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7"/>
                <c:pt idx="1">
                  <c:v>6.3</c:v>
                </c:pt>
                <c:pt idx="2">
                  <c:v>7</c:v>
                </c:pt>
                <c:pt idx="3">
                  <c:v>7.2</c:v>
                </c:pt>
                <c:pt idx="4">
                  <c:v>7.8</c:v>
                </c:pt>
                <c:pt idx="5">
                  <c:v>7.7</c:v>
                </c:pt>
                <c:pt idx="6">
                  <c:v>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89-0D41-8068-A4FB65DD19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12"/>
          <c:min val="6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5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5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Permanencia (Sem)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7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midCat"/>
        <c:majorUnit val="1.5"/>
        <c:minorUnit val="0.7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78392899999999999"/>
          <c:y val="0"/>
          <c:w val="0.21607100000000001"/>
          <c:h val="0.303975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22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636200000000001"/>
          <c:y val="6.6240499999999994E-2"/>
          <c:w val="0.77118399999999998"/>
          <c:h val="0.6751559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4F71BE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cat>
            <c:strRef>
              <c:f>Sheet1!$B$1:$J$1</c:f>
              <c:strCache>
                <c:ptCount val="9"/>
                <c:pt idx="0">
                  <c:v>FING</c:v>
                </c:pt>
                <c:pt idx="1">
                  <c:v>FCIENCIA</c:v>
                </c:pt>
                <c:pt idx="2">
                  <c:v>DERECHO</c:v>
                </c:pt>
                <c:pt idx="3">
                  <c:v>FQyB</c:v>
                </c:pt>
                <c:pt idx="4">
                  <c:v>FAHU</c:v>
                </c:pt>
                <c:pt idx="5">
                  <c:v>FAE</c:v>
                </c:pt>
                <c:pt idx="6">
                  <c:v>FACTEC</c:v>
                </c:pt>
                <c:pt idx="7">
                  <c:v>FACIMED</c:v>
                </c:pt>
                <c:pt idx="8">
                  <c:v>FARAC</c:v>
                </c:pt>
              </c:strCache>
            </c:strRef>
          </c:cat>
          <c:val>
            <c:numRef>
              <c:f>Sheet1!$B$2:$J$2</c:f>
              <c:numCache>
                <c:formatCode>General</c:formatCode>
                <c:ptCount val="9"/>
                <c:pt idx="0">
                  <c:v>74.8</c:v>
                </c:pt>
                <c:pt idx="1">
                  <c:v>77.099999999999994</c:v>
                </c:pt>
                <c:pt idx="2">
                  <c:v>75.2</c:v>
                </c:pt>
                <c:pt idx="3">
                  <c:v>79.900000000000006</c:v>
                </c:pt>
                <c:pt idx="4">
                  <c:v>81.599999999999994</c:v>
                </c:pt>
                <c:pt idx="5">
                  <c:v>72.5</c:v>
                </c:pt>
                <c:pt idx="6">
                  <c:v>77.400000000000006</c:v>
                </c:pt>
                <c:pt idx="7">
                  <c:v>85.3</c:v>
                </c:pt>
                <c:pt idx="8">
                  <c:v>94.9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FB-D642-9986-B7077F29DA3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DF8345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&quot;     &quot;#,##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535353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Sheet1!$B$1:$J$1</c:f>
              <c:strCache>
                <c:ptCount val="9"/>
                <c:pt idx="0">
                  <c:v>FING</c:v>
                </c:pt>
                <c:pt idx="1">
                  <c:v>FCIENCIA</c:v>
                </c:pt>
                <c:pt idx="2">
                  <c:v>DERECHO</c:v>
                </c:pt>
                <c:pt idx="3">
                  <c:v>FQyB</c:v>
                </c:pt>
                <c:pt idx="4">
                  <c:v>FAHU</c:v>
                </c:pt>
                <c:pt idx="5">
                  <c:v>FAE</c:v>
                </c:pt>
                <c:pt idx="6">
                  <c:v>FACTEC</c:v>
                </c:pt>
                <c:pt idx="7">
                  <c:v>FACIMED</c:v>
                </c:pt>
                <c:pt idx="8">
                  <c:v>FARAC</c:v>
                </c:pt>
              </c:strCache>
            </c:strRef>
          </c:cat>
          <c:val>
            <c:numRef>
              <c:f>Sheet1!$B$3:$J$3</c:f>
              <c:numCache>
                <c:formatCode>General</c:formatCode>
                <c:ptCount val="9"/>
                <c:pt idx="0">
                  <c:v>69.900000000000006</c:v>
                </c:pt>
                <c:pt idx="1">
                  <c:v>77.3</c:v>
                </c:pt>
                <c:pt idx="2">
                  <c:v>79.8</c:v>
                </c:pt>
                <c:pt idx="3">
                  <c:v>83.4</c:v>
                </c:pt>
                <c:pt idx="4">
                  <c:v>84</c:v>
                </c:pt>
                <c:pt idx="5">
                  <c:v>85.6</c:v>
                </c:pt>
                <c:pt idx="6">
                  <c:v>85.6</c:v>
                </c:pt>
                <c:pt idx="7">
                  <c:v>87.9</c:v>
                </c:pt>
                <c:pt idx="8">
                  <c:v>88.9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FB-D642-9986-B7077F29D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-16200000"/>
          <a:lstStyle/>
          <a:p>
            <a:pPr>
              <a:defRPr sz="23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chemeClr val="accent3">
                  <a:lumOff val="-12941"/>
                </a:schemeClr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287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287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Retención % 1er año</a:t>
                </a:r>
              </a:p>
            </c:rich>
          </c:tx>
          <c:overlay val="1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323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10"/>
        <c:minorUnit val="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90111200000000002"/>
          <c:y val="7.9395500000000001E-3"/>
          <c:w val="9.8887600000000006E-2"/>
          <c:h val="0.129101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r>
              <a:rPr sz="1620" b="0" i="0" u="none" strike="noStrike">
                <a:solidFill>
                  <a:srgbClr val="000000"/>
                </a:solidFill>
                <a:latin typeface="Helvetica Neue Bold Condensed"/>
              </a:rPr>
              <a:t>Años de acreditación</a:t>
            </a:r>
          </a:p>
        </c:rich>
      </c:tx>
      <c:layout>
        <c:manualLayout>
          <c:xMode val="edge"/>
          <c:yMode val="edge"/>
          <c:x val="0.26710800000000001"/>
          <c:y val="3.0167800000000002E-2"/>
          <c:w val="0.34487000000000001"/>
          <c:h val="0.20927599999999999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3.7098899999999997E-2"/>
          <c:y val="0.23944299999999999"/>
          <c:w val="0.84198799999999996"/>
          <c:h val="0.441614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Pedagogías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2026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4.8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A2-564B-8F0F-B2F45AF0A67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Medicina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2026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A2-564B-8F0F-B2F45AF0A6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6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Evolución</a:t>
                </a:r>
              </a:p>
            </c:rich>
          </c:tx>
          <c:overlay val="1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75817400000000001"/>
          <c:y val="0"/>
          <c:w val="0.24182600000000001"/>
          <c:h val="0.186106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34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r>
              <a:rPr sz="1620" b="0" i="0" u="none" strike="noStrike">
                <a:solidFill>
                  <a:srgbClr val="000000"/>
                </a:solidFill>
                <a:latin typeface="Helvetica Neue Bold Condensed"/>
              </a:rPr>
              <a:t>Años de acreditación</a:t>
            </a:r>
          </a:p>
        </c:rich>
      </c:tx>
      <c:layout>
        <c:manualLayout>
          <c:xMode val="edge"/>
          <c:yMode val="edge"/>
          <c:x val="0.27031500000000003"/>
          <c:y val="3.04029E-2"/>
          <c:w val="0.34900999999999999"/>
          <c:h val="0.20311299999999999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3.7544300000000003E-2"/>
          <c:y val="0.233516"/>
          <c:w val="0.85209599999999996"/>
          <c:h val="0.44515300000000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&lt;Años&gt;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2026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3.8</c:v>
                </c:pt>
                <c:pt idx="1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0D-3D45-A9D5-D3599E7921D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Nº Mag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2026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13</c:v>
                </c:pt>
                <c:pt idx="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0D-3D45-A9D5-D3599E7921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6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Evolución</a:t>
                </a:r>
              </a:p>
            </c:rich>
          </c:tx>
          <c:overlay val="1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7.5"/>
        <c:minorUnit val="3.75"/>
      </c:valAx>
      <c:spPr>
        <a:noFill/>
        <a:ln w="12700" cap="flat">
          <a:noFill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77927999999999997"/>
          <c:y val="0"/>
          <c:w val="0.22072"/>
          <c:h val="0.18736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34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r>
              <a:rPr sz="1620" b="0" i="0" u="none" strike="noStrike">
                <a:solidFill>
                  <a:srgbClr val="000000"/>
                </a:solidFill>
                <a:latin typeface="Helvetica Neue Bold Condensed"/>
              </a:rPr>
              <a:t>Años de acreditación</a:t>
            </a:r>
          </a:p>
        </c:rich>
      </c:tx>
      <c:layout>
        <c:manualLayout>
          <c:xMode val="edge"/>
          <c:yMode val="edge"/>
          <c:x val="0.27031500000000003"/>
          <c:y val="2.2609400000000002E-2"/>
          <c:w val="0.34900999999999999"/>
          <c:h val="0.21090700000000001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3.7544300000000003E-2"/>
          <c:y val="0.233516"/>
          <c:w val="0.85209599999999996"/>
          <c:h val="0.44515300000000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&lt;Años&gt;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2026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5.5</c:v>
                </c:pt>
                <c:pt idx="1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BD-E14E-90C1-19326873824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Nº Doc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2026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13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BD-E14E-90C1-1932687382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62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62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Evolución</a:t>
                </a:r>
              </a:p>
            </c:rich>
          </c:tx>
          <c:overlay val="1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62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4.5"/>
        <c:minorUnit val="2.25"/>
      </c:valAx>
      <c:spPr>
        <a:noFill/>
        <a:ln w="12700" cap="flat">
          <a:noFill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77927999999999997"/>
          <c:y val="0"/>
          <c:w val="0.22072"/>
          <c:h val="0.18736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34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3791400000000001E-2"/>
          <c:y val="8.8824899999999998E-2"/>
          <c:w val="0.85099800000000003"/>
          <c:h val="0.7617599999999999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Doctorado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556</c:v>
                </c:pt>
                <c:pt idx="1">
                  <c:v>568</c:v>
                </c:pt>
                <c:pt idx="2">
                  <c:v>580</c:v>
                </c:pt>
                <c:pt idx="3">
                  <c:v>542</c:v>
                </c:pt>
                <c:pt idx="4">
                  <c:v>604</c:v>
                </c:pt>
                <c:pt idx="5">
                  <c:v>645</c:v>
                </c:pt>
                <c:pt idx="6">
                  <c:v>662</c:v>
                </c:pt>
                <c:pt idx="7">
                  <c:v>715</c:v>
                </c:pt>
                <c:pt idx="8">
                  <c:v>731</c:v>
                </c:pt>
                <c:pt idx="9">
                  <c:v>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D-6C4E-8DE0-055F3272AFC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Magíster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607</c:v>
                </c:pt>
                <c:pt idx="1">
                  <c:v>643</c:v>
                </c:pt>
                <c:pt idx="2">
                  <c:v>672</c:v>
                </c:pt>
                <c:pt idx="3">
                  <c:v>528</c:v>
                </c:pt>
                <c:pt idx="4">
                  <c:v>636</c:v>
                </c:pt>
                <c:pt idx="5">
                  <c:v>708</c:v>
                </c:pt>
                <c:pt idx="6">
                  <c:v>721</c:v>
                </c:pt>
                <c:pt idx="7">
                  <c:v>745</c:v>
                </c:pt>
                <c:pt idx="8">
                  <c:v>845</c:v>
                </c:pt>
                <c:pt idx="9">
                  <c:v>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7D-6C4E-8DE0-055F3272AFC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Título</c:v>
                </c:pt>
              </c:strCache>
            </c:strRef>
          </c:tx>
          <c:spPr>
            <a:solidFill>
              <a:schemeClr val="accent3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1420</c:v>
                </c:pt>
                <c:pt idx="1">
                  <c:v>1461</c:v>
                </c:pt>
                <c:pt idx="2">
                  <c:v>1420</c:v>
                </c:pt>
                <c:pt idx="3">
                  <c:v>1492</c:v>
                </c:pt>
                <c:pt idx="4">
                  <c:v>1537</c:v>
                </c:pt>
                <c:pt idx="5">
                  <c:v>1812</c:v>
                </c:pt>
                <c:pt idx="6">
                  <c:v>1816</c:v>
                </c:pt>
                <c:pt idx="7">
                  <c:v>1935</c:v>
                </c:pt>
                <c:pt idx="8">
                  <c:v>1848</c:v>
                </c:pt>
                <c:pt idx="9">
                  <c:v>1629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7D-6C4E-8DE0-055F3272AFC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Especialidad</c:v>
                </c:pt>
              </c:strCache>
            </c:strRef>
          </c:tx>
          <c:spPr>
            <a:solidFill>
              <a:schemeClr val="accent4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Sheet1!$B$1:$K$1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Sheet1!$B$5:$K$5</c:f>
              <c:numCache>
                <c:formatCode>General</c:formatCode>
                <c:ptCount val="4"/>
                <c:pt idx="0">
                  <c:v>157</c:v>
                </c:pt>
                <c:pt idx="1">
                  <c:v>88</c:v>
                </c:pt>
                <c:pt idx="2">
                  <c:v>114</c:v>
                </c:pt>
                <c:pt idx="3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7D-6C4E-8DE0-055F3272A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350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Composición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500"/>
        <c:minorUnit val="250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87157899999999999"/>
          <c:y val="0.34057700000000002"/>
          <c:w val="0.12842100000000001"/>
          <c:h val="0.29904500000000001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50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9313400000000001E-2"/>
          <c:y val="0.102774"/>
          <c:w val="0.677145"/>
          <c:h val="0.72631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J. Completa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24.3</c:v>
                </c:pt>
                <c:pt idx="1">
                  <c:v>21.8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B7-F147-9D2F-6EED2A3FA07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3/4 J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1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B7-F147-9D2F-6EED2A3FA07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1/2 J</c:v>
                </c:pt>
              </c:strCache>
            </c:strRef>
          </c:tx>
          <c:spPr>
            <a:solidFill>
              <a:schemeClr val="accent3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2</c:v>
                </c:pt>
                <c:pt idx="1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B7-F147-9D2F-6EED2A3FA07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1/4 J</c:v>
                </c:pt>
              </c:strCache>
            </c:strRef>
          </c:tx>
          <c:spPr>
            <a:solidFill>
              <a:schemeClr val="accent4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30</c:v>
                </c:pt>
                <c:pt idx="1">
                  <c:v>28.6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B7-F147-9D2F-6EED2A3FA07D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chemeClr val="accent5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Sheet1!$B$6:$C$6</c:f>
              <c:numCache>
                <c:formatCode>General</c:formatCode>
                <c:ptCount val="2"/>
                <c:pt idx="0">
                  <c:v>42.7</c:v>
                </c:pt>
                <c:pt idx="1">
                  <c:v>42.5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B7-F147-9D2F-6EED2A3FA0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Jornada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15"/>
        <c:minorUnit val="7.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76645799999999997"/>
          <c:y val="0.27916999999999997"/>
          <c:w val="0.233542"/>
          <c:h val="0.42135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50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9.2454700000000001E-2"/>
          <c:y val="0.102774"/>
          <c:w val="0.70096199999999997"/>
          <c:h val="0.72631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Doctorado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20.6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26-814D-9378-0251815A035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Magíster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20.100000000000001</c:v>
                </c:pt>
                <c:pt idx="1">
                  <c:v>28.8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26-814D-9378-0251815A035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Título</c:v>
                </c:pt>
              </c:strCache>
            </c:strRef>
          </c:tx>
          <c:spPr>
            <a:solidFill>
              <a:schemeClr val="accent3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56.8</c:v>
                </c:pt>
                <c:pt idx="1">
                  <c:v>48.1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26-814D-9378-0251815A0355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Especialidad</c:v>
                </c:pt>
              </c:strCache>
            </c:strRef>
          </c:tx>
          <c:spPr>
            <a:solidFill>
              <a:schemeClr val="accent4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2019</c:v>
                </c:pt>
                <c:pt idx="1">
                  <c:v>2025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2.5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26-814D-9378-0251815A0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Formación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15"/>
        <c:minorUnit val="7.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72887100000000005"/>
          <c:y val="0.27916999999999997"/>
          <c:w val="0.27112900000000001"/>
          <c:h val="0.34208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50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7653299999999997"/>
          <c:y val="0.27653299999999997"/>
          <c:w val="0.446934"/>
          <c:h val="0.43443399999999999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AC1C-7F46-B81F-CB398938F7F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AC1C-7F46-B81F-CB398938F7F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AC1C-7F46-B81F-CB398938F7F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AC1C-7F46-B81F-CB398938F7F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9-AC1C-7F46-B81F-CB398938F7F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B-AC1C-7F46-B81F-CB398938F7F3}"/>
              </c:ext>
            </c:extLst>
          </c:dPt>
          <c:dPt>
            <c:idx val="6"/>
            <c:bubble3D val="0"/>
            <c:spPr>
              <a:solidFill>
                <a:srgbClr val="5882CC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D-AC1C-7F46-B81F-CB398938F7F3}"/>
              </c:ext>
            </c:extLst>
          </c:dPt>
          <c:dPt>
            <c:idx val="7"/>
            <c:bubble3D val="0"/>
            <c:spPr>
              <a:solidFill>
                <a:srgbClr val="EF8D4B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F-AC1C-7F46-B81F-CB398938F7F3}"/>
              </c:ext>
            </c:extLst>
          </c:dPt>
          <c:dPt>
            <c:idx val="8"/>
            <c:bubble3D val="0"/>
            <c:spPr>
              <a:solidFill>
                <a:srgbClr val="B1B1B1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1-AC1C-7F46-B81F-CB398938F7F3}"/>
              </c:ext>
            </c:extLst>
          </c:dPt>
          <c:dPt>
            <c:idx val="9"/>
            <c:bubble3D val="0"/>
            <c:spPr>
              <a:solidFill>
                <a:srgbClr val="FFC822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3-AC1C-7F46-B81F-CB398938F7F3}"/>
              </c:ext>
            </c:extLst>
          </c:dPt>
          <c:dPt>
            <c:idx val="10"/>
            <c:bubble3D val="0"/>
            <c:spPr>
              <a:solidFill>
                <a:srgbClr val="6EA7DB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5-AC1C-7F46-B81F-CB398938F7F3}"/>
              </c:ext>
            </c:extLst>
          </c:dPt>
          <c:dPt>
            <c:idx val="11"/>
            <c:bubble3D val="0"/>
            <c:spPr>
              <a:solidFill>
                <a:srgbClr val="80B85A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7-AC1C-7F46-B81F-CB398938F7F3}"/>
              </c:ext>
            </c:extLst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C1C-7F46-B81F-CB398938F7F3}"/>
                </c:ext>
              </c:extLst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AC1C-7F46-B81F-CB398938F7F3}"/>
                </c:ext>
              </c:extLst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AC1C-7F46-B81F-CB398938F7F3}"/>
                </c:ext>
              </c:extLst>
            </c:dLbl>
            <c:dLbl>
              <c:idx val="3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AC1C-7F46-B81F-CB398938F7F3}"/>
                </c:ext>
              </c:extLst>
            </c:dLbl>
            <c:dLbl>
              <c:idx val="4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AC1C-7F46-B81F-CB398938F7F3}"/>
                </c:ext>
              </c:extLst>
            </c:dLbl>
            <c:dLbl>
              <c:idx val="5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AC1C-7F46-B81F-CB398938F7F3}"/>
                </c:ext>
              </c:extLst>
            </c:dLbl>
            <c:dLbl>
              <c:idx val="6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AC1C-7F46-B81F-CB398938F7F3}"/>
                </c:ext>
              </c:extLst>
            </c:dLbl>
            <c:dLbl>
              <c:idx val="7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AC1C-7F46-B81F-CB398938F7F3}"/>
                </c:ext>
              </c:extLst>
            </c:dLbl>
            <c:dLbl>
              <c:idx val="8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AC1C-7F46-B81F-CB398938F7F3}"/>
                </c:ext>
              </c:extLst>
            </c:dLbl>
            <c:dLbl>
              <c:idx val="9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AC1C-7F46-B81F-CB398938F7F3}"/>
                </c:ext>
              </c:extLst>
            </c:dLbl>
            <c:dLbl>
              <c:idx val="10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AC1C-7F46-B81F-CB398938F7F3}"/>
                </c:ext>
              </c:extLst>
            </c:dLbl>
            <c:dLbl>
              <c:idx val="11"/>
              <c:numFmt formatCode="#,##0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AC1C-7F46-B81F-CB398938F7F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127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Sheet1!$B$1:$M$1</c:f>
              <c:strCache>
                <c:ptCount val="12"/>
                <c:pt idx="0">
                  <c:v>FING</c:v>
                </c:pt>
                <c:pt idx="1">
                  <c:v>FACIMED</c:v>
                </c:pt>
                <c:pt idx="2">
                  <c:v>FAHU</c:v>
                </c:pt>
                <c:pt idx="3">
                  <c:v>FCIENCIA</c:v>
                </c:pt>
                <c:pt idx="4">
                  <c:v>FAE</c:v>
                </c:pt>
                <c:pt idx="5">
                  <c:v>FACTEC</c:v>
                </c:pt>
                <c:pt idx="6">
                  <c:v>FQyB</c:v>
                </c:pt>
                <c:pt idx="7">
                  <c:v>DERECHO</c:v>
                </c:pt>
                <c:pt idx="8">
                  <c:v>FARAC</c:v>
                </c:pt>
                <c:pt idx="9">
                  <c:v>VRA</c:v>
                </c:pt>
                <c:pt idx="10">
                  <c:v>VRIIC</c:v>
                </c:pt>
                <c:pt idx="11">
                  <c:v>VRAE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679</c:v>
                </c:pt>
                <c:pt idx="1">
                  <c:v>579</c:v>
                </c:pt>
                <c:pt idx="2">
                  <c:v>578</c:v>
                </c:pt>
                <c:pt idx="3">
                  <c:v>375</c:v>
                </c:pt>
                <c:pt idx="4">
                  <c:v>295</c:v>
                </c:pt>
                <c:pt idx="5">
                  <c:v>268</c:v>
                </c:pt>
                <c:pt idx="6">
                  <c:v>189</c:v>
                </c:pt>
                <c:pt idx="7">
                  <c:v>90</c:v>
                </c:pt>
                <c:pt idx="8">
                  <c:v>53</c:v>
                </c:pt>
                <c:pt idx="9">
                  <c:v>167</c:v>
                </c:pt>
                <c:pt idx="10">
                  <c:v>52</c:v>
                </c:pt>
                <c:pt idx="1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AC1C-7F46-B81F-CB398938F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88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57064400000000004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Untitled 1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7037-8742-B4CD-42A53E6A0B5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7037-8742-B4CD-42A53E6A0B5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37-8742-B4CD-42A53E6A0B5B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037-8742-B4CD-42A53E6A0B5B}"/>
                </c:ext>
              </c:extLst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7037-8742-B4CD-42A53E6A0B5B}"/>
                </c:ext>
              </c:extLst>
            </c:dLbl>
            <c:dLbl>
              <c:idx val="2"/>
              <c:numFmt formatCode="#,##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7037-8742-B4CD-42A53E6A0B5B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Sheet1!$B$1:$D$1</c:f>
              <c:strCache>
                <c:ptCount val="3"/>
                <c:pt idx="0">
                  <c:v>DOCTORADO</c:v>
                </c:pt>
                <c:pt idx="1">
                  <c:v>MAGÍSTER</c:v>
                </c:pt>
                <c:pt idx="2">
                  <c:v>TÍTULO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777</c:v>
                </c:pt>
                <c:pt idx="1">
                  <c:v>975</c:v>
                </c:pt>
                <c:pt idx="2">
                  <c:v>1629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37-8742-B4CD-42A53E6A0B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57064400000000004"/>
          <c:y val="0.32685399999999998"/>
          <c:w val="0.42935600000000002"/>
          <c:h val="0.3065780000000000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46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0253699999999999E-2"/>
          <c:y val="3.3779099999999999E-2"/>
          <c:w val="0.559087"/>
          <c:h val="0.919942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Untitled 1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4A54-1743-A1C3-537244CAC0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4A54-1743-A1C3-537244CAC0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4A54-1743-A1C3-537244CAC0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4A54-1743-A1C3-537244CAC0B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9-4A54-1743-A1C3-537244CAC0B8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4A54-1743-A1C3-537244CAC0B8}"/>
                </c:ext>
              </c:extLst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54-1743-A1C3-537244CAC0B8}"/>
                </c:ext>
              </c:extLst>
            </c:dLbl>
            <c:dLbl>
              <c:idx val="2"/>
              <c:numFmt formatCode="#,##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4A54-1743-A1C3-537244CAC0B8}"/>
                </c:ext>
              </c:extLst>
            </c:dLbl>
            <c:dLbl>
              <c:idx val="3"/>
              <c:numFmt formatCode="#,##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4A54-1743-A1C3-537244CAC0B8}"/>
                </c:ext>
              </c:extLst>
            </c:dLbl>
            <c:dLbl>
              <c:idx val="4"/>
              <c:numFmt formatCode="#,##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000000"/>
                      </a:solidFill>
                      <a:latin typeface="Helvetica Neue Bold Condensed"/>
                    </a:defRPr>
                  </a:pPr>
                  <a:endParaRPr lang="en-CL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4A54-1743-A1C3-537244CAC0B8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Sheet1!$B$1:$F$1</c:f>
              <c:strCache>
                <c:ptCount val="5"/>
                <c:pt idx="0">
                  <c:v>J COMPLETA</c:v>
                </c:pt>
                <c:pt idx="1">
                  <c:v>3/4 J</c:v>
                </c:pt>
                <c:pt idx="2">
                  <c:v>1/2 J</c:v>
                </c:pt>
                <c:pt idx="3">
                  <c:v>1/4 J</c:v>
                </c:pt>
                <c:pt idx="4">
                  <c:v>HORAS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738</c:v>
                </c:pt>
                <c:pt idx="1">
                  <c:v>25</c:v>
                </c:pt>
                <c:pt idx="2">
                  <c:v>213</c:v>
                </c:pt>
                <c:pt idx="3">
                  <c:v>969</c:v>
                </c:pt>
                <c:pt idx="4">
                  <c:v>1439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A54-1743-A1C3-537244CAC0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57933999999999997"/>
          <c:y val="0.27200400000000002"/>
          <c:w val="0.42065999999999998"/>
          <c:h val="0.46259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46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281399999999999"/>
          <c:y val="0.139016"/>
          <c:w val="0.74570199999999998"/>
          <c:h val="0.63420500000000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705 Total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</c:v>
                </c:pt>
                <c:pt idx="1">
                  <c:v>80</c:v>
                </c:pt>
                <c:pt idx="2">
                  <c:v>90</c:v>
                </c:pt>
                <c:pt idx="3">
                  <c:v>91</c:v>
                </c:pt>
                <c:pt idx="4">
                  <c:v>0</c:v>
                </c:pt>
                <c:pt idx="5">
                  <c:v>115</c:v>
                </c:pt>
                <c:pt idx="6">
                  <c:v>93</c:v>
                </c:pt>
                <c:pt idx="7">
                  <c:v>65</c:v>
                </c:pt>
                <c:pt idx="8">
                  <c:v>54</c:v>
                </c:pt>
                <c:pt idx="9">
                  <c:v>59</c:v>
                </c:pt>
                <c:pt idx="1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EF-9649-80AA-B079E4C7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DDU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30"/>
        <c:minorUnit val="15"/>
      </c:valAx>
      <c:spPr>
        <a:noFill/>
        <a:ln w="12700" cap="flat">
          <a:noFill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57156799999999996"/>
          <c:y val="0"/>
          <c:w val="0.42843199999999998"/>
          <c:h val="0.13222400000000001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50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30579"/>
          <c:y val="0.139016"/>
          <c:w val="0.73315600000000003"/>
          <c:h val="0.63420500000000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1784 Total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189</c:v>
                </c:pt>
                <c:pt idx="1">
                  <c:v>140</c:v>
                </c:pt>
                <c:pt idx="2">
                  <c:v>300</c:v>
                </c:pt>
                <c:pt idx="3">
                  <c:v>235</c:v>
                </c:pt>
                <c:pt idx="4">
                  <c:v>305</c:v>
                </c:pt>
                <c:pt idx="5">
                  <c:v>245</c:v>
                </c:pt>
                <c:pt idx="6">
                  <c:v>215</c:v>
                </c:pt>
                <c:pt idx="7">
                  <c:v>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A8-7B4B-910E-B2BB38CA1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EFP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80"/>
        <c:minorUnit val="40"/>
      </c:valAx>
      <c:spPr>
        <a:noFill/>
        <a:ln w="12700" cap="flat">
          <a:noFill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57877599999999996"/>
          <c:y val="1.35009E-2"/>
          <c:w val="0.42122399999999999"/>
          <c:h val="0.13222400000000001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50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5703400000000001"/>
          <c:y val="0.139016"/>
          <c:w val="0.67280899999999999"/>
          <c:h val="0.63420500000000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52 Total</c:v>
                </c:pt>
              </c:strCache>
            </c:strRef>
          </c:tx>
          <c:spPr>
            <a:solidFill>
              <a:srgbClr val="DF8344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19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6B-044F-AF3D-3E4AAFF390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DIIN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49343799999999999"/>
          <c:y val="0"/>
          <c:w val="0.50656199999999996"/>
          <c:h val="0.13222400000000001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50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1.8869199999999999E-2"/>
          <c:y val="6.20285E-2"/>
          <c:w val="0.95787999999999995"/>
          <c:h val="0.9005459999999999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49A199">
                <a:alpha val="40468"/>
              </a:srgbClr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  <c:pt idx="14">
                  <c:v>2025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</c:v>
                </c:pt>
                <c:pt idx="1">
                  <c:v>20</c:v>
                </c:pt>
                <c:pt idx="2">
                  <c:v>14</c:v>
                </c:pt>
                <c:pt idx="3">
                  <c:v>24</c:v>
                </c:pt>
                <c:pt idx="4">
                  <c:v>28</c:v>
                </c:pt>
                <c:pt idx="5">
                  <c:v>46</c:v>
                </c:pt>
                <c:pt idx="6">
                  <c:v>38</c:v>
                </c:pt>
                <c:pt idx="7">
                  <c:v>43</c:v>
                </c:pt>
                <c:pt idx="8">
                  <c:v>52</c:v>
                </c:pt>
                <c:pt idx="9">
                  <c:v>80</c:v>
                </c:pt>
                <c:pt idx="10">
                  <c:v>68</c:v>
                </c:pt>
                <c:pt idx="11">
                  <c:v>85</c:v>
                </c:pt>
                <c:pt idx="12">
                  <c:v>70</c:v>
                </c:pt>
                <c:pt idx="13">
                  <c:v>80</c:v>
                </c:pt>
                <c:pt idx="14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39-DB48-BBCB-7BECA6681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2"/>
        <c:axId val="2094734553"/>
      </c:area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120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midCat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23299999999999"/>
          <c:y val="5.7933400000000003E-2"/>
          <c:w val="0.88976699999999997"/>
          <c:h val="0.840268000000000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WOS+Scopus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  <c:pt idx="14">
                  <c:v>2025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</c:v>
                </c:pt>
                <c:pt idx="1">
                  <c:v>12</c:v>
                </c:pt>
                <c:pt idx="2">
                  <c:v>10</c:v>
                </c:pt>
                <c:pt idx="3">
                  <c:v>9</c:v>
                </c:pt>
                <c:pt idx="4">
                  <c:v>14</c:v>
                </c:pt>
                <c:pt idx="5">
                  <c:v>25</c:v>
                </c:pt>
                <c:pt idx="6">
                  <c:v>22</c:v>
                </c:pt>
                <c:pt idx="7">
                  <c:v>26</c:v>
                </c:pt>
                <c:pt idx="8">
                  <c:v>32</c:v>
                </c:pt>
                <c:pt idx="9">
                  <c:v>55</c:v>
                </c:pt>
                <c:pt idx="10">
                  <c:v>45</c:v>
                </c:pt>
                <c:pt idx="11">
                  <c:v>63</c:v>
                </c:pt>
                <c:pt idx="12">
                  <c:v>49</c:v>
                </c:pt>
                <c:pt idx="13">
                  <c:v>66</c:v>
                </c:pt>
                <c:pt idx="14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98-1D49-8645-92F868D503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Scielo</c:v>
                </c:pt>
              </c:strCache>
            </c:strRef>
          </c:tx>
          <c:spPr>
            <a:solidFill>
              <a:schemeClr val="accent2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endParaRPr lang="en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  <c:pt idx="14">
                  <c:v>2025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</c:v>
                </c:pt>
                <c:pt idx="1">
                  <c:v>8</c:v>
                </c:pt>
                <c:pt idx="2">
                  <c:v>4</c:v>
                </c:pt>
                <c:pt idx="3">
                  <c:v>15</c:v>
                </c:pt>
                <c:pt idx="4">
                  <c:v>14</c:v>
                </c:pt>
                <c:pt idx="5">
                  <c:v>21</c:v>
                </c:pt>
                <c:pt idx="6">
                  <c:v>16</c:v>
                </c:pt>
                <c:pt idx="7">
                  <c:v>17</c:v>
                </c:pt>
                <c:pt idx="8">
                  <c:v>20</c:v>
                </c:pt>
                <c:pt idx="9">
                  <c:v>25</c:v>
                </c:pt>
                <c:pt idx="10">
                  <c:v>23</c:v>
                </c:pt>
                <c:pt idx="11">
                  <c:v>22</c:v>
                </c:pt>
                <c:pt idx="12">
                  <c:v>21</c:v>
                </c:pt>
                <c:pt idx="13">
                  <c:v>14</c:v>
                </c:pt>
                <c:pt idx="1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98-1D49-8645-92F868D503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12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Helvetica Neue Bold Condensed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Helvetica Neue Bold Condensed"/>
                  </a:rPr>
                  <a:t>Nº de Publicaciones</a:t>
                </a:r>
              </a:p>
            </c:rich>
          </c:tx>
          <c:overlay val="1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800" b="0" i="0" u="none" strike="noStrike">
                <a:solidFill>
                  <a:srgbClr val="000000"/>
                </a:solidFill>
                <a:latin typeface="Helvetica Neue Bold Condensed"/>
              </a:defRPr>
            </a:pPr>
            <a:endParaRPr lang="en-CL"/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10943700000000001"/>
          <c:y val="9.7185400000000005E-2"/>
          <c:w val="0.17016600000000001"/>
          <c:h val="0.124998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600" b="0" i="0" u="none" strike="noStrike">
              <a:solidFill>
                <a:srgbClr val="000000"/>
              </a:solidFill>
              <a:latin typeface="Helvetica Neue Bold Condensed"/>
            </a:defRPr>
          </a:pPr>
          <a:endParaRPr lang="en-C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3" name="Shape 3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4" descr="Imagen 4"/>
          <p:cNvPicPr>
            <a:picLocks noChangeAspect="1"/>
          </p:cNvPicPr>
          <p:nvPr/>
        </p:nvPicPr>
        <p:blipFill>
          <a:blip r:embed="rId2"/>
          <a:srcRect r="38418"/>
          <a:stretch>
            <a:fillRect/>
          </a:stretch>
        </p:blipFill>
        <p:spPr>
          <a:xfrm>
            <a:off x="238535" y="6202888"/>
            <a:ext cx="3044037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1357936" y="1122362"/>
            <a:ext cx="9476128" cy="2387601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57936" y="3602037"/>
            <a:ext cx="9476128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_Diapositiva de título">
    <p:bg>
      <p:bgPr>
        <a:solidFill>
          <a:srgbClr val="394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xfrm>
            <a:off x="1357936" y="1122362"/>
            <a:ext cx="9476128" cy="2387601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57936" y="3602037"/>
            <a:ext cx="9476128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4" name="Imagen 5" descr="Imagen 5"/>
          <p:cNvPicPr>
            <a:picLocks noChangeAspect="1"/>
          </p:cNvPicPr>
          <p:nvPr/>
        </p:nvPicPr>
        <p:blipFill>
          <a:blip r:embed="rId2"/>
          <a:srcRect r="38348"/>
          <a:stretch>
            <a:fillRect/>
          </a:stretch>
        </p:blipFill>
        <p:spPr>
          <a:xfrm>
            <a:off x="238535" y="6202888"/>
            <a:ext cx="3047539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Diapositiva de título">
    <p:bg>
      <p:bgPr>
        <a:solidFill>
          <a:srgbClr val="394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2" descr="Imagen 2"/>
          <p:cNvPicPr>
            <a:picLocks noChangeAspect="1"/>
          </p:cNvPicPr>
          <p:nvPr/>
        </p:nvPicPr>
        <p:blipFill>
          <a:blip r:embed="rId2"/>
          <a:srcRect r="38275"/>
          <a:stretch>
            <a:fillRect/>
          </a:stretch>
        </p:blipFill>
        <p:spPr>
          <a:xfrm>
            <a:off x="276374" y="550711"/>
            <a:ext cx="3508797" cy="670394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9600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Rectángulo 6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0" name="Imagen 7" descr="Imagen 7"/>
          <p:cNvPicPr>
            <a:picLocks noChangeAspect="1"/>
          </p:cNvPicPr>
          <p:nvPr/>
        </p:nvPicPr>
        <p:blipFill>
          <a:blip r:embed="rId2"/>
          <a:srcRect r="38311"/>
          <a:stretch>
            <a:fillRect/>
          </a:stretch>
        </p:blipFill>
        <p:spPr>
          <a:xfrm>
            <a:off x="238535" y="6202888"/>
            <a:ext cx="3049351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xfrm>
            <a:off x="238535" y="255017"/>
            <a:ext cx="10515601" cy="1325564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5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9600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>
              <a:defRPr sz="2000">
                <a:latin typeface="Helvetica Neue Thin"/>
                <a:ea typeface="Helvetica Neue Thin"/>
                <a:cs typeface="Helvetica Neue Thin"/>
                <a:sym typeface="Helvetica Neue Thin"/>
              </a:defRPr>
            </a:lvl2pPr>
            <a:lvl3pPr>
              <a:defRPr sz="2000">
                <a:latin typeface="Helvetica Neue Thin"/>
                <a:ea typeface="Helvetica Neue Thin"/>
                <a:cs typeface="Helvetica Neue Thin"/>
                <a:sym typeface="Helvetica Neue Thin"/>
              </a:defRPr>
            </a:lvl3pPr>
            <a:lvl4pPr>
              <a:defRPr sz="2000">
                <a:latin typeface="Helvetica Neue Thin"/>
                <a:ea typeface="Helvetica Neue Thin"/>
                <a:cs typeface="Helvetica Neue Thin"/>
                <a:sym typeface="Helvetica Neue Thin"/>
              </a:defRPr>
            </a:lvl4pPr>
            <a:lvl5pPr>
              <a:defRPr sz="2000">
                <a:latin typeface="Helvetica Neue Thin"/>
                <a:ea typeface="Helvetica Neue Thin"/>
                <a:cs typeface="Helvetica Neue Thin"/>
                <a:sym typeface="Helvetica Neue Th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Rectángulo 6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1" name="Imagen 7" descr="Imagen 7"/>
          <p:cNvPicPr>
            <a:picLocks noChangeAspect="1"/>
          </p:cNvPicPr>
          <p:nvPr/>
        </p:nvPicPr>
        <p:blipFill>
          <a:blip r:embed="rId2"/>
          <a:srcRect r="38546"/>
          <a:stretch>
            <a:fillRect/>
          </a:stretch>
        </p:blipFill>
        <p:spPr>
          <a:xfrm>
            <a:off x="238535" y="6202888"/>
            <a:ext cx="3037734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_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ángulo 5"/>
          <p:cNvSpPr/>
          <p:nvPr/>
        </p:nvSpPr>
        <p:spPr>
          <a:xfrm>
            <a:off x="0" y="0"/>
            <a:ext cx="1778350" cy="6127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" name="Rectángulo 12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1" name="Imagen 6" descr="Imagen 6"/>
          <p:cNvPicPr>
            <a:picLocks noChangeAspect="1"/>
          </p:cNvPicPr>
          <p:nvPr/>
        </p:nvPicPr>
        <p:blipFill>
          <a:blip r:embed="rId2"/>
          <a:srcRect r="38060"/>
          <a:stretch>
            <a:fillRect/>
          </a:stretch>
        </p:blipFill>
        <p:spPr>
          <a:xfrm>
            <a:off x="238535" y="6202888"/>
            <a:ext cx="3061737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ángulo 5"/>
          <p:cNvSpPr/>
          <p:nvPr/>
        </p:nvSpPr>
        <p:spPr>
          <a:xfrm>
            <a:off x="0" y="0"/>
            <a:ext cx="1778350" cy="6127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0" name="Rectángulo 12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1" name="Imagen 6" descr="Imagen 6"/>
          <p:cNvPicPr>
            <a:picLocks noChangeAspect="1"/>
          </p:cNvPicPr>
          <p:nvPr/>
        </p:nvPicPr>
        <p:blipFill>
          <a:blip r:embed="rId2"/>
          <a:srcRect r="37844"/>
          <a:stretch>
            <a:fillRect/>
          </a:stretch>
        </p:blipFill>
        <p:spPr>
          <a:xfrm>
            <a:off x="238535" y="6202888"/>
            <a:ext cx="3072416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cabezado de sec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01045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2" name="Rectángulo 6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3" name="Imagen 9" descr="Imagen 9"/>
          <p:cNvPicPr>
            <a:picLocks noChangeAspect="1"/>
          </p:cNvPicPr>
          <p:nvPr/>
        </p:nvPicPr>
        <p:blipFill>
          <a:blip r:embed="rId2"/>
          <a:srcRect r="37797"/>
          <a:stretch>
            <a:fillRect/>
          </a:stretch>
        </p:blipFill>
        <p:spPr>
          <a:xfrm>
            <a:off x="238535" y="6202888"/>
            <a:ext cx="3074767" cy="582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Encabezado de sec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01045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3" name="Rectángulo 6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4" name="Imagen 9" descr="Imagen 9"/>
          <p:cNvPicPr>
            <a:picLocks noChangeAspect="1"/>
          </p:cNvPicPr>
          <p:nvPr/>
        </p:nvPicPr>
        <p:blipFill>
          <a:blip r:embed="rId2"/>
          <a:srcRect r="38085"/>
          <a:stretch>
            <a:fillRect/>
          </a:stretch>
        </p:blipFill>
        <p:spPr>
          <a:xfrm>
            <a:off x="238535" y="6202888"/>
            <a:ext cx="3060495" cy="582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os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39600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4" name="Rectángulo 7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5" name="Imagen 10" descr="Imagen 10"/>
          <p:cNvPicPr>
            <a:picLocks noChangeAspect="1"/>
          </p:cNvPicPr>
          <p:nvPr/>
        </p:nvPicPr>
        <p:blipFill>
          <a:blip r:embed="rId2"/>
          <a:srcRect r="38405"/>
          <a:stretch>
            <a:fillRect/>
          </a:stretch>
        </p:blipFill>
        <p:spPr>
          <a:xfrm>
            <a:off x="238535" y="6202888"/>
            <a:ext cx="3044698" cy="582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Dos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39600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5" name="Rectángulo 7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6" name="Imagen 10" descr="Imagen 10"/>
          <p:cNvPicPr>
            <a:picLocks noChangeAspect="1"/>
          </p:cNvPicPr>
          <p:nvPr/>
        </p:nvPicPr>
        <p:blipFill>
          <a:blip r:embed="rId2"/>
          <a:srcRect r="38249"/>
          <a:stretch>
            <a:fillRect/>
          </a:stretch>
        </p:blipFill>
        <p:spPr>
          <a:xfrm>
            <a:off x="238535" y="6202888"/>
            <a:ext cx="3052405" cy="582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a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5" name="Marcador de texto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36" name="Rectángulo 10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7" name="Imagen 9" descr="Imagen 9"/>
          <p:cNvPicPr>
            <a:picLocks noChangeAspect="1"/>
          </p:cNvPicPr>
          <p:nvPr/>
        </p:nvPicPr>
        <p:blipFill>
          <a:blip r:embed="rId2"/>
          <a:srcRect r="38482"/>
          <a:stretch>
            <a:fillRect/>
          </a:stretch>
        </p:blipFill>
        <p:spPr>
          <a:xfrm>
            <a:off x="238535" y="6202888"/>
            <a:ext cx="3040887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mpara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Marcador de texto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48" name="Rectángulo 10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9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olo el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8" name="Rectángulo 5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59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Solo el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8" name="Rectángulo 5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9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ángulo 4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8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ángulo 4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7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ido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7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8" name="Rectángulo 7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99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ntenido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9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210" name="Rectángulo 7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11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agen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20" name="Marcador de posición de imagen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2" name="Rectángulo 7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23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Imagen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32" name="Marcador de posición de imagen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4" name="Rectángulo 7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35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itle Text"/>
          <p:cNvSpPr txBox="1">
            <a:spLocks noGrp="1"/>
          </p:cNvSpPr>
          <p:nvPr>
            <p:ph type="title"/>
          </p:nvPr>
        </p:nvSpPr>
        <p:spPr>
          <a:xfrm>
            <a:off x="6096000" y="1122362"/>
            <a:ext cx="4572000" cy="2387601"/>
          </a:xfrm>
          <a:prstGeom prst="rect">
            <a:avLst/>
          </a:prstGeom>
        </p:spPr>
        <p:txBody>
          <a:bodyPr/>
          <a:lstStyle>
            <a:lvl1pPr algn="ctr"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2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5998" y="3602037"/>
            <a:ext cx="4572002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46" name="Rectángulo 8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47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9_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itle Text"/>
          <p:cNvSpPr txBox="1">
            <a:spLocks noGrp="1"/>
          </p:cNvSpPr>
          <p:nvPr>
            <p:ph type="title"/>
          </p:nvPr>
        </p:nvSpPr>
        <p:spPr>
          <a:xfrm>
            <a:off x="6096000" y="1122362"/>
            <a:ext cx="4572000" cy="2387601"/>
          </a:xfrm>
          <a:prstGeom prst="rect">
            <a:avLst/>
          </a:prstGeom>
        </p:spPr>
        <p:txBody>
          <a:bodyPr/>
          <a:lstStyle>
            <a:lvl1pPr algn="ctr"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25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5998" y="3602037"/>
            <a:ext cx="4572002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57" name="Rectángulo 8"/>
          <p:cNvSpPr/>
          <p:nvPr/>
        </p:nvSpPr>
        <p:spPr>
          <a:xfrm>
            <a:off x="0" y="6138000"/>
            <a:ext cx="12192000" cy="720001"/>
          </a:xfrm>
          <a:prstGeom prst="rect">
            <a:avLst/>
          </a:prstGeom>
          <a:solidFill>
            <a:srgbClr val="394049"/>
          </a:solidFill>
          <a:ln w="12700">
            <a:solidFill>
              <a:srgbClr val="00A49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58" name="Imagen 9" descr="Imagen 9"/>
          <p:cNvPicPr>
            <a:picLocks noChangeAspect="1"/>
          </p:cNvPicPr>
          <p:nvPr/>
        </p:nvPicPr>
        <p:blipFill>
          <a:blip r:embed="rId2"/>
          <a:srcRect r="38576"/>
          <a:stretch>
            <a:fillRect/>
          </a:stretch>
        </p:blipFill>
        <p:spPr>
          <a:xfrm>
            <a:off x="238535" y="6202888"/>
            <a:ext cx="3036223" cy="582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_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Imagen 8" descr="Imagen 8"/>
          <p:cNvPicPr>
            <a:picLocks noChangeAspect="1"/>
          </p:cNvPicPr>
          <p:nvPr/>
        </p:nvPicPr>
        <p:blipFill>
          <a:blip r:embed="rId2"/>
          <a:srcRect r="38535"/>
          <a:stretch>
            <a:fillRect/>
          </a:stretch>
        </p:blipFill>
        <p:spPr>
          <a:xfrm>
            <a:off x="276376" y="550712"/>
            <a:ext cx="3494054" cy="670394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_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74" name="Imagen 7" descr="Imagen 7"/>
          <p:cNvPicPr>
            <a:picLocks noChangeAspect="1"/>
          </p:cNvPicPr>
          <p:nvPr/>
        </p:nvPicPr>
        <p:blipFill>
          <a:blip r:embed="rId2"/>
          <a:srcRect r="38219"/>
          <a:stretch>
            <a:fillRect/>
          </a:stretch>
        </p:blipFill>
        <p:spPr>
          <a:xfrm>
            <a:off x="286904" y="550712"/>
            <a:ext cx="3499005" cy="6703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Imagen 3" descr="Imagen 3"/>
          <p:cNvPicPr>
            <a:picLocks noChangeAspect="1"/>
          </p:cNvPicPr>
          <p:nvPr/>
        </p:nvPicPr>
        <p:blipFill>
          <a:blip r:embed="rId2"/>
          <a:srcRect r="38127"/>
          <a:stretch>
            <a:fillRect/>
          </a:stretch>
        </p:blipFill>
        <p:spPr>
          <a:xfrm>
            <a:off x="3597870" y="2952948"/>
            <a:ext cx="4996263" cy="952295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_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Imagen 2" descr="Imagen 2"/>
          <p:cNvPicPr>
            <a:picLocks noChangeAspect="1"/>
          </p:cNvPicPr>
          <p:nvPr/>
        </p:nvPicPr>
        <p:blipFill>
          <a:blip r:embed="rId2"/>
          <a:srcRect r="38247"/>
          <a:stretch>
            <a:fillRect/>
          </a:stretch>
        </p:blipFill>
        <p:spPr>
          <a:xfrm>
            <a:off x="3607395" y="2951956"/>
            <a:ext cx="4977274" cy="954065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0_Diapositiva de título">
    <p:bg>
      <p:bgPr>
        <a:solidFill>
          <a:srgbClr val="394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Imagen 2" descr="Imagen 2"/>
          <p:cNvPicPr>
            <a:picLocks noChangeAspect="1"/>
          </p:cNvPicPr>
          <p:nvPr/>
        </p:nvPicPr>
        <p:blipFill>
          <a:blip r:embed="rId2"/>
          <a:srcRect r="38299"/>
          <a:stretch>
            <a:fillRect/>
          </a:stretch>
        </p:blipFill>
        <p:spPr>
          <a:xfrm>
            <a:off x="3609379" y="2953742"/>
            <a:ext cx="4973134" cy="950531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Imagen 2" descr="Imagen 2"/>
          <p:cNvPicPr>
            <a:picLocks noChangeAspect="1"/>
          </p:cNvPicPr>
          <p:nvPr/>
        </p:nvPicPr>
        <p:blipFill>
          <a:blip r:embed="rId2"/>
          <a:srcRect r="38164"/>
          <a:stretch>
            <a:fillRect/>
          </a:stretch>
        </p:blipFill>
        <p:spPr>
          <a:xfrm>
            <a:off x="3604021" y="2953742"/>
            <a:ext cx="4984007" cy="950531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4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2" descr="Imagen 2"/>
          <p:cNvPicPr>
            <a:picLocks noChangeAspect="1"/>
          </p:cNvPicPr>
          <p:nvPr/>
        </p:nvPicPr>
        <p:blipFill>
          <a:blip r:embed="rId32"/>
          <a:srcRect r="38190"/>
          <a:stretch>
            <a:fillRect/>
          </a:stretch>
        </p:blipFill>
        <p:spPr>
          <a:xfrm>
            <a:off x="276374" y="550711"/>
            <a:ext cx="3513644" cy="67039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A499"/>
          </a:solidFill>
          <a:uFillTx/>
          <a:latin typeface="Bebas Neue Pro"/>
          <a:ea typeface="Bebas Neue Pro"/>
          <a:cs typeface="Bebas Neue Pro"/>
          <a:sym typeface="Bebas Neue Pro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394049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ítulo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Proceso de Acreditación Institucional</a:t>
            </a:r>
          </a:p>
        </p:txBody>
      </p:sp>
      <p:sp>
        <p:nvSpPr>
          <p:cNvPr id="316" name="Subtítulo 2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667512">
              <a:lnSpc>
                <a:spcPct val="81000"/>
              </a:lnSpc>
              <a:spcBef>
                <a:spcPts val="700"/>
              </a:spcBef>
              <a:defRPr sz="1752">
                <a:latin typeface="Helvetica Neue"/>
                <a:ea typeface="Helvetica Neue"/>
                <a:cs typeface="Helvetica Neue"/>
                <a:sym typeface="Helvetica Neue"/>
              </a:defRPr>
            </a:pPr>
            <a:br/>
            <a:r>
              <a:rPr sz="2336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rPr>
              <a:t>Roberto Bernal</a:t>
            </a:r>
            <a:br>
              <a:rPr sz="1533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rPr>
            </a:br>
            <a:br>
              <a:rPr sz="1533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rPr>
            </a:br>
            <a:r>
              <a:rPr sz="1825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rPr>
              <a:t>Dirección de Desarrollo Institucional</a:t>
            </a:r>
          </a:p>
          <a:p>
            <a:pPr defTabSz="667512">
              <a:lnSpc>
                <a:spcPct val="81000"/>
              </a:lnSpc>
              <a:spcBef>
                <a:spcPts val="700"/>
              </a:spcBef>
              <a:defRPr sz="146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825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rPr>
              <a:t>y Aseguramiento de la Calidad</a:t>
            </a:r>
          </a:p>
          <a:p>
            <a:pPr defTabSz="667512">
              <a:lnSpc>
                <a:spcPct val="81000"/>
              </a:lnSpc>
              <a:spcBef>
                <a:spcPts val="700"/>
              </a:spcBef>
              <a:defRPr sz="146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20 de julio de 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ontex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Contexto</a:t>
            </a:r>
          </a:p>
        </p:txBody>
      </p:sp>
      <p:sp>
        <p:nvSpPr>
          <p:cNvPr id="319" name="Line"/>
          <p:cNvSpPr/>
          <p:nvPr/>
        </p:nvSpPr>
        <p:spPr>
          <a:xfrm>
            <a:off x="9586073" y="5442995"/>
            <a:ext cx="2075655" cy="1"/>
          </a:xfrm>
          <a:prstGeom prst="line">
            <a:avLst/>
          </a:prstGeom>
          <a:ln w="12700">
            <a:solidFill>
              <a:srgbClr val="A7A7A7"/>
            </a:solidFill>
            <a:custDash>
              <a:ds d="600000" sp="600000"/>
            </a:custDash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Line"/>
          <p:cNvSpPr/>
          <p:nvPr/>
        </p:nvSpPr>
        <p:spPr>
          <a:xfrm>
            <a:off x="245630" y="5442995"/>
            <a:ext cx="2075655" cy="1"/>
          </a:xfrm>
          <a:prstGeom prst="line">
            <a:avLst/>
          </a:prstGeom>
          <a:ln w="12700">
            <a:solidFill>
              <a:srgbClr val="A7A7A7"/>
            </a:solidFill>
            <a:custDash>
              <a:ds d="600000" sp="600000"/>
            </a:custDash>
            <a:miter lim="400000"/>
          </a:ln>
        </p:spPr>
        <p:txBody>
          <a:bodyPr lIns="45719" rIns="45719"/>
          <a:lstStyle/>
          <a:p>
            <a:endParaRPr/>
          </a:p>
        </p:txBody>
      </p:sp>
      <p:cxnSp>
        <p:nvCxnSpPr>
          <p:cNvPr id="321" name="Connection Line"/>
          <p:cNvCxnSpPr>
            <a:stCxn id="385" idx="0"/>
            <a:endCxn id="359" idx="0"/>
          </p:cNvCxnSpPr>
          <p:nvPr/>
        </p:nvCxnSpPr>
        <p:spPr>
          <a:xfrm flipV="1">
            <a:off x="8229600" y="2705100"/>
            <a:ext cx="2514600" cy="1562100"/>
          </a:xfrm>
          <a:prstGeom prst="bentConnector2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322" name="Shape 2945"/>
          <p:cNvSpPr/>
          <p:nvPr/>
        </p:nvSpPr>
        <p:spPr>
          <a:xfrm>
            <a:off x="775870" y="2395544"/>
            <a:ext cx="10793402" cy="1"/>
          </a:xfrm>
          <a:prstGeom prst="line">
            <a:avLst/>
          </a:prstGeom>
          <a:ln w="25400">
            <a:solidFill>
              <a:schemeClr val="accent3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3" name="Shape 2948"/>
          <p:cNvSpPr/>
          <p:nvPr/>
        </p:nvSpPr>
        <p:spPr>
          <a:xfrm>
            <a:off x="683414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24" name="TextBox 57"/>
          <p:cNvSpPr txBox="1"/>
          <p:nvPr/>
        </p:nvSpPr>
        <p:spPr>
          <a:xfrm>
            <a:off x="564311" y="2581964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2002</a:t>
            </a:r>
          </a:p>
        </p:txBody>
      </p:sp>
      <p:sp>
        <p:nvSpPr>
          <p:cNvPr id="325" name="TextBox 58"/>
          <p:cNvSpPr txBox="1"/>
          <p:nvPr/>
        </p:nvSpPr>
        <p:spPr>
          <a:xfrm>
            <a:off x="1818709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2005</a:t>
            </a:r>
          </a:p>
        </p:txBody>
      </p:sp>
      <p:sp>
        <p:nvSpPr>
          <p:cNvPr id="326" name="TextBox 59"/>
          <p:cNvSpPr txBox="1"/>
          <p:nvPr/>
        </p:nvSpPr>
        <p:spPr>
          <a:xfrm>
            <a:off x="2639965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2007</a:t>
            </a:r>
          </a:p>
        </p:txBody>
      </p:sp>
      <p:sp>
        <p:nvSpPr>
          <p:cNvPr id="327" name="TextBox 60"/>
          <p:cNvSpPr txBox="1"/>
          <p:nvPr/>
        </p:nvSpPr>
        <p:spPr>
          <a:xfrm>
            <a:off x="3073106" y="2581964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2008</a:t>
            </a:r>
          </a:p>
        </p:txBody>
      </p:sp>
      <p:sp>
        <p:nvSpPr>
          <p:cNvPr id="328" name="TextBox 61"/>
          <p:cNvSpPr txBox="1"/>
          <p:nvPr/>
        </p:nvSpPr>
        <p:spPr>
          <a:xfrm>
            <a:off x="3885358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2010</a:t>
            </a:r>
          </a:p>
        </p:txBody>
      </p:sp>
      <p:sp>
        <p:nvSpPr>
          <p:cNvPr id="329" name="TextBox 62"/>
          <p:cNvSpPr txBox="1"/>
          <p:nvPr/>
        </p:nvSpPr>
        <p:spPr>
          <a:xfrm>
            <a:off x="5545881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2014</a:t>
            </a:r>
          </a:p>
        </p:txBody>
      </p:sp>
      <p:sp>
        <p:nvSpPr>
          <p:cNvPr id="330" name="TextBox 63"/>
          <p:cNvSpPr txBox="1"/>
          <p:nvPr/>
        </p:nvSpPr>
        <p:spPr>
          <a:xfrm>
            <a:off x="7621537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2019</a:t>
            </a:r>
          </a:p>
        </p:txBody>
      </p:sp>
      <p:sp>
        <p:nvSpPr>
          <p:cNvPr id="331" name="TextBox 64"/>
          <p:cNvSpPr txBox="1"/>
          <p:nvPr/>
        </p:nvSpPr>
        <p:spPr>
          <a:xfrm>
            <a:off x="8451798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2021</a:t>
            </a:r>
          </a:p>
        </p:txBody>
      </p:sp>
      <p:sp>
        <p:nvSpPr>
          <p:cNvPr id="332" name="Shape 2948"/>
          <p:cNvSpPr/>
          <p:nvPr/>
        </p:nvSpPr>
        <p:spPr>
          <a:xfrm>
            <a:off x="1098545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33" name="Shape 2948"/>
          <p:cNvSpPr/>
          <p:nvPr/>
        </p:nvSpPr>
        <p:spPr>
          <a:xfrm>
            <a:off x="1513675" y="2303088"/>
            <a:ext cx="184914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34" name="Shape 2948"/>
          <p:cNvSpPr/>
          <p:nvPr/>
        </p:nvSpPr>
        <p:spPr>
          <a:xfrm>
            <a:off x="1928806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35" name="Shape 2948"/>
          <p:cNvSpPr/>
          <p:nvPr/>
        </p:nvSpPr>
        <p:spPr>
          <a:xfrm>
            <a:off x="2343937" y="2303088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36" name="Shape 2948"/>
          <p:cNvSpPr/>
          <p:nvPr/>
        </p:nvSpPr>
        <p:spPr>
          <a:xfrm>
            <a:off x="2759068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37" name="Shape 2948"/>
          <p:cNvSpPr/>
          <p:nvPr/>
        </p:nvSpPr>
        <p:spPr>
          <a:xfrm>
            <a:off x="3174198" y="2303088"/>
            <a:ext cx="184914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38" name="Shape 2948"/>
          <p:cNvSpPr/>
          <p:nvPr/>
        </p:nvSpPr>
        <p:spPr>
          <a:xfrm>
            <a:off x="3589329" y="2303088"/>
            <a:ext cx="184914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39" name="Shape 2948"/>
          <p:cNvSpPr/>
          <p:nvPr/>
        </p:nvSpPr>
        <p:spPr>
          <a:xfrm>
            <a:off x="4004460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0" name="Shape 2948"/>
          <p:cNvSpPr/>
          <p:nvPr/>
        </p:nvSpPr>
        <p:spPr>
          <a:xfrm>
            <a:off x="4419591" y="2303088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1" name="Shape 2948"/>
          <p:cNvSpPr/>
          <p:nvPr/>
        </p:nvSpPr>
        <p:spPr>
          <a:xfrm>
            <a:off x="4834722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2" name="Shape 2948"/>
          <p:cNvSpPr/>
          <p:nvPr/>
        </p:nvSpPr>
        <p:spPr>
          <a:xfrm>
            <a:off x="5249853" y="2303088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3" name="Shape 2948"/>
          <p:cNvSpPr/>
          <p:nvPr/>
        </p:nvSpPr>
        <p:spPr>
          <a:xfrm>
            <a:off x="5664984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4" name="Shape 2948"/>
          <p:cNvSpPr/>
          <p:nvPr/>
        </p:nvSpPr>
        <p:spPr>
          <a:xfrm>
            <a:off x="6080114" y="2303088"/>
            <a:ext cx="184914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5" name="Shape 2948"/>
          <p:cNvSpPr/>
          <p:nvPr/>
        </p:nvSpPr>
        <p:spPr>
          <a:xfrm>
            <a:off x="6495245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6" name="Shape 2948"/>
          <p:cNvSpPr/>
          <p:nvPr/>
        </p:nvSpPr>
        <p:spPr>
          <a:xfrm>
            <a:off x="6910377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7" name="Shape 2948"/>
          <p:cNvSpPr/>
          <p:nvPr/>
        </p:nvSpPr>
        <p:spPr>
          <a:xfrm>
            <a:off x="7325508" y="2303088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8" name="Shape 2948"/>
          <p:cNvSpPr/>
          <p:nvPr/>
        </p:nvSpPr>
        <p:spPr>
          <a:xfrm>
            <a:off x="7740639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49" name="Shape 2948"/>
          <p:cNvSpPr/>
          <p:nvPr/>
        </p:nvSpPr>
        <p:spPr>
          <a:xfrm>
            <a:off x="8155769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0" name="Shape 2948"/>
          <p:cNvSpPr/>
          <p:nvPr/>
        </p:nvSpPr>
        <p:spPr>
          <a:xfrm>
            <a:off x="8570900" y="2303088"/>
            <a:ext cx="184914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1" name="Shape 2948"/>
          <p:cNvSpPr/>
          <p:nvPr/>
        </p:nvSpPr>
        <p:spPr>
          <a:xfrm>
            <a:off x="8986031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2" name="Shape 2948"/>
          <p:cNvSpPr/>
          <p:nvPr/>
        </p:nvSpPr>
        <p:spPr>
          <a:xfrm>
            <a:off x="9401161" y="2303088"/>
            <a:ext cx="184914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3" name="Shape 2948"/>
          <p:cNvSpPr/>
          <p:nvPr/>
        </p:nvSpPr>
        <p:spPr>
          <a:xfrm>
            <a:off x="9816293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4" name="Shape 2948"/>
          <p:cNvSpPr/>
          <p:nvPr/>
        </p:nvSpPr>
        <p:spPr>
          <a:xfrm>
            <a:off x="10231423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5" name="Shape 2948"/>
          <p:cNvSpPr/>
          <p:nvPr/>
        </p:nvSpPr>
        <p:spPr>
          <a:xfrm>
            <a:off x="10646554" y="2303088"/>
            <a:ext cx="184914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6" name="Shape 2948"/>
          <p:cNvSpPr/>
          <p:nvPr/>
        </p:nvSpPr>
        <p:spPr>
          <a:xfrm>
            <a:off x="11061685" y="2303088"/>
            <a:ext cx="184913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7" name="Shape 2948"/>
          <p:cNvSpPr/>
          <p:nvPr/>
        </p:nvSpPr>
        <p:spPr>
          <a:xfrm>
            <a:off x="11476815" y="2303088"/>
            <a:ext cx="184914" cy="184913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58" name="TextBox 64"/>
          <p:cNvSpPr txBox="1"/>
          <p:nvPr/>
        </p:nvSpPr>
        <p:spPr>
          <a:xfrm>
            <a:off x="10112321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2025</a:t>
            </a:r>
          </a:p>
        </p:txBody>
      </p:sp>
      <p:sp>
        <p:nvSpPr>
          <p:cNvPr id="359" name="TextBox 64"/>
          <p:cNvSpPr txBox="1"/>
          <p:nvPr/>
        </p:nvSpPr>
        <p:spPr>
          <a:xfrm>
            <a:off x="10527451" y="2581964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2026</a:t>
            </a:r>
          </a:p>
        </p:txBody>
      </p:sp>
      <p:sp>
        <p:nvSpPr>
          <p:cNvPr id="360" name="TextBox 64"/>
          <p:cNvSpPr txBox="1"/>
          <p:nvPr/>
        </p:nvSpPr>
        <p:spPr>
          <a:xfrm>
            <a:off x="10942583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2027</a:t>
            </a:r>
          </a:p>
        </p:txBody>
      </p:sp>
      <p:sp>
        <p:nvSpPr>
          <p:cNvPr id="361" name="TextBox 64"/>
          <p:cNvSpPr txBox="1"/>
          <p:nvPr/>
        </p:nvSpPr>
        <p:spPr>
          <a:xfrm>
            <a:off x="11357713" y="2581964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2028</a:t>
            </a:r>
          </a:p>
        </p:txBody>
      </p:sp>
      <p:sp>
        <p:nvSpPr>
          <p:cNvPr id="362" name="Subtitle 2"/>
          <p:cNvSpPr txBox="1"/>
          <p:nvPr/>
        </p:nvSpPr>
        <p:spPr>
          <a:xfrm>
            <a:off x="140870" y="3149104"/>
            <a:ext cx="1270001" cy="570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>
            <a:lvl1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Primeros procesos de acreditación de carreras</a:t>
            </a:r>
          </a:p>
        </p:txBody>
      </p:sp>
      <p:sp>
        <p:nvSpPr>
          <p:cNvPr id="363" name="Subtitle 2"/>
          <p:cNvSpPr txBox="1"/>
          <p:nvPr/>
        </p:nvSpPr>
        <p:spPr>
          <a:xfrm>
            <a:off x="1382568" y="1190870"/>
            <a:ext cx="1270001" cy="75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</a:t>
            </a:r>
            <a:r>
              <a:rPr baseline="31999"/>
              <a:t>er </a:t>
            </a:r>
            <a:r>
              <a:t>proceso de Acreditación Institucional</a:t>
            </a:r>
          </a:p>
          <a:p>
            <a:pPr algn="ctr" defTabSz="1087437">
              <a:lnSpc>
                <a:spcPts val="1400"/>
              </a:lnSpc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 años</a:t>
            </a:r>
          </a:p>
        </p:txBody>
      </p:sp>
      <p:cxnSp>
        <p:nvCxnSpPr>
          <p:cNvPr id="364" name="Connection Line"/>
          <p:cNvCxnSpPr>
            <a:stCxn id="362" idx="0"/>
            <a:endCxn id="324" idx="0"/>
          </p:cNvCxnSpPr>
          <p:nvPr/>
        </p:nvCxnSpPr>
        <p:spPr>
          <a:xfrm flipV="1">
            <a:off x="775870" y="2710492"/>
            <a:ext cx="1" cy="7239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365" name="Subtitle 2"/>
          <p:cNvSpPr txBox="1"/>
          <p:nvPr/>
        </p:nvSpPr>
        <p:spPr>
          <a:xfrm>
            <a:off x="2631655" y="1190870"/>
            <a:ext cx="1270001" cy="75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</a:t>
            </a:r>
            <a:r>
              <a:rPr baseline="31999"/>
              <a:t>do</a:t>
            </a:r>
            <a:r>
              <a:t> proceso de Acreditación Institucional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ctr" defTabSz="1087437">
              <a:lnSpc>
                <a:spcPts val="1400"/>
              </a:lnSpc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 años</a:t>
            </a:r>
          </a:p>
        </p:txBody>
      </p:sp>
      <p:sp>
        <p:nvSpPr>
          <p:cNvPr id="366" name="Subtitle 2"/>
          <p:cNvSpPr txBox="1"/>
          <p:nvPr/>
        </p:nvSpPr>
        <p:spPr>
          <a:xfrm>
            <a:off x="5122440" y="1190870"/>
            <a:ext cx="1270001" cy="75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3</a:t>
            </a:r>
            <a:r>
              <a:rPr baseline="31999"/>
              <a:t>er</a:t>
            </a:r>
            <a:r>
              <a:t> proceso de Acreditación Institucional</a:t>
            </a:r>
          </a:p>
          <a:p>
            <a:pPr algn="ctr" defTabSz="1087437">
              <a:lnSpc>
                <a:spcPts val="1400"/>
              </a:lnSpc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 años</a:t>
            </a:r>
          </a:p>
        </p:txBody>
      </p:sp>
      <p:sp>
        <p:nvSpPr>
          <p:cNvPr id="367" name="Subtitle 2"/>
          <p:cNvSpPr txBox="1"/>
          <p:nvPr/>
        </p:nvSpPr>
        <p:spPr>
          <a:xfrm>
            <a:off x="8028356" y="1190870"/>
            <a:ext cx="1270001" cy="75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4</a:t>
            </a:r>
            <a:r>
              <a:rPr baseline="31999"/>
              <a:t>to</a:t>
            </a:r>
            <a:r>
              <a:t> proceso de Acreditación Institucional</a:t>
            </a:r>
          </a:p>
          <a:p>
            <a:pPr algn="ctr" defTabSz="1087437">
              <a:lnSpc>
                <a:spcPts val="1400"/>
              </a:lnSpc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7 años</a:t>
            </a:r>
          </a:p>
        </p:txBody>
      </p:sp>
      <p:cxnSp>
        <p:nvCxnSpPr>
          <p:cNvPr id="368" name="Connection Line"/>
          <p:cNvCxnSpPr>
            <a:stCxn id="334" idx="0"/>
            <a:endCxn id="363" idx="0"/>
          </p:cNvCxnSpPr>
          <p:nvPr/>
        </p:nvCxnSpPr>
        <p:spPr>
          <a:xfrm flipH="1" flipV="1">
            <a:off x="2017568" y="1568085"/>
            <a:ext cx="3695" cy="8274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369" name="Connection Line"/>
          <p:cNvCxnSpPr>
            <a:stCxn id="337" idx="0"/>
            <a:endCxn id="365" idx="0"/>
          </p:cNvCxnSpPr>
          <p:nvPr/>
        </p:nvCxnSpPr>
        <p:spPr>
          <a:xfrm flipV="1">
            <a:off x="3266655" y="1568085"/>
            <a:ext cx="1" cy="8274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370" name="Connection Line"/>
          <p:cNvCxnSpPr>
            <a:stCxn id="343" idx="0"/>
            <a:endCxn id="366" idx="0"/>
          </p:cNvCxnSpPr>
          <p:nvPr/>
        </p:nvCxnSpPr>
        <p:spPr>
          <a:xfrm flipH="1" flipV="1">
            <a:off x="5757440" y="1568085"/>
            <a:ext cx="1" cy="8274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371" name="Connection Line"/>
          <p:cNvCxnSpPr>
            <a:stCxn id="350" idx="0"/>
            <a:endCxn id="367" idx="0"/>
          </p:cNvCxnSpPr>
          <p:nvPr/>
        </p:nvCxnSpPr>
        <p:spPr>
          <a:xfrm flipH="1" flipV="1">
            <a:off x="8663356" y="1568085"/>
            <a:ext cx="2" cy="8274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372" name="Subtitle 2"/>
          <p:cNvSpPr txBox="1"/>
          <p:nvPr/>
        </p:nvSpPr>
        <p:spPr>
          <a:xfrm>
            <a:off x="11073971" y="1282526"/>
            <a:ext cx="989859" cy="7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5</a:t>
            </a:r>
            <a:r>
              <a:rPr baseline="31999"/>
              <a:t>to</a:t>
            </a:r>
            <a:r>
              <a:t> proceso de Acreditación Institucional</a:t>
            </a:r>
          </a:p>
        </p:txBody>
      </p:sp>
      <p:cxnSp>
        <p:nvCxnSpPr>
          <p:cNvPr id="373" name="Connection Line"/>
          <p:cNvCxnSpPr>
            <a:stCxn id="357" idx="0"/>
            <a:endCxn id="372" idx="0"/>
          </p:cNvCxnSpPr>
          <p:nvPr/>
        </p:nvCxnSpPr>
        <p:spPr>
          <a:xfrm flipH="1" flipV="1">
            <a:off x="11568900" y="1656985"/>
            <a:ext cx="372" cy="7385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374" name="Subtitle 2"/>
          <p:cNvSpPr txBox="1"/>
          <p:nvPr/>
        </p:nvSpPr>
        <p:spPr>
          <a:xfrm>
            <a:off x="2218746" y="3149104"/>
            <a:ext cx="1270001" cy="570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</a:t>
            </a:r>
            <a:r>
              <a:rPr baseline="31999"/>
              <a:t>er</a:t>
            </a:r>
            <a:r>
              <a:t> Modelo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Aseguramiento de la Calidad</a:t>
            </a:r>
          </a:p>
        </p:txBody>
      </p:sp>
      <p:sp>
        <p:nvSpPr>
          <p:cNvPr id="375" name="Subtitle 2"/>
          <p:cNvSpPr txBox="1"/>
          <p:nvPr/>
        </p:nvSpPr>
        <p:spPr>
          <a:xfrm>
            <a:off x="3460835" y="3149104"/>
            <a:ext cx="1270001" cy="74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</a:t>
            </a:r>
            <a:r>
              <a:rPr baseline="31999"/>
              <a:t>do</a:t>
            </a:r>
            <a:r>
              <a:t> Modelo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Sistema de Gestión de Calidad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(SGC ISO 9001:2015)</a:t>
            </a:r>
          </a:p>
        </p:txBody>
      </p:sp>
      <p:sp>
        <p:nvSpPr>
          <p:cNvPr id="376" name="Subtitle 2"/>
          <p:cNvSpPr txBox="1"/>
          <p:nvPr/>
        </p:nvSpPr>
        <p:spPr>
          <a:xfrm>
            <a:off x="7198095" y="3149104"/>
            <a:ext cx="1270001" cy="926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3</a:t>
            </a:r>
            <a:r>
              <a:rPr baseline="31999"/>
              <a:t>er</a:t>
            </a:r>
            <a:r>
              <a:t> Modelo</a:t>
            </a:r>
            <a:br/>
            <a:r>
              <a:t>Sistema de Aseguramiento de la Calidad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(SGC ISO 9001:2015)</a:t>
            </a:r>
          </a:p>
        </p:txBody>
      </p:sp>
      <p:cxnSp>
        <p:nvCxnSpPr>
          <p:cNvPr id="377" name="Connection Line"/>
          <p:cNvCxnSpPr>
            <a:stCxn id="374" idx="0"/>
            <a:endCxn id="326" idx="0"/>
          </p:cNvCxnSpPr>
          <p:nvPr/>
        </p:nvCxnSpPr>
        <p:spPr>
          <a:xfrm flipH="1" flipV="1">
            <a:off x="2851524" y="2710492"/>
            <a:ext cx="2223" cy="7239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378" name="Connection Line"/>
          <p:cNvCxnSpPr>
            <a:stCxn id="375" idx="0"/>
            <a:endCxn id="328" idx="0"/>
          </p:cNvCxnSpPr>
          <p:nvPr/>
        </p:nvCxnSpPr>
        <p:spPr>
          <a:xfrm flipV="1">
            <a:off x="4095835" y="2710492"/>
            <a:ext cx="1082" cy="8128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379" name="Connection Line"/>
          <p:cNvCxnSpPr>
            <a:stCxn id="376" idx="0"/>
            <a:endCxn id="330" idx="0"/>
          </p:cNvCxnSpPr>
          <p:nvPr/>
        </p:nvCxnSpPr>
        <p:spPr>
          <a:xfrm flipV="1">
            <a:off x="7833095" y="2710492"/>
            <a:ext cx="1" cy="9017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380" name="Connection Line"/>
          <p:cNvCxnSpPr>
            <a:stCxn id="384" idx="0"/>
            <a:endCxn id="360" idx="0"/>
          </p:cNvCxnSpPr>
          <p:nvPr/>
        </p:nvCxnSpPr>
        <p:spPr>
          <a:xfrm flipV="1">
            <a:off x="11152935" y="2710492"/>
            <a:ext cx="1207" cy="7239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381" name="Subtitle 2"/>
          <p:cNvSpPr txBox="1"/>
          <p:nvPr/>
        </p:nvSpPr>
        <p:spPr>
          <a:xfrm>
            <a:off x="9892493" y="255017"/>
            <a:ext cx="1277941" cy="926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>
            <a:lvl1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Actualización del Sistema Interno de Aseguramiento de la Calidad y evaluación de medio término</a:t>
            </a:r>
          </a:p>
        </p:txBody>
      </p:sp>
      <p:sp>
        <p:nvSpPr>
          <p:cNvPr id="417" name="Connection Line"/>
          <p:cNvSpPr/>
          <p:nvPr/>
        </p:nvSpPr>
        <p:spPr>
          <a:xfrm>
            <a:off x="10531052" y="1181228"/>
            <a:ext cx="293" cy="11345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2700">
            <a:solidFill>
              <a:schemeClr val="accent2"/>
            </a:solidFill>
            <a:miter/>
          </a:ln>
        </p:spPr>
        <p:txBody>
          <a:bodyPr/>
          <a:lstStyle/>
          <a:p>
            <a:endParaRPr/>
          </a:p>
        </p:txBody>
      </p:sp>
      <p:cxnSp>
        <p:nvCxnSpPr>
          <p:cNvPr id="383" name="Connection Line"/>
          <p:cNvCxnSpPr>
            <a:stCxn id="385" idx="0"/>
            <a:endCxn id="329" idx="0"/>
          </p:cNvCxnSpPr>
          <p:nvPr/>
        </p:nvCxnSpPr>
        <p:spPr>
          <a:xfrm flipH="1" flipV="1">
            <a:off x="5753100" y="2705100"/>
            <a:ext cx="2476500" cy="1562100"/>
          </a:xfrm>
          <a:prstGeom prst="bentConnector2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384" name="Subtitle 2"/>
          <p:cNvSpPr txBox="1"/>
          <p:nvPr/>
        </p:nvSpPr>
        <p:spPr>
          <a:xfrm>
            <a:off x="10517935" y="3149104"/>
            <a:ext cx="1270001" cy="570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Recertificación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hasta 2026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(SGC ISO 9001:2015)</a:t>
            </a:r>
          </a:p>
        </p:txBody>
      </p:sp>
      <p:sp>
        <p:nvSpPr>
          <p:cNvPr id="385" name="TextBox 64"/>
          <p:cNvSpPr txBox="1"/>
          <p:nvPr/>
        </p:nvSpPr>
        <p:spPr>
          <a:xfrm>
            <a:off x="7214764" y="4134186"/>
            <a:ext cx="2041986" cy="2570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 defTabSz="1087437">
              <a:lnSpc>
                <a:spcPts val="1400"/>
              </a:lnSpc>
              <a:defRPr sz="1000" b="1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Modelo Educativo Institucional</a:t>
            </a:r>
          </a:p>
        </p:txBody>
      </p:sp>
      <p:sp>
        <p:nvSpPr>
          <p:cNvPr id="386" name="TextBox 64"/>
          <p:cNvSpPr txBox="1"/>
          <p:nvPr/>
        </p:nvSpPr>
        <p:spPr>
          <a:xfrm>
            <a:off x="10794786" y="4051965"/>
            <a:ext cx="502612" cy="421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 defTabSz="1087437">
              <a:lnSpc>
                <a:spcPts val="1400"/>
              </a:lnSpc>
              <a:defRPr sz="1000" b="1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Nuevo MEI</a:t>
            </a:r>
          </a:p>
        </p:txBody>
      </p:sp>
      <p:sp>
        <p:nvSpPr>
          <p:cNvPr id="387" name="Line"/>
          <p:cNvSpPr/>
          <p:nvPr/>
        </p:nvSpPr>
        <p:spPr>
          <a:xfrm>
            <a:off x="11322797" y="4262715"/>
            <a:ext cx="241382" cy="1"/>
          </a:xfrm>
          <a:prstGeom prst="line">
            <a:avLst/>
          </a:prstGeom>
          <a:ln w="25400">
            <a:solidFill>
              <a:schemeClr val="accent2"/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8" name="TextBox 64"/>
          <p:cNvSpPr txBox="1"/>
          <p:nvPr/>
        </p:nvSpPr>
        <p:spPr>
          <a:xfrm>
            <a:off x="4025478" y="4051965"/>
            <a:ext cx="508001" cy="4191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pPr algn="ctr" defTabSz="1087437">
              <a:lnSpc>
                <a:spcPts val="1400"/>
              </a:lnSpc>
              <a:defRPr sz="1000" b="1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2010</a:t>
            </a:r>
          </a:p>
          <a:p>
            <a:pPr algn="ctr" defTabSz="1087437">
              <a:lnSpc>
                <a:spcPts val="1400"/>
              </a:lnSpc>
              <a:defRPr sz="1000" b="1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MEI</a:t>
            </a:r>
          </a:p>
        </p:txBody>
      </p:sp>
      <p:cxnSp>
        <p:nvCxnSpPr>
          <p:cNvPr id="389" name="Connection Line"/>
          <p:cNvCxnSpPr>
            <a:stCxn id="388" idx="0"/>
            <a:endCxn id="374" idx="0"/>
          </p:cNvCxnSpPr>
          <p:nvPr/>
        </p:nvCxnSpPr>
        <p:spPr>
          <a:xfrm flipH="1" flipV="1">
            <a:off x="2857500" y="3429000"/>
            <a:ext cx="1422400" cy="838200"/>
          </a:xfrm>
          <a:prstGeom prst="bentConnector2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390" name="Connection Line"/>
          <p:cNvCxnSpPr>
            <a:stCxn id="388" idx="0"/>
            <a:endCxn id="329" idx="0"/>
          </p:cNvCxnSpPr>
          <p:nvPr/>
        </p:nvCxnSpPr>
        <p:spPr>
          <a:xfrm flipV="1">
            <a:off x="4279900" y="2705100"/>
            <a:ext cx="1473200" cy="1562100"/>
          </a:xfrm>
          <a:prstGeom prst="bentConnector2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391" name="Line"/>
          <p:cNvSpPr/>
          <p:nvPr/>
        </p:nvSpPr>
        <p:spPr>
          <a:xfrm>
            <a:off x="721514" y="4256365"/>
            <a:ext cx="2075655" cy="1"/>
          </a:xfrm>
          <a:prstGeom prst="line">
            <a:avLst/>
          </a:prstGeom>
          <a:ln w="12700">
            <a:solidFill>
              <a:schemeClr val="accent2"/>
            </a:solidFill>
            <a:custDash>
              <a:ds d="600000" sp="600000"/>
            </a:custDash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2" name="Shape 2945"/>
          <p:cNvSpPr/>
          <p:nvPr/>
        </p:nvSpPr>
        <p:spPr>
          <a:xfrm>
            <a:off x="2351922" y="5442995"/>
            <a:ext cx="7234153" cy="1"/>
          </a:xfrm>
          <a:prstGeom prst="line">
            <a:avLst/>
          </a:prstGeom>
          <a:ln w="25400">
            <a:solidFill>
              <a:schemeClr val="accent3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93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03" y="4788108"/>
            <a:ext cx="933069" cy="389455"/>
          </a:xfrm>
          <a:prstGeom prst="rect">
            <a:avLst/>
          </a:prstGeom>
          <a:ln w="12700">
            <a:miter lim="400000"/>
          </a:ln>
        </p:spPr>
      </p:pic>
      <p:sp>
        <p:nvSpPr>
          <p:cNvPr id="394" name="Shape 2948"/>
          <p:cNvSpPr/>
          <p:nvPr/>
        </p:nvSpPr>
        <p:spPr>
          <a:xfrm>
            <a:off x="2343937" y="5350539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95" name="Shape 2948"/>
          <p:cNvSpPr/>
          <p:nvPr/>
        </p:nvSpPr>
        <p:spPr>
          <a:xfrm>
            <a:off x="9413861" y="5350539"/>
            <a:ext cx="184914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96" name="Shape 2948"/>
          <p:cNvSpPr/>
          <p:nvPr/>
        </p:nvSpPr>
        <p:spPr>
          <a:xfrm>
            <a:off x="5249853" y="5350539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397" name="TextBox 58"/>
          <p:cNvSpPr txBox="1"/>
          <p:nvPr/>
        </p:nvSpPr>
        <p:spPr>
          <a:xfrm>
            <a:off x="2216848" y="5637722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2006</a:t>
            </a:r>
          </a:p>
        </p:txBody>
      </p:sp>
      <p:sp>
        <p:nvSpPr>
          <p:cNvPr id="398" name="TextBox 58"/>
          <p:cNvSpPr txBox="1"/>
          <p:nvPr/>
        </p:nvSpPr>
        <p:spPr>
          <a:xfrm>
            <a:off x="5130750" y="5637722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2013</a:t>
            </a:r>
          </a:p>
        </p:txBody>
      </p:sp>
      <p:sp>
        <p:nvSpPr>
          <p:cNvPr id="399" name="TextBox 58"/>
          <p:cNvSpPr txBox="1"/>
          <p:nvPr/>
        </p:nvSpPr>
        <p:spPr>
          <a:xfrm>
            <a:off x="9282059" y="5637722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2023</a:t>
            </a:r>
          </a:p>
        </p:txBody>
      </p:sp>
      <p:sp>
        <p:nvSpPr>
          <p:cNvPr id="418" name="Connection Line"/>
          <p:cNvSpPr/>
          <p:nvPr/>
        </p:nvSpPr>
        <p:spPr>
          <a:xfrm>
            <a:off x="2156460" y="4982210"/>
            <a:ext cx="279400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</a:path>
            </a:pathLst>
          </a:custGeom>
          <a:ln w="12700">
            <a:solidFill>
              <a:schemeClr val="accent2"/>
            </a:solidFill>
            <a:miter/>
          </a:ln>
        </p:spPr>
        <p:txBody>
          <a:bodyPr/>
          <a:lstStyle/>
          <a:p>
            <a:endParaRPr/>
          </a:p>
        </p:txBody>
      </p:sp>
      <p:sp>
        <p:nvSpPr>
          <p:cNvPr id="401" name="Subtitle 2"/>
          <p:cNvSpPr txBox="1"/>
          <p:nvPr/>
        </p:nvSpPr>
        <p:spPr>
          <a:xfrm>
            <a:off x="2595076" y="4656148"/>
            <a:ext cx="1230631" cy="595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defTabSz="1087437">
              <a:lnSpc>
                <a:spcPts val="1100"/>
              </a:lnSpc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Ley 20.129</a:t>
            </a:r>
          </a:p>
          <a:p>
            <a:pPr defTabSz="1087437">
              <a:lnSpc>
                <a:spcPts val="1100"/>
              </a:lnSpc>
              <a:defRPr sz="7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Creación de la CNA</a:t>
            </a:r>
          </a:p>
          <a:p>
            <a:pPr defTabSz="1087437">
              <a:lnSpc>
                <a:spcPts val="1100"/>
              </a:lnSpc>
              <a:defRPr sz="7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Proceso voluntario</a:t>
            </a:r>
          </a:p>
          <a:p>
            <a:pPr defTabSz="1087437">
              <a:lnSpc>
                <a:spcPts val="1100"/>
              </a:lnSpc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Medición de Auto-regulación</a:t>
            </a:r>
          </a:p>
        </p:txBody>
      </p:sp>
      <p:sp>
        <p:nvSpPr>
          <p:cNvPr id="402" name="Subtitle 2"/>
          <p:cNvSpPr txBox="1"/>
          <p:nvPr/>
        </p:nvSpPr>
        <p:spPr>
          <a:xfrm>
            <a:off x="8980721" y="4656148"/>
            <a:ext cx="1448912" cy="595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defTabSz="1087437">
              <a:lnSpc>
                <a:spcPts val="1100"/>
              </a:lnSpc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Normativa CNA</a:t>
            </a:r>
          </a:p>
          <a:p>
            <a:pPr defTabSz="1087437">
              <a:lnSpc>
                <a:spcPts val="1100"/>
              </a:lnSpc>
              <a:defRPr sz="7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Medición de Auto-regulación</a:t>
            </a:r>
          </a:p>
          <a:p>
            <a:pPr defTabSz="1087437">
              <a:lnSpc>
                <a:spcPts val="1100"/>
              </a:lnSpc>
              <a:defRPr sz="7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Resultados verificables </a:t>
            </a:r>
          </a:p>
          <a:p>
            <a:pPr defTabSz="1087437">
              <a:lnSpc>
                <a:spcPts val="1100"/>
              </a:lnSpc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Retroalimentación</a:t>
            </a:r>
          </a:p>
        </p:txBody>
      </p:sp>
      <p:sp>
        <p:nvSpPr>
          <p:cNvPr id="403" name="Shape 2948"/>
          <p:cNvSpPr/>
          <p:nvPr/>
        </p:nvSpPr>
        <p:spPr>
          <a:xfrm>
            <a:off x="4419591" y="5350539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04" name="Shape 2948"/>
          <p:cNvSpPr/>
          <p:nvPr/>
        </p:nvSpPr>
        <p:spPr>
          <a:xfrm>
            <a:off x="484183" y="5350539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05" name="TextBox 58"/>
          <p:cNvSpPr txBox="1"/>
          <p:nvPr/>
        </p:nvSpPr>
        <p:spPr>
          <a:xfrm>
            <a:off x="356770" y="5637722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1999</a:t>
            </a:r>
          </a:p>
        </p:txBody>
      </p:sp>
      <p:sp>
        <p:nvSpPr>
          <p:cNvPr id="406" name="Subtitle 2"/>
          <p:cNvSpPr txBox="1"/>
          <p:nvPr/>
        </p:nvSpPr>
        <p:spPr>
          <a:xfrm>
            <a:off x="204875" y="4587606"/>
            <a:ext cx="739652" cy="570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Piloto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CNAP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CONAP</a:t>
            </a:r>
          </a:p>
        </p:txBody>
      </p:sp>
      <p:cxnSp>
        <p:nvCxnSpPr>
          <p:cNvPr id="407" name="Connection Line"/>
          <p:cNvCxnSpPr>
            <a:stCxn id="404" idx="0"/>
            <a:endCxn id="406" idx="0"/>
          </p:cNvCxnSpPr>
          <p:nvPr/>
        </p:nvCxnSpPr>
        <p:spPr>
          <a:xfrm flipH="1" flipV="1">
            <a:off x="574701" y="4872911"/>
            <a:ext cx="1939" cy="570085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408" name="Shape 2948"/>
          <p:cNvSpPr/>
          <p:nvPr/>
        </p:nvSpPr>
        <p:spPr>
          <a:xfrm>
            <a:off x="7325508" y="5344189"/>
            <a:ext cx="184913" cy="1849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09" name="TextBox 58"/>
          <p:cNvSpPr txBox="1"/>
          <p:nvPr/>
        </p:nvSpPr>
        <p:spPr>
          <a:xfrm>
            <a:off x="4308475" y="5637722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2011</a:t>
            </a:r>
          </a:p>
        </p:txBody>
      </p:sp>
      <p:sp>
        <p:nvSpPr>
          <p:cNvPr id="410" name="Subtitle 2"/>
          <p:cNvSpPr txBox="1"/>
          <p:nvPr/>
        </p:nvSpPr>
        <p:spPr>
          <a:xfrm>
            <a:off x="4118347" y="4656148"/>
            <a:ext cx="830263" cy="595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defTabSz="1087437">
              <a:lnSpc>
                <a:spcPts val="1100"/>
              </a:lnSpc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Ley 20.529</a:t>
            </a:r>
          </a:p>
          <a:p>
            <a:pPr defTabSz="1087437">
              <a:lnSpc>
                <a:spcPts val="1100"/>
              </a:lnSpc>
              <a:defRPr sz="7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Modelo del Sistema de Aseguramiento de la Calidad</a:t>
            </a:r>
          </a:p>
        </p:txBody>
      </p:sp>
      <p:sp>
        <p:nvSpPr>
          <p:cNvPr id="411" name="Subtitle 2"/>
          <p:cNvSpPr txBox="1"/>
          <p:nvPr/>
        </p:nvSpPr>
        <p:spPr>
          <a:xfrm>
            <a:off x="4931940" y="4656148"/>
            <a:ext cx="842962" cy="604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>
            <a:lvl1pPr algn="ctr" defTabSz="1087437">
              <a:lnSpc>
                <a:spcPts val="1100"/>
              </a:lnSpc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Propuesta de reforma estructural a la Ley 20.129</a:t>
            </a:r>
          </a:p>
        </p:txBody>
      </p:sp>
      <p:sp>
        <p:nvSpPr>
          <p:cNvPr id="412" name="TextBox 58"/>
          <p:cNvSpPr txBox="1"/>
          <p:nvPr/>
        </p:nvSpPr>
        <p:spPr>
          <a:xfrm>
            <a:off x="7206405" y="5637722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2018</a:t>
            </a:r>
          </a:p>
        </p:txBody>
      </p:sp>
      <p:sp>
        <p:nvSpPr>
          <p:cNvPr id="413" name="Subtitle 2"/>
          <p:cNvSpPr txBox="1"/>
          <p:nvPr/>
        </p:nvSpPr>
        <p:spPr>
          <a:xfrm>
            <a:off x="6908738" y="4656148"/>
            <a:ext cx="1297853" cy="595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defTabSz="1087437">
              <a:lnSpc>
                <a:spcPts val="1100"/>
              </a:lnSpc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Ley 21.091 y 21.094</a:t>
            </a:r>
          </a:p>
          <a:p>
            <a:pPr defTabSz="1087437">
              <a:lnSpc>
                <a:spcPts val="1100"/>
              </a:lnSpc>
              <a:defRPr sz="7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Proceso Obligatorio (desde 2020)</a:t>
            </a:r>
          </a:p>
          <a:p>
            <a:pPr defTabSz="1087437">
              <a:lnSpc>
                <a:spcPts val="1100"/>
              </a:lnSpc>
              <a:defRPr sz="7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Medición de Auto-regulación</a:t>
            </a:r>
          </a:p>
          <a:p>
            <a:pPr defTabSz="1087437">
              <a:lnSpc>
                <a:spcPts val="1100"/>
              </a:lnSpc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Resultados verificables</a:t>
            </a:r>
          </a:p>
        </p:txBody>
      </p:sp>
      <p:sp>
        <p:nvSpPr>
          <p:cNvPr id="414" name="Shape 2948"/>
          <p:cNvSpPr/>
          <p:nvPr/>
        </p:nvSpPr>
        <p:spPr>
          <a:xfrm>
            <a:off x="8203775" y="5392195"/>
            <a:ext cx="88901" cy="889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15" name="TextBox 58"/>
          <p:cNvSpPr txBox="1"/>
          <p:nvPr/>
        </p:nvSpPr>
        <p:spPr>
          <a:xfrm>
            <a:off x="8024197" y="5637722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2020</a:t>
            </a:r>
          </a:p>
        </p:txBody>
      </p:sp>
      <p:sp>
        <p:nvSpPr>
          <p:cNvPr id="416" name="Line"/>
          <p:cNvSpPr/>
          <p:nvPr/>
        </p:nvSpPr>
        <p:spPr>
          <a:xfrm>
            <a:off x="5757439" y="4750008"/>
            <a:ext cx="1082316" cy="1"/>
          </a:xfrm>
          <a:prstGeom prst="line">
            <a:avLst/>
          </a:prstGeom>
          <a:ln w="12700">
            <a:solidFill>
              <a:schemeClr val="accent2"/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Áreas — Dimensiones — Criterios — Estándares"/>
          <p:cNvSpPr txBox="1">
            <a:spLocks noGrp="1"/>
          </p:cNvSpPr>
          <p:nvPr>
            <p:ph type="title"/>
          </p:nvPr>
        </p:nvSpPr>
        <p:spPr>
          <a:xfrm>
            <a:off x="238535" y="255017"/>
            <a:ext cx="11847276" cy="1325564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r>
              <a:t>Áreas — Dimensiones — Criterios — Estándares</a:t>
            </a:r>
          </a:p>
        </p:txBody>
      </p:sp>
      <p:sp>
        <p:nvSpPr>
          <p:cNvPr id="421" name="Acreditación Institucional (CNA—2023)…"/>
          <p:cNvSpPr txBox="1"/>
          <p:nvPr/>
        </p:nvSpPr>
        <p:spPr>
          <a:xfrm>
            <a:off x="6290733" y="1625058"/>
            <a:ext cx="5257801" cy="1869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 defTabSz="365760">
              <a:lnSpc>
                <a:spcPct val="90000"/>
              </a:lnSpc>
              <a:defRPr sz="244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Institucional (CNA—2023)</a:t>
            </a:r>
          </a:p>
          <a:p>
            <a:pPr algn="ctr" defTabSz="365760">
              <a:lnSpc>
                <a:spcPct val="90000"/>
              </a:lnSpc>
              <a:defRPr sz="244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5 Dimensiones</a:t>
            </a:r>
          </a:p>
          <a:p>
            <a:pPr algn="ctr" defTabSz="365760">
              <a:lnSpc>
                <a:spcPct val="90000"/>
              </a:lnSpc>
              <a:defRPr sz="244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14 Criterios</a:t>
            </a:r>
          </a:p>
          <a:p>
            <a:pPr algn="ctr" defTabSz="365760">
              <a:lnSpc>
                <a:spcPct val="90000"/>
              </a:lnSpc>
              <a:defRPr sz="244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3 Estándares</a:t>
            </a:r>
            <a:br/>
            <a:r>
              <a:rPr sz="1280"/>
              <a:t>(Básico, Avanzado, Excelencia)</a:t>
            </a:r>
            <a:br>
              <a:rPr sz="1280"/>
            </a:br>
            <a:endParaRPr sz="1280"/>
          </a:p>
        </p:txBody>
      </p:sp>
      <p:sp>
        <p:nvSpPr>
          <p:cNvPr id="422" name="Acreditación Institucional (CNA—2013)…"/>
          <p:cNvSpPr txBox="1"/>
          <p:nvPr/>
        </p:nvSpPr>
        <p:spPr>
          <a:xfrm>
            <a:off x="35335" y="1625058"/>
            <a:ext cx="5257801" cy="1540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 defTabSz="374904">
              <a:lnSpc>
                <a:spcPct val="90000"/>
              </a:lnSpc>
              <a:defRPr sz="2501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Institucional (CNA—2013)</a:t>
            </a:r>
          </a:p>
          <a:p>
            <a:pPr algn="ctr" defTabSz="374904">
              <a:lnSpc>
                <a:spcPct val="90000"/>
              </a:lnSpc>
              <a:defRPr sz="2501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2 Áreas obligatorias</a:t>
            </a:r>
          </a:p>
          <a:p>
            <a:pPr algn="ctr" defTabSz="374904">
              <a:lnSpc>
                <a:spcPct val="90000"/>
              </a:lnSpc>
              <a:defRPr sz="2501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3 Áreas voluntarias</a:t>
            </a:r>
            <a:br/>
            <a:endParaRPr/>
          </a:p>
        </p:txBody>
      </p:sp>
      <p:sp>
        <p:nvSpPr>
          <p:cNvPr id="423" name="Acreditación Postgrado…"/>
          <p:cNvSpPr txBox="1"/>
          <p:nvPr/>
        </p:nvSpPr>
        <p:spPr>
          <a:xfrm>
            <a:off x="5708820" y="4778633"/>
            <a:ext cx="2851324" cy="142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Postgrado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5 Dimensiones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6 Criterios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3 Estándares</a:t>
            </a:r>
          </a:p>
        </p:txBody>
      </p:sp>
      <p:sp>
        <p:nvSpPr>
          <p:cNvPr id="424" name="Acreditación Especialidades Médicas…"/>
          <p:cNvSpPr txBox="1"/>
          <p:nvPr/>
        </p:nvSpPr>
        <p:spPr>
          <a:xfrm>
            <a:off x="8582462" y="4778633"/>
            <a:ext cx="3525667" cy="142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Especialidades Médicas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5 Dimensiones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9 Criterios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3 Estándares</a:t>
            </a:r>
          </a:p>
        </p:txBody>
      </p:sp>
      <p:sp>
        <p:nvSpPr>
          <p:cNvPr id="425" name="Acreditación Pedagogías…"/>
          <p:cNvSpPr txBox="1"/>
          <p:nvPr/>
        </p:nvSpPr>
        <p:spPr>
          <a:xfrm>
            <a:off x="5721520" y="3538729"/>
            <a:ext cx="2851324" cy="113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Pedagogías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5 Dimensiones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6 Criterios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3 Estándares</a:t>
            </a:r>
          </a:p>
        </p:txBody>
      </p:sp>
      <p:sp>
        <p:nvSpPr>
          <p:cNvPr id="426" name="Acreditación Medicina…"/>
          <p:cNvSpPr txBox="1"/>
          <p:nvPr/>
        </p:nvSpPr>
        <p:spPr>
          <a:xfrm>
            <a:off x="8560144" y="3538729"/>
            <a:ext cx="3525667" cy="113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Medicina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5 Dimensiones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9 Criterios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3 Estándares</a:t>
            </a:r>
          </a:p>
        </p:txBody>
      </p:sp>
      <p:sp>
        <p:nvSpPr>
          <p:cNvPr id="427" name="Acreditación Pregrado…"/>
          <p:cNvSpPr txBox="1"/>
          <p:nvPr/>
        </p:nvSpPr>
        <p:spPr>
          <a:xfrm>
            <a:off x="1095091" y="3538729"/>
            <a:ext cx="2851325" cy="113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Pregrado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3 Dimensiones</a:t>
            </a:r>
          </a:p>
        </p:txBody>
      </p:sp>
      <p:sp>
        <p:nvSpPr>
          <p:cNvPr id="428" name="Acreditación Postgrado…"/>
          <p:cNvSpPr txBox="1"/>
          <p:nvPr/>
        </p:nvSpPr>
        <p:spPr>
          <a:xfrm>
            <a:off x="757920" y="4353842"/>
            <a:ext cx="3525667" cy="1136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Postgrado</a:t>
            </a:r>
          </a:p>
          <a:p>
            <a:pPr algn="ctr">
              <a:lnSpc>
                <a:spcPct val="90000"/>
              </a:lnSpc>
              <a:defRPr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3 Dimensiones</a:t>
            </a:r>
          </a:p>
        </p:txBody>
      </p:sp>
      <p:sp>
        <p:nvSpPr>
          <p:cNvPr id="429" name="Line"/>
          <p:cNvSpPr/>
          <p:nvPr/>
        </p:nvSpPr>
        <p:spPr>
          <a:xfrm flipV="1">
            <a:off x="5461000" y="1055310"/>
            <a:ext cx="0" cy="4747380"/>
          </a:xfrm>
          <a:prstGeom prst="line">
            <a:avLst/>
          </a:prstGeom>
          <a:ln w="254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Acreditación Institucional (CNA—2023)…"/>
          <p:cNvSpPr txBox="1">
            <a:spLocks noGrp="1"/>
          </p:cNvSpPr>
          <p:nvPr>
            <p:ph type="body" sz="half" idx="1"/>
          </p:nvPr>
        </p:nvSpPr>
        <p:spPr>
          <a:xfrm>
            <a:off x="6349882" y="1120824"/>
            <a:ext cx="5202690" cy="4850031"/>
          </a:xfrm>
          <a:prstGeom prst="rect">
            <a:avLst/>
          </a:prstGeom>
        </p:spPr>
        <p:txBody>
          <a:bodyPr/>
          <a:lstStyle/>
          <a:p>
            <a:pPr marL="0" indent="0" defTabSz="438911">
              <a:spcBef>
                <a:spcPts val="400"/>
              </a:spcBef>
              <a:buSzTx/>
              <a:buFontTx/>
              <a:buNone/>
              <a:defRPr sz="1727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Institucional (CNA—2023)</a:t>
            </a:r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672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1056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 Dimensión Docencia &amp; Resultados Proceso Formativo (Obligatoria)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1. Modelo educativo y diseño curricular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2. Procesos y resultados de enseñanza y aprendizaje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3. Cuerpo académico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4. Investigación, innovación docente y mejora del proceso formativo</a:t>
            </a:r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1056"/>
            </a:pPr>
            <a:endParaRPr/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1056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II Dimensión Gestión Estratégica y Recursos Institucionales (Obligatoria)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5. Gobierno y estructura organizacional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6. Gestión y desarrollo de personas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7. Gestión de la convivencia, equidad de género, diversidad e inclusión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8. Gestión de recursos</a:t>
            </a:r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1056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III Dimensión Aseguramiento Interno de la Calidad (Obligatoria)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9. Gestión y resultados del aseguramiento interno de la calidad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10. Aseguramiento de la calidad de los programas formativos</a:t>
            </a:r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1056"/>
            </a:pPr>
            <a:endParaRPr/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1056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IV Dimensión Vinculación con el Medio (Obligatoria desde mayo 2025)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11. Política y gestión de la vinculación con el medio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12. Resultados e impacto de la vinculación con el medio</a:t>
            </a:r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1056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marL="0" indent="0" defTabSz="438911">
              <a:spcBef>
                <a:spcPts val="400"/>
              </a:spcBef>
              <a:buSzTx/>
              <a:buFontTx/>
              <a:buNone/>
              <a:defRPr sz="1056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V Dimensión Investigación, Creación y/o Innovación (Voluntaria — requisito 7 años)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13. Política y gestión de la investigación, creación y/o innovación</a:t>
            </a:r>
          </a:p>
          <a:p>
            <a:pPr marL="0" lvl="1" indent="109727" defTabSz="438911">
              <a:spcBef>
                <a:spcPts val="400"/>
              </a:spcBef>
              <a:buSzTx/>
              <a:buFontTx/>
              <a:buNone/>
              <a:defRPr sz="1056"/>
            </a:pPr>
            <a:r>
              <a:t>Criterio 14. Resultados de la investigación, creación y/o innovación</a:t>
            </a:r>
          </a:p>
        </p:txBody>
      </p:sp>
      <p:sp>
        <p:nvSpPr>
          <p:cNvPr id="432" name="Acreditación Institucional (CNA—2013)…"/>
          <p:cNvSpPr txBox="1"/>
          <p:nvPr/>
        </p:nvSpPr>
        <p:spPr>
          <a:xfrm>
            <a:off x="639427" y="1120824"/>
            <a:ext cx="4384553" cy="4850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411479">
              <a:lnSpc>
                <a:spcPct val="90000"/>
              </a:lnSpc>
              <a:spcBef>
                <a:spcPts val="400"/>
              </a:spcBef>
              <a:defRPr sz="1619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Institucional (CNA—2013)</a:t>
            </a:r>
          </a:p>
          <a:p>
            <a:pPr defTabSz="411479">
              <a:lnSpc>
                <a:spcPct val="90000"/>
              </a:lnSpc>
              <a:spcBef>
                <a:spcPts val="400"/>
              </a:spcBef>
              <a:defRPr sz="63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 Área Gestión Institucional (Obligatoria)</a:t>
            </a:r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Estructura, gobierno, gestión de personas, planificación de recursos y capacidad de autoanálisis institucional.</a:t>
            </a:r>
          </a:p>
          <a:p>
            <a:pPr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II Área Docencia de Pregrado (Obligatoria)</a:t>
            </a:r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Diseño curricular, proceso de enseñanza-aprendizaje, cuerpo docente, seguimiento de estudiantes y egresados.</a:t>
            </a:r>
          </a:p>
          <a:p>
            <a:pPr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III Área Vinculación con el Medio (Voluntaria)</a:t>
            </a:r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Política institucional, mecanismos formales de vínculo externo, recursos e impacto interno/externo.</a:t>
            </a:r>
          </a:p>
          <a:p>
            <a:pPr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IV Área Postgrado (Voluntaria)</a:t>
            </a:r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Oferta de postgrado, dotación académica para investigación y tesis, infraestructura y vínculo con las áreas o líneas de investigación.</a:t>
            </a:r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V Área Investigación (Voluntaria — requisito 7 años)</a:t>
            </a:r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Política institucional, recursos y fondos competitivos, resultados (publicaciones y patentes) e impactos.</a:t>
            </a:r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lvl="1" indent="102869" defTabSz="411479">
              <a:lnSpc>
                <a:spcPct val="90000"/>
              </a:lnSpc>
              <a:spcBef>
                <a:spcPts val="400"/>
              </a:spcBef>
              <a:defRPr sz="989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</p:txBody>
      </p:sp>
      <p:sp>
        <p:nvSpPr>
          <p:cNvPr id="433" name="Áreas — Dimensiones — Criterios — Estándares"/>
          <p:cNvSpPr txBox="1">
            <a:spLocks noGrp="1"/>
          </p:cNvSpPr>
          <p:nvPr>
            <p:ph type="title"/>
          </p:nvPr>
        </p:nvSpPr>
        <p:spPr>
          <a:xfrm>
            <a:off x="238535" y="255017"/>
            <a:ext cx="11847276" cy="1325564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r>
              <a:t>Áreas — Dimensiones — Criterios — Estándares</a:t>
            </a:r>
          </a:p>
        </p:txBody>
      </p:sp>
      <p:sp>
        <p:nvSpPr>
          <p:cNvPr id="434" name="Line"/>
          <p:cNvSpPr/>
          <p:nvPr/>
        </p:nvSpPr>
        <p:spPr>
          <a:xfrm flipV="1">
            <a:off x="5461000" y="1055310"/>
            <a:ext cx="0" cy="4747380"/>
          </a:xfrm>
          <a:prstGeom prst="line">
            <a:avLst/>
          </a:prstGeom>
          <a:ln w="254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Dimensiones — Criterios — Estánda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Dimensiones — Criterios — Estándares</a:t>
            </a:r>
          </a:p>
        </p:txBody>
      </p:sp>
      <p:sp>
        <p:nvSpPr>
          <p:cNvPr id="437" name="Acreditación Institucional…"/>
          <p:cNvSpPr txBox="1">
            <a:spLocks noGrp="1"/>
          </p:cNvSpPr>
          <p:nvPr>
            <p:ph type="body" sz="half" idx="1"/>
          </p:nvPr>
        </p:nvSpPr>
        <p:spPr>
          <a:xfrm>
            <a:off x="270275" y="1256841"/>
            <a:ext cx="4176713" cy="4582769"/>
          </a:xfrm>
          <a:prstGeom prst="rect">
            <a:avLst/>
          </a:prstGeom>
        </p:spPr>
        <p:txBody>
          <a:bodyPr/>
          <a:lstStyle/>
          <a:p>
            <a:pPr marL="0" indent="0" defTabSz="493776">
              <a:spcBef>
                <a:spcPts val="500"/>
              </a:spcBef>
              <a:buSzTx/>
              <a:buFontTx/>
              <a:buNone/>
              <a:defRPr sz="1944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Acreditación Institucional</a:t>
            </a:r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756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864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 Dimensión Docencia &amp; Resultados Proceso Formativo (Obligatoria)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 b="1">
                <a:solidFill>
                  <a:srgbClr val="DF834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Criterio 1. Modelo educativo y diseño curricular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2. Procesos y resultados de enseñanza y aprendizaje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3. Cuerpo académico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4. Investigación, innovación docente y mejora del proceso formativo</a:t>
            </a:r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864"/>
            </a:pPr>
            <a:endParaRPr/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864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II Dimensión Gestión Estratégica y Recursos Institucionales (Obligatoria)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5. Gobierno y estructura organizacional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6. Gestión y desarrollo de personas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7. Gestión de la convivencia, equidad de género, diversidad e inclusión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8. Gestión de recursos</a:t>
            </a:r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864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III Dimensión Aseguramiento Interno de la Calidad (Obligatoria)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9. Gestión y resultados del aseguramiento interno de la calidad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10. Aseguramiento de la calidad de los programas formativos</a:t>
            </a:r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864"/>
            </a:pPr>
            <a:endParaRPr/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864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IV Dimensión Vinculación con el Medio (Obligatoria desde mayo 2025)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11. Política y gestión de la vinculación con el medio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12. Resultados e impacto de la vinculación con el medio</a:t>
            </a:r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864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marL="0" indent="0" defTabSz="493776">
              <a:spcBef>
                <a:spcPts val="500"/>
              </a:spcBef>
              <a:buSzTx/>
              <a:buFontTx/>
              <a:buNone/>
              <a:defRPr sz="864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V Dimensión Investigación, Creación y/o Innovación (Voluntaria — requisito 7 años)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13. Política y gestión de la investigación, creación y/o innovación</a:t>
            </a:r>
          </a:p>
          <a:p>
            <a:pPr marL="0" lvl="1" indent="123444" defTabSz="493776">
              <a:spcBef>
                <a:spcPts val="500"/>
              </a:spcBef>
              <a:buSzTx/>
              <a:buFontTx/>
              <a:buNone/>
              <a:defRPr sz="864"/>
            </a:pPr>
            <a:r>
              <a:t>Criterio 14. Resultados de la investigación, creación y/o innovación</a:t>
            </a:r>
          </a:p>
        </p:txBody>
      </p:sp>
      <p:pic>
        <p:nvPicPr>
          <p:cNvPr id="43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75" y="862367"/>
            <a:ext cx="4484050" cy="5802888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Line"/>
          <p:cNvSpPr/>
          <p:nvPr/>
        </p:nvSpPr>
        <p:spPr>
          <a:xfrm>
            <a:off x="3090265" y="2076309"/>
            <a:ext cx="1809524" cy="811767"/>
          </a:xfrm>
          <a:prstGeom prst="line">
            <a:avLst/>
          </a:prstGeom>
          <a:ln w="25400">
            <a:solidFill>
              <a:schemeClr val="accent2"/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0" name="Estándares"/>
          <p:cNvSpPr/>
          <p:nvPr/>
        </p:nvSpPr>
        <p:spPr>
          <a:xfrm>
            <a:off x="4848778" y="3405323"/>
            <a:ext cx="3826169" cy="2684580"/>
          </a:xfrm>
          <a:prstGeom prst="roundRect">
            <a:avLst>
              <a:gd name="adj" fmla="val 7652"/>
            </a:avLst>
          </a:prstGeom>
          <a:ln w="25400">
            <a:solidFill>
              <a:schemeClr val="accent2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4000">
                <a:solidFill>
                  <a:schemeClr val="accent2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 Estándares </a:t>
            </a:r>
          </a:p>
        </p:txBody>
      </p:sp>
      <p:sp>
        <p:nvSpPr>
          <p:cNvPr id="441" name="Nivel 1. Normativo…"/>
          <p:cNvSpPr txBox="1"/>
          <p:nvPr/>
        </p:nvSpPr>
        <p:spPr>
          <a:xfrm>
            <a:off x="9340942" y="3497263"/>
            <a:ext cx="2682061" cy="2613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777240">
              <a:lnSpc>
                <a:spcPct val="90000"/>
              </a:lnSpc>
              <a:spcBef>
                <a:spcPts val="800"/>
              </a:spcBef>
              <a:defRPr sz="1955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Nivel 1. Normativo</a:t>
            </a:r>
          </a:p>
          <a:p>
            <a:pPr algn="ctr" defTabSz="777240">
              <a:lnSpc>
                <a:spcPct val="90000"/>
              </a:lnSpc>
              <a:spcBef>
                <a:spcPts val="800"/>
              </a:spcBef>
              <a:defRPr sz="1615">
                <a:solidFill>
                  <a:schemeClr val="accent2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Básico ➞ 3 años</a:t>
            </a:r>
            <a:br/>
            <a:endParaRPr/>
          </a:p>
          <a:p>
            <a:pPr defTabSz="777240">
              <a:lnSpc>
                <a:spcPct val="90000"/>
              </a:lnSpc>
              <a:spcBef>
                <a:spcPts val="800"/>
              </a:spcBef>
              <a:defRPr sz="1955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Nivel 2. Sistematización</a:t>
            </a:r>
          </a:p>
          <a:p>
            <a:pPr algn="ctr" defTabSz="777240">
              <a:lnSpc>
                <a:spcPct val="90000"/>
              </a:lnSpc>
              <a:spcBef>
                <a:spcPts val="800"/>
              </a:spcBef>
              <a:defRPr sz="1615">
                <a:solidFill>
                  <a:schemeClr val="accent2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Avanzado ➞ 4 - 5 años</a:t>
            </a:r>
            <a:br/>
            <a:endParaRPr/>
          </a:p>
          <a:p>
            <a:pPr defTabSz="777240">
              <a:lnSpc>
                <a:spcPct val="90000"/>
              </a:lnSpc>
              <a:spcBef>
                <a:spcPts val="800"/>
              </a:spcBef>
              <a:defRPr sz="1955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Nivel 3. Retroalimentación</a:t>
            </a:r>
          </a:p>
          <a:p>
            <a:pPr algn="ctr" defTabSz="777240">
              <a:lnSpc>
                <a:spcPct val="90000"/>
              </a:lnSpc>
              <a:spcBef>
                <a:spcPts val="800"/>
              </a:spcBef>
              <a:defRPr sz="1615">
                <a:solidFill>
                  <a:schemeClr val="accent2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Excelencia ➞ 6 - 7 años</a:t>
            </a:r>
          </a:p>
        </p:txBody>
      </p:sp>
      <p:sp>
        <p:nvSpPr>
          <p:cNvPr id="442" name="Line"/>
          <p:cNvSpPr/>
          <p:nvPr/>
        </p:nvSpPr>
        <p:spPr>
          <a:xfrm>
            <a:off x="8763847" y="4651634"/>
            <a:ext cx="416481" cy="1"/>
          </a:xfrm>
          <a:prstGeom prst="line">
            <a:avLst/>
          </a:prstGeom>
          <a:ln w="25400">
            <a:solidFill>
              <a:schemeClr val="accent2"/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3" name="Line"/>
          <p:cNvSpPr/>
          <p:nvPr/>
        </p:nvSpPr>
        <p:spPr>
          <a:xfrm>
            <a:off x="3340854" y="1887470"/>
            <a:ext cx="1750140" cy="1"/>
          </a:xfrm>
          <a:prstGeom prst="line">
            <a:avLst/>
          </a:prstGeom>
          <a:ln w="25400">
            <a:solidFill>
              <a:srgbClr val="49A299"/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Aseguramiento de la Calidad y procesos de mejora continu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86968">
              <a:defRPr sz="4268"/>
            </a:lvl1pPr>
          </a:lstStyle>
          <a:p>
            <a:r>
              <a:t>Aseguramiento de la Calidad y procesos de mejora continua</a:t>
            </a:r>
          </a:p>
        </p:txBody>
      </p:sp>
      <p:cxnSp>
        <p:nvCxnSpPr>
          <p:cNvPr id="446" name="Connection Line"/>
          <p:cNvCxnSpPr>
            <a:stCxn id="508" idx="0"/>
            <a:endCxn id="484" idx="0"/>
          </p:cNvCxnSpPr>
          <p:nvPr/>
        </p:nvCxnSpPr>
        <p:spPr>
          <a:xfrm flipV="1">
            <a:off x="8229600" y="4140200"/>
            <a:ext cx="2514600" cy="1549400"/>
          </a:xfrm>
          <a:prstGeom prst="bentConnector2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447" name="Shape 2945"/>
          <p:cNvSpPr/>
          <p:nvPr/>
        </p:nvSpPr>
        <p:spPr>
          <a:xfrm>
            <a:off x="775870" y="3821900"/>
            <a:ext cx="10793402" cy="1"/>
          </a:xfrm>
          <a:prstGeom prst="line">
            <a:avLst/>
          </a:prstGeom>
          <a:ln w="25400">
            <a:solidFill>
              <a:schemeClr val="accent3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8" name="Shape 2948"/>
          <p:cNvSpPr/>
          <p:nvPr/>
        </p:nvSpPr>
        <p:spPr>
          <a:xfrm>
            <a:off x="683414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49" name="TextBox 57"/>
          <p:cNvSpPr txBox="1"/>
          <p:nvPr/>
        </p:nvSpPr>
        <p:spPr>
          <a:xfrm>
            <a:off x="564311" y="4008320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2002</a:t>
            </a:r>
          </a:p>
        </p:txBody>
      </p:sp>
      <p:sp>
        <p:nvSpPr>
          <p:cNvPr id="450" name="TextBox 58"/>
          <p:cNvSpPr txBox="1"/>
          <p:nvPr/>
        </p:nvSpPr>
        <p:spPr>
          <a:xfrm>
            <a:off x="1818709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2005</a:t>
            </a:r>
          </a:p>
        </p:txBody>
      </p:sp>
      <p:sp>
        <p:nvSpPr>
          <p:cNvPr id="451" name="TextBox 59"/>
          <p:cNvSpPr txBox="1"/>
          <p:nvPr/>
        </p:nvSpPr>
        <p:spPr>
          <a:xfrm>
            <a:off x="2639965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2007</a:t>
            </a:r>
          </a:p>
        </p:txBody>
      </p:sp>
      <p:sp>
        <p:nvSpPr>
          <p:cNvPr id="452" name="TextBox 60"/>
          <p:cNvSpPr txBox="1"/>
          <p:nvPr/>
        </p:nvSpPr>
        <p:spPr>
          <a:xfrm>
            <a:off x="3073106" y="4008320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2008</a:t>
            </a:r>
          </a:p>
        </p:txBody>
      </p:sp>
      <p:sp>
        <p:nvSpPr>
          <p:cNvPr id="453" name="TextBox 61"/>
          <p:cNvSpPr txBox="1"/>
          <p:nvPr/>
        </p:nvSpPr>
        <p:spPr>
          <a:xfrm>
            <a:off x="3885358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2010</a:t>
            </a:r>
          </a:p>
        </p:txBody>
      </p:sp>
      <p:sp>
        <p:nvSpPr>
          <p:cNvPr id="454" name="TextBox 62"/>
          <p:cNvSpPr txBox="1"/>
          <p:nvPr/>
        </p:nvSpPr>
        <p:spPr>
          <a:xfrm>
            <a:off x="5545881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2014</a:t>
            </a:r>
          </a:p>
        </p:txBody>
      </p:sp>
      <p:sp>
        <p:nvSpPr>
          <p:cNvPr id="455" name="TextBox 63"/>
          <p:cNvSpPr txBox="1"/>
          <p:nvPr/>
        </p:nvSpPr>
        <p:spPr>
          <a:xfrm>
            <a:off x="7621537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2019</a:t>
            </a:r>
          </a:p>
        </p:txBody>
      </p:sp>
      <p:sp>
        <p:nvSpPr>
          <p:cNvPr id="456" name="TextBox 64"/>
          <p:cNvSpPr txBox="1"/>
          <p:nvPr/>
        </p:nvSpPr>
        <p:spPr>
          <a:xfrm>
            <a:off x="8451798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2021</a:t>
            </a:r>
          </a:p>
        </p:txBody>
      </p:sp>
      <p:sp>
        <p:nvSpPr>
          <p:cNvPr id="457" name="Shape 2948"/>
          <p:cNvSpPr/>
          <p:nvPr/>
        </p:nvSpPr>
        <p:spPr>
          <a:xfrm>
            <a:off x="1098545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58" name="Shape 2948"/>
          <p:cNvSpPr/>
          <p:nvPr/>
        </p:nvSpPr>
        <p:spPr>
          <a:xfrm>
            <a:off x="1513675" y="3729444"/>
            <a:ext cx="184914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59" name="Shape 2948"/>
          <p:cNvSpPr/>
          <p:nvPr/>
        </p:nvSpPr>
        <p:spPr>
          <a:xfrm>
            <a:off x="1928806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0" name="Shape 2948"/>
          <p:cNvSpPr/>
          <p:nvPr/>
        </p:nvSpPr>
        <p:spPr>
          <a:xfrm>
            <a:off x="2343937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1" name="Shape 2948"/>
          <p:cNvSpPr/>
          <p:nvPr/>
        </p:nvSpPr>
        <p:spPr>
          <a:xfrm>
            <a:off x="2759068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2" name="Shape 2948"/>
          <p:cNvSpPr/>
          <p:nvPr/>
        </p:nvSpPr>
        <p:spPr>
          <a:xfrm>
            <a:off x="3174198" y="3729444"/>
            <a:ext cx="184914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3" name="Shape 2948"/>
          <p:cNvSpPr/>
          <p:nvPr/>
        </p:nvSpPr>
        <p:spPr>
          <a:xfrm>
            <a:off x="3589329" y="3729444"/>
            <a:ext cx="184914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4" name="Shape 2948"/>
          <p:cNvSpPr/>
          <p:nvPr/>
        </p:nvSpPr>
        <p:spPr>
          <a:xfrm>
            <a:off x="4004460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5" name="Shape 2948"/>
          <p:cNvSpPr/>
          <p:nvPr/>
        </p:nvSpPr>
        <p:spPr>
          <a:xfrm>
            <a:off x="4419591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6" name="Shape 2948"/>
          <p:cNvSpPr/>
          <p:nvPr/>
        </p:nvSpPr>
        <p:spPr>
          <a:xfrm>
            <a:off x="4834722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7" name="Shape 2948"/>
          <p:cNvSpPr/>
          <p:nvPr/>
        </p:nvSpPr>
        <p:spPr>
          <a:xfrm>
            <a:off x="5249853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8" name="Shape 2948"/>
          <p:cNvSpPr/>
          <p:nvPr/>
        </p:nvSpPr>
        <p:spPr>
          <a:xfrm>
            <a:off x="5664984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69" name="Shape 2948"/>
          <p:cNvSpPr/>
          <p:nvPr/>
        </p:nvSpPr>
        <p:spPr>
          <a:xfrm>
            <a:off x="6080114" y="3729444"/>
            <a:ext cx="184914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0" name="Shape 2948"/>
          <p:cNvSpPr/>
          <p:nvPr/>
        </p:nvSpPr>
        <p:spPr>
          <a:xfrm>
            <a:off x="6495245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1" name="Shape 2948"/>
          <p:cNvSpPr/>
          <p:nvPr/>
        </p:nvSpPr>
        <p:spPr>
          <a:xfrm>
            <a:off x="6910377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2" name="Shape 2948"/>
          <p:cNvSpPr/>
          <p:nvPr/>
        </p:nvSpPr>
        <p:spPr>
          <a:xfrm>
            <a:off x="7325508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3" name="Shape 2948"/>
          <p:cNvSpPr/>
          <p:nvPr/>
        </p:nvSpPr>
        <p:spPr>
          <a:xfrm>
            <a:off x="7740639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4" name="Shape 2948"/>
          <p:cNvSpPr/>
          <p:nvPr/>
        </p:nvSpPr>
        <p:spPr>
          <a:xfrm>
            <a:off x="8155769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5" name="Shape 2948"/>
          <p:cNvSpPr/>
          <p:nvPr/>
        </p:nvSpPr>
        <p:spPr>
          <a:xfrm>
            <a:off x="8570900" y="3729444"/>
            <a:ext cx="184914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6" name="Shape 2948"/>
          <p:cNvSpPr/>
          <p:nvPr/>
        </p:nvSpPr>
        <p:spPr>
          <a:xfrm>
            <a:off x="8986031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7" name="Shape 2948"/>
          <p:cNvSpPr/>
          <p:nvPr/>
        </p:nvSpPr>
        <p:spPr>
          <a:xfrm>
            <a:off x="9401161" y="3729444"/>
            <a:ext cx="184914" cy="18491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8" name="Shape 2948"/>
          <p:cNvSpPr/>
          <p:nvPr/>
        </p:nvSpPr>
        <p:spPr>
          <a:xfrm>
            <a:off x="9816293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79" name="Shape 2948"/>
          <p:cNvSpPr/>
          <p:nvPr/>
        </p:nvSpPr>
        <p:spPr>
          <a:xfrm>
            <a:off x="10231423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80" name="Shape 2948"/>
          <p:cNvSpPr/>
          <p:nvPr/>
        </p:nvSpPr>
        <p:spPr>
          <a:xfrm>
            <a:off x="10646554" y="3729444"/>
            <a:ext cx="184914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81" name="Shape 2948"/>
          <p:cNvSpPr/>
          <p:nvPr/>
        </p:nvSpPr>
        <p:spPr>
          <a:xfrm>
            <a:off x="11061685" y="3729444"/>
            <a:ext cx="184913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82" name="Shape 2948"/>
          <p:cNvSpPr/>
          <p:nvPr/>
        </p:nvSpPr>
        <p:spPr>
          <a:xfrm>
            <a:off x="11476815" y="3729444"/>
            <a:ext cx="184914" cy="184914"/>
          </a:xfrm>
          <a:prstGeom prst="ellipse">
            <a:avLst/>
          </a:prstGeom>
          <a:solidFill>
            <a:srgbClr val="01A4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500">
                <a:latin typeface="Lato Light"/>
                <a:ea typeface="Lato Light"/>
                <a:cs typeface="Lato Light"/>
                <a:sym typeface="Lato Light"/>
              </a:defRPr>
            </a:pPr>
            <a:endParaRPr/>
          </a:p>
        </p:txBody>
      </p:sp>
      <p:sp>
        <p:nvSpPr>
          <p:cNvPr id="483" name="TextBox 64"/>
          <p:cNvSpPr txBox="1"/>
          <p:nvPr/>
        </p:nvSpPr>
        <p:spPr>
          <a:xfrm>
            <a:off x="9282059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2023</a:t>
            </a:r>
          </a:p>
        </p:txBody>
      </p:sp>
      <p:sp>
        <p:nvSpPr>
          <p:cNvPr id="484" name="TextBox 64"/>
          <p:cNvSpPr txBox="1"/>
          <p:nvPr/>
        </p:nvSpPr>
        <p:spPr>
          <a:xfrm>
            <a:off x="10527451" y="4008320"/>
            <a:ext cx="423119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2026</a:t>
            </a:r>
          </a:p>
        </p:txBody>
      </p:sp>
      <p:sp>
        <p:nvSpPr>
          <p:cNvPr id="485" name="TextBox 64"/>
          <p:cNvSpPr txBox="1"/>
          <p:nvPr/>
        </p:nvSpPr>
        <p:spPr>
          <a:xfrm>
            <a:off x="10942583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2027</a:t>
            </a:r>
          </a:p>
        </p:txBody>
      </p:sp>
      <p:sp>
        <p:nvSpPr>
          <p:cNvPr id="486" name="TextBox 64"/>
          <p:cNvSpPr txBox="1"/>
          <p:nvPr/>
        </p:nvSpPr>
        <p:spPr>
          <a:xfrm>
            <a:off x="11357713" y="4008320"/>
            <a:ext cx="423118" cy="257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1100">
                <a:solidFill>
                  <a:srgbClr val="44546A"/>
                </a:solidFill>
                <a:latin typeface="Helvetica Neue Black Condensed"/>
                <a:ea typeface="Helvetica Neue Black Condensed"/>
                <a:cs typeface="Helvetica Neue Black Condensed"/>
                <a:sym typeface="Helvetica Neue Black Condensed"/>
              </a:defRPr>
            </a:lvl1pPr>
          </a:lstStyle>
          <a:p>
            <a:r>
              <a:t>2028</a:t>
            </a:r>
          </a:p>
        </p:txBody>
      </p:sp>
      <p:sp>
        <p:nvSpPr>
          <p:cNvPr id="487" name="Subtitle 2"/>
          <p:cNvSpPr txBox="1"/>
          <p:nvPr/>
        </p:nvSpPr>
        <p:spPr>
          <a:xfrm>
            <a:off x="140870" y="4575461"/>
            <a:ext cx="1270001" cy="570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>
            <a:lvl1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Primeros procesos de acreditación de carreras</a:t>
            </a:r>
          </a:p>
        </p:txBody>
      </p:sp>
      <p:sp>
        <p:nvSpPr>
          <p:cNvPr id="488" name="Subtitle 2"/>
          <p:cNvSpPr txBox="1"/>
          <p:nvPr/>
        </p:nvSpPr>
        <p:spPr>
          <a:xfrm>
            <a:off x="1382568" y="2617226"/>
            <a:ext cx="1270001" cy="75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</a:t>
            </a:r>
            <a:r>
              <a:rPr baseline="31999"/>
              <a:t>er </a:t>
            </a:r>
            <a:r>
              <a:t>proceso de Acreditación Institucional</a:t>
            </a:r>
          </a:p>
          <a:p>
            <a:pPr algn="ctr" defTabSz="1087437">
              <a:lnSpc>
                <a:spcPts val="1400"/>
              </a:lnSpc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 años</a:t>
            </a:r>
          </a:p>
        </p:txBody>
      </p:sp>
      <p:cxnSp>
        <p:nvCxnSpPr>
          <p:cNvPr id="489" name="Connection Line"/>
          <p:cNvCxnSpPr>
            <a:stCxn id="487" idx="0"/>
            <a:endCxn id="449" idx="0"/>
          </p:cNvCxnSpPr>
          <p:nvPr/>
        </p:nvCxnSpPr>
        <p:spPr>
          <a:xfrm flipV="1">
            <a:off x="775870" y="4136848"/>
            <a:ext cx="1" cy="7239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490" name="Subtitle 2"/>
          <p:cNvSpPr txBox="1"/>
          <p:nvPr/>
        </p:nvSpPr>
        <p:spPr>
          <a:xfrm>
            <a:off x="2631655" y="2617226"/>
            <a:ext cx="1270001" cy="75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</a:t>
            </a:r>
            <a:r>
              <a:rPr baseline="31999"/>
              <a:t>do</a:t>
            </a:r>
            <a:r>
              <a:t> proceso de Acreditación Institucional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ctr" defTabSz="1087437">
              <a:lnSpc>
                <a:spcPts val="1400"/>
              </a:lnSpc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 años</a:t>
            </a:r>
          </a:p>
        </p:txBody>
      </p:sp>
      <p:sp>
        <p:nvSpPr>
          <p:cNvPr id="491" name="Subtitle 2"/>
          <p:cNvSpPr txBox="1"/>
          <p:nvPr/>
        </p:nvSpPr>
        <p:spPr>
          <a:xfrm>
            <a:off x="5122440" y="2617226"/>
            <a:ext cx="1270001" cy="75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3</a:t>
            </a:r>
            <a:r>
              <a:rPr baseline="31999"/>
              <a:t>er</a:t>
            </a:r>
            <a:r>
              <a:t> proceso de Acreditación Institucional</a:t>
            </a:r>
          </a:p>
          <a:p>
            <a:pPr algn="ctr" defTabSz="1087437">
              <a:lnSpc>
                <a:spcPts val="1400"/>
              </a:lnSpc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 años</a:t>
            </a:r>
          </a:p>
        </p:txBody>
      </p:sp>
      <p:sp>
        <p:nvSpPr>
          <p:cNvPr id="492" name="Subtitle 2"/>
          <p:cNvSpPr txBox="1"/>
          <p:nvPr/>
        </p:nvSpPr>
        <p:spPr>
          <a:xfrm>
            <a:off x="8028356" y="2617226"/>
            <a:ext cx="1270001" cy="75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4</a:t>
            </a:r>
            <a:r>
              <a:rPr baseline="31999"/>
              <a:t>to</a:t>
            </a:r>
            <a:r>
              <a:t> proceso de Acreditación Institucional</a:t>
            </a:r>
          </a:p>
          <a:p>
            <a:pPr algn="ctr" defTabSz="1087437">
              <a:lnSpc>
                <a:spcPts val="1400"/>
              </a:lnSpc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7 años</a:t>
            </a:r>
          </a:p>
        </p:txBody>
      </p:sp>
      <p:cxnSp>
        <p:nvCxnSpPr>
          <p:cNvPr id="493" name="Connection Line"/>
          <p:cNvCxnSpPr>
            <a:stCxn id="459" idx="0"/>
            <a:endCxn id="488" idx="0"/>
          </p:cNvCxnSpPr>
          <p:nvPr/>
        </p:nvCxnSpPr>
        <p:spPr>
          <a:xfrm flipH="1" flipV="1">
            <a:off x="2017568" y="2994441"/>
            <a:ext cx="3695" cy="8274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494" name="Connection Line"/>
          <p:cNvCxnSpPr>
            <a:stCxn id="462" idx="0"/>
            <a:endCxn id="490" idx="0"/>
          </p:cNvCxnSpPr>
          <p:nvPr/>
        </p:nvCxnSpPr>
        <p:spPr>
          <a:xfrm flipV="1">
            <a:off x="3266655" y="2994441"/>
            <a:ext cx="1" cy="8274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495" name="Connection Line"/>
          <p:cNvCxnSpPr>
            <a:stCxn id="468" idx="0"/>
            <a:endCxn id="491" idx="0"/>
          </p:cNvCxnSpPr>
          <p:nvPr/>
        </p:nvCxnSpPr>
        <p:spPr>
          <a:xfrm flipH="1" flipV="1">
            <a:off x="5757440" y="2994441"/>
            <a:ext cx="1" cy="8274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496" name="Connection Line"/>
          <p:cNvCxnSpPr>
            <a:stCxn id="475" idx="0"/>
            <a:endCxn id="492" idx="0"/>
          </p:cNvCxnSpPr>
          <p:nvPr/>
        </p:nvCxnSpPr>
        <p:spPr>
          <a:xfrm flipH="1" flipV="1">
            <a:off x="8663356" y="2994441"/>
            <a:ext cx="2" cy="8274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497" name="Subtitle 2"/>
          <p:cNvSpPr txBox="1"/>
          <p:nvPr/>
        </p:nvSpPr>
        <p:spPr>
          <a:xfrm>
            <a:off x="11073971" y="2708882"/>
            <a:ext cx="989859" cy="7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5</a:t>
            </a:r>
            <a:r>
              <a:rPr baseline="31999"/>
              <a:t>to</a:t>
            </a:r>
            <a:r>
              <a:t> proceso de Acreditación Institucional</a:t>
            </a:r>
          </a:p>
        </p:txBody>
      </p:sp>
      <p:cxnSp>
        <p:nvCxnSpPr>
          <p:cNvPr id="498" name="Connection Line"/>
          <p:cNvCxnSpPr>
            <a:stCxn id="482" idx="0"/>
            <a:endCxn id="497" idx="0"/>
          </p:cNvCxnSpPr>
          <p:nvPr/>
        </p:nvCxnSpPr>
        <p:spPr>
          <a:xfrm flipH="1" flipV="1">
            <a:off x="11568900" y="3083341"/>
            <a:ext cx="372" cy="738560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499" name="Subtitle 2"/>
          <p:cNvSpPr txBox="1"/>
          <p:nvPr/>
        </p:nvSpPr>
        <p:spPr>
          <a:xfrm>
            <a:off x="2218746" y="4575461"/>
            <a:ext cx="1270001" cy="570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</a:t>
            </a:r>
            <a:r>
              <a:rPr baseline="31999"/>
              <a:t>er</a:t>
            </a:r>
            <a:r>
              <a:t> Modelo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Aseguramiento de la Calidad</a:t>
            </a:r>
          </a:p>
        </p:txBody>
      </p:sp>
      <p:sp>
        <p:nvSpPr>
          <p:cNvPr id="500" name="Subtitle 2"/>
          <p:cNvSpPr txBox="1"/>
          <p:nvPr/>
        </p:nvSpPr>
        <p:spPr>
          <a:xfrm>
            <a:off x="3460835" y="4575461"/>
            <a:ext cx="1270001" cy="74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</a:t>
            </a:r>
            <a:r>
              <a:rPr baseline="31999"/>
              <a:t>do</a:t>
            </a:r>
            <a:r>
              <a:t> Modelo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Sistema de Gestión de Calidad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(SGC ISO 9001:2015)</a:t>
            </a:r>
          </a:p>
        </p:txBody>
      </p:sp>
      <p:sp>
        <p:nvSpPr>
          <p:cNvPr id="501" name="Subtitle 2"/>
          <p:cNvSpPr txBox="1"/>
          <p:nvPr/>
        </p:nvSpPr>
        <p:spPr>
          <a:xfrm>
            <a:off x="7198095" y="4575461"/>
            <a:ext cx="1270001" cy="926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3</a:t>
            </a:r>
            <a:r>
              <a:rPr baseline="31999"/>
              <a:t>er</a:t>
            </a:r>
            <a:r>
              <a:t> Modelo</a:t>
            </a:r>
            <a:br/>
            <a:r>
              <a:t>Sistema de Aseguramiento de la Calidad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(SGC ISO 9001:2015)</a:t>
            </a:r>
          </a:p>
        </p:txBody>
      </p:sp>
      <p:cxnSp>
        <p:nvCxnSpPr>
          <p:cNvPr id="502" name="Connection Line"/>
          <p:cNvCxnSpPr>
            <a:stCxn id="499" idx="0"/>
            <a:endCxn id="451" idx="0"/>
          </p:cNvCxnSpPr>
          <p:nvPr/>
        </p:nvCxnSpPr>
        <p:spPr>
          <a:xfrm flipH="1" flipV="1">
            <a:off x="2851524" y="4136848"/>
            <a:ext cx="2223" cy="7239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503" name="Connection Line"/>
          <p:cNvCxnSpPr>
            <a:stCxn id="500" idx="0"/>
            <a:endCxn id="453" idx="0"/>
          </p:cNvCxnSpPr>
          <p:nvPr/>
        </p:nvCxnSpPr>
        <p:spPr>
          <a:xfrm flipV="1">
            <a:off x="4095835" y="4136848"/>
            <a:ext cx="1082" cy="8128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504" name="Connection Line"/>
          <p:cNvCxnSpPr>
            <a:stCxn id="501" idx="0"/>
            <a:endCxn id="455" idx="0"/>
          </p:cNvCxnSpPr>
          <p:nvPr/>
        </p:nvCxnSpPr>
        <p:spPr>
          <a:xfrm flipV="1">
            <a:off x="7833095" y="4136848"/>
            <a:ext cx="1" cy="9017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505" name="Connection Line"/>
          <p:cNvCxnSpPr>
            <a:stCxn id="507" idx="0"/>
            <a:endCxn id="485" idx="0"/>
          </p:cNvCxnSpPr>
          <p:nvPr/>
        </p:nvCxnSpPr>
        <p:spPr>
          <a:xfrm flipV="1">
            <a:off x="11152935" y="4136848"/>
            <a:ext cx="1207" cy="723919"/>
          </a:xfrm>
          <a:prstGeom prst="straightConnector1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506" name="Connection Line"/>
          <p:cNvCxnSpPr>
            <a:stCxn id="508" idx="0"/>
            <a:endCxn id="454" idx="0"/>
          </p:cNvCxnSpPr>
          <p:nvPr/>
        </p:nvCxnSpPr>
        <p:spPr>
          <a:xfrm flipH="1" flipV="1">
            <a:off x="5753100" y="4140200"/>
            <a:ext cx="2476500" cy="1549400"/>
          </a:xfrm>
          <a:prstGeom prst="bentConnector2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507" name="Subtitle 2"/>
          <p:cNvSpPr txBox="1"/>
          <p:nvPr/>
        </p:nvSpPr>
        <p:spPr>
          <a:xfrm>
            <a:off x="10517935" y="4575461"/>
            <a:ext cx="1270001" cy="570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>
            <a:spAutoFit/>
          </a:bodyPr>
          <a:lstStyle/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Recertificación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hasta 2026</a:t>
            </a:r>
          </a:p>
          <a:p>
            <a:pPr algn="ctr" defTabSz="1087437">
              <a:lnSpc>
                <a:spcPts val="1400"/>
              </a:lnSpc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(SGC ISO 9001:2015)</a:t>
            </a:r>
          </a:p>
        </p:txBody>
      </p:sp>
      <p:sp>
        <p:nvSpPr>
          <p:cNvPr id="508" name="TextBox 64"/>
          <p:cNvSpPr txBox="1"/>
          <p:nvPr/>
        </p:nvSpPr>
        <p:spPr>
          <a:xfrm>
            <a:off x="7214764" y="5560542"/>
            <a:ext cx="2041986" cy="2570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 defTabSz="1087437">
              <a:lnSpc>
                <a:spcPts val="1400"/>
              </a:lnSpc>
              <a:defRPr sz="1000" b="1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Modelo Educativo Institucional</a:t>
            </a:r>
          </a:p>
        </p:txBody>
      </p:sp>
      <p:sp>
        <p:nvSpPr>
          <p:cNvPr id="509" name="TextBox 64"/>
          <p:cNvSpPr txBox="1"/>
          <p:nvPr/>
        </p:nvSpPr>
        <p:spPr>
          <a:xfrm>
            <a:off x="10794786" y="5478321"/>
            <a:ext cx="502612" cy="421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 defTabSz="1087437">
              <a:lnSpc>
                <a:spcPts val="1400"/>
              </a:lnSpc>
              <a:defRPr sz="1000" b="1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Nuevo MEI</a:t>
            </a:r>
          </a:p>
        </p:txBody>
      </p:sp>
      <p:sp>
        <p:nvSpPr>
          <p:cNvPr id="510" name="Line"/>
          <p:cNvSpPr/>
          <p:nvPr/>
        </p:nvSpPr>
        <p:spPr>
          <a:xfrm>
            <a:off x="11322797" y="5689071"/>
            <a:ext cx="241382" cy="1"/>
          </a:xfrm>
          <a:prstGeom prst="line">
            <a:avLst/>
          </a:prstGeom>
          <a:ln w="25400">
            <a:solidFill>
              <a:schemeClr val="accent2"/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1" name="TextBox 64"/>
          <p:cNvSpPr txBox="1"/>
          <p:nvPr/>
        </p:nvSpPr>
        <p:spPr>
          <a:xfrm>
            <a:off x="4025478" y="5478321"/>
            <a:ext cx="508001" cy="4191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pPr algn="ctr" defTabSz="1087437">
              <a:lnSpc>
                <a:spcPts val="1400"/>
              </a:lnSpc>
              <a:defRPr sz="1000" b="1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2010</a:t>
            </a:r>
          </a:p>
          <a:p>
            <a:pPr algn="ctr" defTabSz="1087437">
              <a:lnSpc>
                <a:spcPts val="1400"/>
              </a:lnSpc>
              <a:defRPr sz="1000" b="1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MEI</a:t>
            </a:r>
          </a:p>
        </p:txBody>
      </p:sp>
      <p:cxnSp>
        <p:nvCxnSpPr>
          <p:cNvPr id="512" name="Connection Line"/>
          <p:cNvCxnSpPr>
            <a:stCxn id="511" idx="0"/>
            <a:endCxn id="499" idx="0"/>
          </p:cNvCxnSpPr>
          <p:nvPr/>
        </p:nvCxnSpPr>
        <p:spPr>
          <a:xfrm flipH="1" flipV="1">
            <a:off x="2857500" y="4864100"/>
            <a:ext cx="1422400" cy="825500"/>
          </a:xfrm>
          <a:prstGeom prst="bentConnector2">
            <a:avLst/>
          </a:prstGeom>
          <a:ln w="12700">
            <a:solidFill>
              <a:schemeClr val="accent2"/>
            </a:solidFill>
            <a:miter/>
          </a:ln>
        </p:spPr>
      </p:cxnSp>
      <p:cxnSp>
        <p:nvCxnSpPr>
          <p:cNvPr id="513" name="Connection Line"/>
          <p:cNvCxnSpPr>
            <a:stCxn id="511" idx="0"/>
            <a:endCxn id="454" idx="0"/>
          </p:cNvCxnSpPr>
          <p:nvPr/>
        </p:nvCxnSpPr>
        <p:spPr>
          <a:xfrm flipV="1">
            <a:off x="4279900" y="4140200"/>
            <a:ext cx="1473200" cy="1549400"/>
          </a:xfrm>
          <a:prstGeom prst="bentConnector2">
            <a:avLst/>
          </a:prstGeom>
          <a:ln w="12700">
            <a:solidFill>
              <a:schemeClr val="accent2"/>
            </a:solidFill>
            <a:miter/>
          </a:ln>
        </p:spPr>
      </p:cxnSp>
      <p:sp>
        <p:nvSpPr>
          <p:cNvPr id="514" name="Line"/>
          <p:cNvSpPr/>
          <p:nvPr/>
        </p:nvSpPr>
        <p:spPr>
          <a:xfrm>
            <a:off x="721514" y="5682721"/>
            <a:ext cx="2075655" cy="1"/>
          </a:xfrm>
          <a:prstGeom prst="line">
            <a:avLst/>
          </a:prstGeom>
          <a:ln w="12700">
            <a:solidFill>
              <a:schemeClr val="accent2"/>
            </a:solidFill>
            <a:custDash>
              <a:ds d="600000" sp="600000"/>
            </a:custDash>
            <a:miter lim="400000"/>
          </a:ln>
        </p:spPr>
        <p:txBody>
          <a:bodyPr lIns="45719" rIns="45719"/>
          <a:lstStyle/>
          <a:p>
            <a:endParaRPr/>
          </a:p>
        </p:txBody>
      </p:sp>
      <p:cxnSp>
        <p:nvCxnSpPr>
          <p:cNvPr id="515" name="Connection Line"/>
          <p:cNvCxnSpPr>
            <a:stCxn id="488" idx="0"/>
            <a:endCxn id="490" idx="0"/>
          </p:cNvCxnSpPr>
          <p:nvPr/>
        </p:nvCxnSpPr>
        <p:spPr>
          <a:xfrm>
            <a:off x="2017568" y="2994441"/>
            <a:ext cx="1249088" cy="1"/>
          </a:xfrm>
          <a:prstGeom prst="straightConnector1">
            <a:avLst/>
          </a:prstGeom>
          <a:ln w="38100">
            <a:solidFill>
              <a:schemeClr val="accent2"/>
            </a:solidFill>
            <a:miter/>
            <a:tailEnd type="arrow"/>
          </a:ln>
        </p:spPr>
      </p:cxnSp>
      <p:cxnSp>
        <p:nvCxnSpPr>
          <p:cNvPr id="516" name="Connection Line"/>
          <p:cNvCxnSpPr>
            <a:stCxn id="490" idx="0"/>
            <a:endCxn id="491" idx="0"/>
          </p:cNvCxnSpPr>
          <p:nvPr/>
        </p:nvCxnSpPr>
        <p:spPr>
          <a:xfrm>
            <a:off x="3266655" y="2994441"/>
            <a:ext cx="2490786" cy="1"/>
          </a:xfrm>
          <a:prstGeom prst="straightConnector1">
            <a:avLst/>
          </a:prstGeom>
          <a:ln w="38100">
            <a:solidFill>
              <a:schemeClr val="accent2"/>
            </a:solidFill>
            <a:miter/>
            <a:tailEnd type="arrow"/>
          </a:ln>
        </p:spPr>
      </p:cxnSp>
      <p:cxnSp>
        <p:nvCxnSpPr>
          <p:cNvPr id="517" name="Connection Line"/>
          <p:cNvCxnSpPr>
            <a:stCxn id="491" idx="0"/>
            <a:endCxn id="492" idx="0"/>
          </p:cNvCxnSpPr>
          <p:nvPr/>
        </p:nvCxnSpPr>
        <p:spPr>
          <a:xfrm>
            <a:off x="5757440" y="2994441"/>
            <a:ext cx="2905917" cy="1"/>
          </a:xfrm>
          <a:prstGeom prst="straightConnector1">
            <a:avLst/>
          </a:prstGeom>
          <a:ln w="38100">
            <a:solidFill>
              <a:schemeClr val="accent2"/>
            </a:solidFill>
            <a:miter/>
            <a:tailEnd type="arrow"/>
          </a:ln>
        </p:spPr>
      </p:cxnSp>
      <p:cxnSp>
        <p:nvCxnSpPr>
          <p:cNvPr id="518" name="Connection Line"/>
          <p:cNvCxnSpPr>
            <a:stCxn id="492" idx="0"/>
            <a:endCxn id="497" idx="0"/>
          </p:cNvCxnSpPr>
          <p:nvPr/>
        </p:nvCxnSpPr>
        <p:spPr>
          <a:xfrm>
            <a:off x="8663356" y="2994441"/>
            <a:ext cx="2905545" cy="88901"/>
          </a:xfrm>
          <a:prstGeom prst="straightConnector1">
            <a:avLst/>
          </a:prstGeom>
          <a:ln w="38100" cap="rnd">
            <a:solidFill>
              <a:schemeClr val="accent2"/>
            </a:solidFill>
            <a:custDash>
              <a:ds d="100000" sp="200000"/>
            </a:custDash>
            <a:tailEnd type="arrow"/>
          </a:ln>
        </p:spPr>
      </p:cxn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>
            <a:lvl1pPr defTabSz="704087">
              <a:defRPr sz="4158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  <a:lvl2pPr algn="ctr" defTabSz="704087">
              <a:defRPr sz="4158">
                <a:solidFill>
                  <a:srgbClr val="FFFFFF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2pPr>
          </a:lstStyle>
          <a:p>
            <a:r>
              <a:t>Análisis del Informe de Autoevaluación 2020</a:t>
            </a:r>
          </a:p>
          <a:p>
            <a:pPr lvl="1"/>
            <a:r>
              <a:t>y estado actual bajo los nuevos criterios y estándares CNA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1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Modelo Educativo y Diseño Curricular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Image" descr="Image"/>
          <p:cNvPicPr>
            <a:picLocks noChangeAspect="1"/>
          </p:cNvPicPr>
          <p:nvPr/>
        </p:nvPicPr>
        <p:blipFill>
          <a:blip r:embed="rId2"/>
          <a:srcRect t="32030" b="9626"/>
          <a:stretch>
            <a:fillRect/>
          </a:stretch>
        </p:blipFill>
        <p:spPr>
          <a:xfrm>
            <a:off x="2286000" y="133320"/>
            <a:ext cx="7620000" cy="5753327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525" name="Rectangle"/>
          <p:cNvSpPr/>
          <p:nvPr/>
        </p:nvSpPr>
        <p:spPr>
          <a:xfrm>
            <a:off x="5218380" y="1725641"/>
            <a:ext cx="2003572" cy="528256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26" name="Rectangle"/>
          <p:cNvSpPr/>
          <p:nvPr/>
        </p:nvSpPr>
        <p:spPr>
          <a:xfrm>
            <a:off x="7275499" y="1725641"/>
            <a:ext cx="2003572" cy="1528773"/>
          </a:xfrm>
          <a:prstGeom prst="rect">
            <a:avLst/>
          </a:prstGeom>
          <a:solidFill>
            <a:srgbClr val="ED220D">
              <a:alpha val="39640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27" name="Rectangle"/>
          <p:cNvSpPr/>
          <p:nvPr/>
        </p:nvSpPr>
        <p:spPr>
          <a:xfrm>
            <a:off x="5218380" y="2300946"/>
            <a:ext cx="2003572" cy="848468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28" name="Rectangle"/>
          <p:cNvSpPr/>
          <p:nvPr/>
        </p:nvSpPr>
        <p:spPr>
          <a:xfrm>
            <a:off x="3176677" y="3311546"/>
            <a:ext cx="1982284" cy="848467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Estado al 2020…"/>
          <p:cNvSpPr txBox="1"/>
          <p:nvPr/>
        </p:nvSpPr>
        <p:spPr>
          <a:xfrm>
            <a:off x="238535" y="142939"/>
            <a:ext cx="5584634" cy="4116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solidFill>
                  <a:schemeClr val="accent2">
                    <a:satOff val="-18194"/>
                    <a:lumOff val="-1121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87,5%</a:t>
            </a:r>
            <a:r>
              <a:t> de las carreras tenía planes de estudio con innovaciones curriculares bajo las orientaciones del MEI, o estaba en proceso de innovación con flexibilidad como criterio.</a:t>
            </a:r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solidFill>
                  <a:schemeClr val="accent2">
                    <a:satOff val="-18194"/>
                    <a:lumOff val="-1121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 programas de Pregrado articulados</a:t>
            </a:r>
            <a:r>
              <a:t> con programas de Postgrado.</a:t>
            </a:r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Debilidad reconocida (observación del proceso 2014 que el IAE 2020 debe responder) El informe cita y responde directamente la siguiente observación del proceso anterior: "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la implementación del modelo educativo institucional muestra niveles insuficientes de logro en flexibilidad y articulación entre pre y postgrado en algunas facultades</a:t>
            </a:r>
            <a:r>
              <a:t>". La respuesta institucional incluyó dos resoluciones: Resolución N°7441 de 2017 (Lineamientos Institucionales de Flexibilidad y Articulación Curricular) y Resolución N°5929 (Lineamientos para la Articulación Curricular entre Pregrado y Postgrado).</a:t>
            </a:r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El informe ancla explícitamente el MEI en el Sistema de Aseguramiento de la Calidad institucional (junto con el PEI y las normativas CNA) y declara que "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desde el Modelo Educativo, la Vinculación con el Medio y la Docencia e Investigación son parte de la Formación Profesional del Estudiantado</a:t>
            </a:r>
            <a:r>
              <a:t>".</a:t>
            </a:r>
          </a:p>
        </p:txBody>
      </p:sp>
      <p:sp>
        <p:nvSpPr>
          <p:cNvPr id="531" name="Acciones Prioritarias para acreditación 2027…"/>
          <p:cNvSpPr txBox="1"/>
          <p:nvPr/>
        </p:nvSpPr>
        <p:spPr>
          <a:xfrm>
            <a:off x="6409648" y="142939"/>
            <a:ext cx="5584633" cy="4978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Modelo Educativo Institucional aún se encuentra en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 estado de Borrador. </a:t>
            </a:r>
            <a:r>
              <a:t>El documento aborda la Calidad de vida y convivencia universitaria, Formación ciudadana, Inclusión, diversidad e igualdad de género, Territorio y vinculación con el medio, Investigación, innovación y creación.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En el borrador de MEI 2026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se debe revisar lo relacionado con la formación Virtual y/o conceptos afines</a:t>
            </a:r>
            <a:r>
              <a:t>. Las leyes 20129 y 21091 sólo hablan de modalidades: presencial, semi-presencial y a distancia. No dan lineamientos. CNA esta en proceso de definición. Existe oferta de carreras y programas No presenciales declarados en SIES.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Ejecución y monitoreo de los proyectos de articulación Post y Pregrado (proyecto USA23992)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 algn="just">
              <a:defRPr sz="14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de acciones y/o proyectos relacionados con el perfil de ingreso.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debe revisar oferta directa de pregrado (ejemplo: prosecuciones de estudios) si se encuentran alineadas con el MEI 2014.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Aún quedan 5 carreras No alineadas con MEI 2014 de oferta centralizada.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Programas articulados al 2026 entre Pre y Postgrado a revisar con VIPO y VRA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El MEI 2026 debe ser sociabilizado con las Vicerrectorías, Facultades y Departamentos, Jefes/as de Carrera (Obligatorio) y Comités, Pedagogías (Obligatorio) y Comités, Directores/as de Programas (Obligatorio) y Comités.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2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Procesos y Resultados de Enseñanza y Aprendizaje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Image" descr="Image"/>
          <p:cNvPicPr>
            <a:picLocks noChangeAspect="1"/>
          </p:cNvPicPr>
          <p:nvPr/>
        </p:nvPicPr>
        <p:blipFill>
          <a:blip r:embed="rId2"/>
          <a:srcRect t="14081" b="25583"/>
          <a:stretch>
            <a:fillRect/>
          </a:stretch>
        </p:blipFill>
        <p:spPr>
          <a:xfrm>
            <a:off x="2286000" y="127000"/>
            <a:ext cx="7620001" cy="5949792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536" name="Rectangle"/>
          <p:cNvSpPr/>
          <p:nvPr/>
        </p:nvSpPr>
        <p:spPr>
          <a:xfrm>
            <a:off x="3164028" y="2652002"/>
            <a:ext cx="1983871" cy="1372520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37" name="Rectangle"/>
          <p:cNvSpPr/>
          <p:nvPr/>
        </p:nvSpPr>
        <p:spPr>
          <a:xfrm>
            <a:off x="7283025" y="1592840"/>
            <a:ext cx="1983159" cy="1178360"/>
          </a:xfrm>
          <a:prstGeom prst="rect">
            <a:avLst/>
          </a:prstGeom>
          <a:solidFill>
            <a:srgbClr val="ED220D">
              <a:alpha val="39640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38" name="Rectangle"/>
          <p:cNvSpPr/>
          <p:nvPr/>
        </p:nvSpPr>
        <p:spPr>
          <a:xfrm>
            <a:off x="5226775" y="2497696"/>
            <a:ext cx="1995860" cy="866338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39" name="Rectangle"/>
          <p:cNvSpPr/>
          <p:nvPr/>
        </p:nvSpPr>
        <p:spPr>
          <a:xfrm>
            <a:off x="5226775" y="3389713"/>
            <a:ext cx="1995860" cy="866337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40" name="Rectangle"/>
          <p:cNvSpPr/>
          <p:nvPr/>
        </p:nvSpPr>
        <p:spPr>
          <a:xfrm>
            <a:off x="5226775" y="1592840"/>
            <a:ext cx="1995860" cy="866338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41" name="Rectangle"/>
          <p:cNvSpPr/>
          <p:nvPr/>
        </p:nvSpPr>
        <p:spPr>
          <a:xfrm>
            <a:off x="7283025" y="2800534"/>
            <a:ext cx="1983159" cy="866754"/>
          </a:xfrm>
          <a:prstGeom prst="rect">
            <a:avLst/>
          </a:prstGeom>
          <a:solidFill>
            <a:srgbClr val="ED220D">
              <a:alpha val="39640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42" name="Rectangle"/>
          <p:cNvSpPr/>
          <p:nvPr/>
        </p:nvSpPr>
        <p:spPr>
          <a:xfrm>
            <a:off x="7283025" y="3692967"/>
            <a:ext cx="1983159" cy="1116677"/>
          </a:xfrm>
          <a:prstGeom prst="rect">
            <a:avLst/>
          </a:prstGeom>
          <a:solidFill>
            <a:srgbClr val="ED220D">
              <a:alpha val="39640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4" name="Postgrado"/>
          <p:cNvGraphicFramePr/>
          <p:nvPr/>
        </p:nvGraphicFramePr>
        <p:xfrm>
          <a:off x="6478017" y="503440"/>
          <a:ext cx="5488021" cy="2485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45" name="2D Column Chart"/>
          <p:cNvGraphicFramePr/>
          <p:nvPr/>
        </p:nvGraphicFramePr>
        <p:xfrm>
          <a:off x="6478017" y="3499285"/>
          <a:ext cx="5488021" cy="203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46" name="Pregrado"/>
          <p:cNvGraphicFramePr/>
          <p:nvPr/>
        </p:nvGraphicFramePr>
        <p:xfrm>
          <a:off x="266003" y="503440"/>
          <a:ext cx="5488022" cy="2485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47" name="2D Column Chart"/>
          <p:cNvGraphicFramePr/>
          <p:nvPr/>
        </p:nvGraphicFramePr>
        <p:xfrm>
          <a:off x="266004" y="3499285"/>
          <a:ext cx="5488021" cy="203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48" name="Line"/>
          <p:cNvSpPr/>
          <p:nvPr/>
        </p:nvSpPr>
        <p:spPr>
          <a:xfrm flipV="1">
            <a:off x="6108700" y="218439"/>
            <a:ext cx="1" cy="5541120"/>
          </a:xfrm>
          <a:prstGeom prst="line">
            <a:avLst/>
          </a:prstGeom>
          <a:ln w="254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9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1" name="Pregrado (regular)"/>
          <p:cNvGraphicFramePr/>
          <p:nvPr/>
        </p:nvGraphicFramePr>
        <p:xfrm>
          <a:off x="337642" y="263203"/>
          <a:ext cx="5631997" cy="1747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52" name="2D Line Chart"/>
          <p:cNvGraphicFramePr/>
          <p:nvPr/>
        </p:nvGraphicFramePr>
        <p:xfrm>
          <a:off x="337642" y="2266059"/>
          <a:ext cx="5665393" cy="1498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53" name="2D Line Chart"/>
          <p:cNvGraphicFramePr/>
          <p:nvPr/>
        </p:nvGraphicFramePr>
        <p:xfrm>
          <a:off x="109042" y="4145727"/>
          <a:ext cx="5913043" cy="1734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54" name="Postgrado"/>
          <p:cNvGraphicFramePr/>
          <p:nvPr/>
        </p:nvGraphicFramePr>
        <p:xfrm>
          <a:off x="6396853" y="263203"/>
          <a:ext cx="5725298" cy="1747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55" name="2D Line Chart"/>
          <p:cNvGraphicFramePr/>
          <p:nvPr/>
        </p:nvGraphicFramePr>
        <p:xfrm>
          <a:off x="6396853" y="2266059"/>
          <a:ext cx="5795148" cy="1498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56" name="2D Line Chart"/>
          <p:cNvGraphicFramePr/>
          <p:nvPr/>
        </p:nvGraphicFramePr>
        <p:xfrm>
          <a:off x="6396853" y="3878027"/>
          <a:ext cx="5877698" cy="2001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57" name="Line"/>
          <p:cNvSpPr/>
          <p:nvPr/>
        </p:nvSpPr>
        <p:spPr>
          <a:xfrm flipV="1">
            <a:off x="6108700" y="218439"/>
            <a:ext cx="1" cy="5541120"/>
          </a:xfrm>
          <a:prstGeom prst="line">
            <a:avLst/>
          </a:prstGeom>
          <a:ln w="254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8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Rectangle"/>
          <p:cNvSpPr/>
          <p:nvPr/>
        </p:nvSpPr>
        <p:spPr>
          <a:xfrm>
            <a:off x="1770076" y="1020893"/>
            <a:ext cx="3188313" cy="4974275"/>
          </a:xfrm>
          <a:prstGeom prst="rect">
            <a:avLst/>
          </a:prstGeom>
          <a:solidFill>
            <a:srgbClr val="ED220D">
              <a:alpha val="3964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aphicFrame>
        <p:nvGraphicFramePr>
          <p:cNvPr id="561" name="2D Column Chart"/>
          <p:cNvGraphicFramePr/>
          <p:nvPr/>
        </p:nvGraphicFramePr>
        <p:xfrm>
          <a:off x="146805" y="660772"/>
          <a:ext cx="11860233" cy="5244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62" name="Pregrado (carreras regulares profesionales con licenciatura)"/>
          <p:cNvSpPr txBox="1"/>
          <p:nvPr/>
        </p:nvSpPr>
        <p:spPr>
          <a:xfrm>
            <a:off x="1757376" y="262607"/>
            <a:ext cx="6779373" cy="550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303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Pregrado </a:t>
            </a:r>
            <a:r>
              <a:rPr sz="2029"/>
              <a:t>(carreras regulares profesionales con licenciatura)</a:t>
            </a:r>
          </a:p>
        </p:txBody>
      </p:sp>
      <p:sp>
        <p:nvSpPr>
          <p:cNvPr id="563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5" name="Table 1"/>
          <p:cNvGraphicFramePr/>
          <p:nvPr/>
        </p:nvGraphicFramePr>
        <p:xfrm>
          <a:off x="976491" y="319537"/>
          <a:ext cx="11406390" cy="5405101"/>
        </p:xfrm>
        <a:graphic>
          <a:graphicData uri="http://schemas.openxmlformats.org/drawingml/2006/table">
            <a:tbl>
              <a:tblPr firstRow="1" firstCol="1" bandRow="1">
                <a:tableStyleId>{EEE7283C-3CF3-47DC-8721-378D4A62B228}</a:tableStyleId>
              </a:tblPr>
              <a:tblGrid>
                <a:gridCol w="138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69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6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89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FACULTAD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CARRERAS
(2026)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Nº Estudiantes
(2026)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&lt;PAES&gt;
2026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Retención
1er año
(2024)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Titulación
Oportuna *
(2023)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&lt;Permanencia&gt;
(2023)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Ocupación Vacantes Regulares
(2024)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FAE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3 Diurnas Regulares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3 Vespertinas Regulares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3 Vespertinas Especiales</a:t>
                      </a:r>
                      <a:br/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A Distancia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 898 Mat. Nueva
3719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909 Max 767 Ave
685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87,3%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63,3%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12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141,2 %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FARAC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 Diurna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100 Mat. Nueva
543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881 Max 772  Ave
727 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79,1%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50,8%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13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102,4 %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FCIENCIA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 Diurnas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328 Mat. Nueva
1268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927 Max 727 Ave
538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77,3%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16,2%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95,8 %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FACIMED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 Diurnas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395 Mat. Nueva
2185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961 Max 759 Ave
479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87,9%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48,9%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13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89,9 %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DERECHO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 Diurna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210 Mat. Nueva
1089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865 Max 807 Ave
775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79,8%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———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13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97,1 %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6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FAHU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10 Diurnas Regulares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1 Vespertinas Regular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1 Vespertinas Especial</a:t>
                      </a:r>
                      <a:br/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A Distancia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672 Mat. Nueva
2719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942 Max 767 Ave
598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83,8%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46,3%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11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100 %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86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FING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23 Diurnas Regulares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3 Vespertinas Regulares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12 Vespertinas Especiales</a:t>
                      </a:r>
                      <a:br/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A Distancia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2169 Mat. Nueva
8197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895 Max 765 Ave
594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69,6%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9,5%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96,5 %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FQyB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5 Diurnas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230 Mat. Nueva
1009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906 Max 806 Ave
557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84,2%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33,8%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12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80,4 %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FACTEC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12 Diurnas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1 Vespertinas</a:t>
                      </a:r>
                      <a:br/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 525 Mat. Nueva
1893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900 Max 689 Ave
458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76,0%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40,1%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81,9 %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BACHILLERATO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 Diurna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 196 Mat. Nueva
348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928 Max 809 Ave
768 Min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78,5%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———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 Sem  
Regular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———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66" name="Pregrado Usach"/>
          <p:cNvSpPr txBox="1"/>
          <p:nvPr/>
        </p:nvSpPr>
        <p:spPr>
          <a:xfrm rot="16200000">
            <a:off x="-745593" y="2740160"/>
            <a:ext cx="2518824" cy="550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303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Pregrado Usach</a:t>
            </a:r>
          </a:p>
        </p:txBody>
      </p:sp>
      <p:sp>
        <p:nvSpPr>
          <p:cNvPr id="567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  <p:sp>
        <p:nvSpPr>
          <p:cNvPr id="568" name="*Sin filtro por Cohorte"/>
          <p:cNvSpPr txBox="1"/>
          <p:nvPr/>
        </p:nvSpPr>
        <p:spPr>
          <a:xfrm>
            <a:off x="7687210" y="91712"/>
            <a:ext cx="1266996" cy="240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*Sin filtro por Cohorte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0" name="Table 1"/>
          <p:cNvGraphicFramePr/>
          <p:nvPr/>
        </p:nvGraphicFramePr>
        <p:xfrm>
          <a:off x="969794" y="1593668"/>
          <a:ext cx="11406390" cy="5405102"/>
        </p:xfrm>
        <a:graphic>
          <a:graphicData uri="http://schemas.openxmlformats.org/drawingml/2006/table">
            <a:tbl>
              <a:tblPr firstRow="1" firstCol="1" bandRow="1">
                <a:tableStyleId>{EEE7283C-3CF3-47DC-8721-378D4A62B228}</a:tableStyleId>
              </a:tblPr>
              <a:tblGrid>
                <a:gridCol w="138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FACULTAD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CARRERA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ACREDITACIÓN
(2026)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FCIENCIA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Pedagogía en Física y Matemática
Pedagogía en Matemática y Computación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
4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FACIMED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Pedagogía en Educación Física
Medicina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
5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1024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FAHU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Pedagogía en Educación General Básica
Pedagogía en Historia y Ciencias Sociales
Pedagogía en Filosofía
Pedagogía en Castellano
Pedagogía en Inglés
Programa Especial de Regularización de Título de Profesor de Estado para la Educación Técnico Profesional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
6
5
6
4
—
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FQyB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Pedagogía en Química y Biología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71" name="Años de acreditación"/>
          <p:cNvGraphicFramePr/>
          <p:nvPr/>
        </p:nvGraphicFramePr>
        <p:xfrm>
          <a:off x="7162721" y="1821670"/>
          <a:ext cx="4989134" cy="2463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72" name="Acreditación Obligatoria"/>
          <p:cNvSpPr txBox="1"/>
          <p:nvPr/>
        </p:nvSpPr>
        <p:spPr>
          <a:xfrm rot="16200000">
            <a:off x="-1385725" y="2971392"/>
            <a:ext cx="3799087" cy="550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303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Acreditación Obligatoria</a:t>
            </a:r>
          </a:p>
        </p:txBody>
      </p:sp>
      <p:sp>
        <p:nvSpPr>
          <p:cNvPr id="573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5" name="Table 1"/>
          <p:cNvGraphicFramePr/>
          <p:nvPr/>
        </p:nvGraphicFramePr>
        <p:xfrm>
          <a:off x="976491" y="319537"/>
          <a:ext cx="11406390" cy="5405101"/>
        </p:xfrm>
        <a:graphic>
          <a:graphicData uri="http://schemas.openxmlformats.org/drawingml/2006/table">
            <a:tbl>
              <a:tblPr firstRow="1" firstCol="1" bandRow="1">
                <a:tableStyleId>{EEE7283C-3CF3-47DC-8721-378D4A62B228}</a:tableStyleId>
              </a:tblPr>
              <a:tblGrid>
                <a:gridCol w="138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9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FACULTAD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Programa
(2026)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Nº Estudiantes
(2025)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Retención
1er año
(2024)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Graduación
+3 años
(2023)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&lt;Permanencia&gt;
(2023)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FAE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1 Diurno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7 Vespertinos</a:t>
                      </a:r>
                    </a:p>
                    <a:p>
                      <a:pPr>
                        <a:def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defRPr>
                      </a:pPr>
                      <a:r>
                        <a:t>3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 184 Mat. Nueva
470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76 %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43,8 %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8,6 Sem  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FARAC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 7 Mat. Nueva
19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———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85,7 %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4,2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FCIENCIA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2 Diurnos
1 Vespertino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21 Mat. Nueva
  47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74 %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60 %
(Académico)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7,3 Sem
(Académico)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FACIMED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 34 Mat. Nueva
67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97 %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———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———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6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FAHU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7 Vespertinos</a:t>
                      </a:r>
                    </a:p>
                    <a:p>
                      <a:pPr>
                        <a:def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defRPr>
                      </a:pPr>
                      <a:r>
                        <a:t>2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113 Mat. Nueva
249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84 %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58,1 %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6,7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IDEA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3 Vespertinos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25 Mat. Nueva
59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88 % (2023)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52 %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6,3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86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FING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9 Diurno</a:t>
                      </a:r>
                    </a:p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2 Vespertinos</a:t>
                      </a:r>
                    </a:p>
                    <a:p>
                      <a:pPr>
                        <a:def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defRPr>
                      </a:pPr>
                      <a:r>
                        <a:t>4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105 Mat. Nueva
300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74 %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62,6 %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11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FQyB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 Diurno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 Mat. Nueva
16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89 %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100 %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7,8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FACTEC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 Mat. Nueva
18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86 %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45,5 %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———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76" name="Magíster Usach"/>
          <p:cNvSpPr txBox="1"/>
          <p:nvPr/>
        </p:nvSpPr>
        <p:spPr>
          <a:xfrm rot="16200000">
            <a:off x="-724044" y="2761709"/>
            <a:ext cx="2475725" cy="550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303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Magíster Usach</a:t>
            </a:r>
          </a:p>
        </p:txBody>
      </p:sp>
      <p:graphicFrame>
        <p:nvGraphicFramePr>
          <p:cNvPr id="577" name="Años de acreditación"/>
          <p:cNvGraphicFramePr/>
          <p:nvPr/>
        </p:nvGraphicFramePr>
        <p:xfrm>
          <a:off x="7162721" y="1840720"/>
          <a:ext cx="4929954" cy="2444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78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Doctorado Usach"/>
          <p:cNvSpPr txBox="1"/>
          <p:nvPr/>
        </p:nvSpPr>
        <p:spPr>
          <a:xfrm rot="16200000">
            <a:off x="-837563" y="2648190"/>
            <a:ext cx="2702763" cy="550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303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Doctorado Usach</a:t>
            </a:r>
          </a:p>
        </p:txBody>
      </p:sp>
      <p:graphicFrame>
        <p:nvGraphicFramePr>
          <p:cNvPr id="581" name="Años de acreditación"/>
          <p:cNvGraphicFramePr/>
          <p:nvPr/>
        </p:nvGraphicFramePr>
        <p:xfrm>
          <a:off x="7162721" y="1840720"/>
          <a:ext cx="4929954" cy="2444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82" name="Table 1-1"/>
          <p:cNvGraphicFramePr/>
          <p:nvPr/>
        </p:nvGraphicFramePr>
        <p:xfrm>
          <a:off x="982841" y="1132966"/>
          <a:ext cx="11406390" cy="5405102"/>
        </p:xfrm>
        <a:graphic>
          <a:graphicData uri="http://schemas.openxmlformats.org/drawingml/2006/table">
            <a:tbl>
              <a:tblPr firstRow="1" firstCol="1" bandRow="1">
                <a:tableStyleId>{EEE7283C-3CF3-47DC-8721-378D4A62B228}</a:tableStyleId>
              </a:tblPr>
              <a:tblGrid>
                <a:gridCol w="138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9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FACULTAD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Programa
(2026)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Nº Estudiantes
(2025)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Retención
1er año
(2024)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Graduación
+3 años
(2023)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&lt;Permanencia&gt;
(2023)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FCIENCIA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2 Diurnos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6 Mat. Nueva
  33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94 %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62,5 %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11,3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6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FAHU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 Diurno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29 Mat. Nueva
95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88 %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80 %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11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IDEA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2 Diurnos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 11 Mat. Nueva
65    Mat. Total
(2021)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100 % (2021)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46,2 %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11,1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6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FING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7 Diurnos</a:t>
                      </a:r>
                    </a:p>
                    <a:p>
                      <a:pPr>
                        <a:def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defRPr>
                      </a:pPr>
                      <a:r>
                        <a:t>1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30 Mat. Nueva
90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87 %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71 %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10,9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FQyB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4 Diurnos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19 Mat. Nueva
114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84 %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30 %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10,6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FACTEC</a:t>
                      </a:r>
                    </a:p>
                  </a:txBody>
                  <a:tcPr marL="0" marR="0" marT="0" marB="0" anchor="ctr" horzOverflow="overflow">
                    <a:solidFill>
                      <a:srgbClr val="01A4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defRPr>
                      </a:pPr>
                      <a:r>
                        <a:t>1 Diurno</a:t>
                      </a:r>
                    </a:p>
                    <a:p>
                      <a:pPr>
                        <a:defRPr sz="10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defRPr>
                      </a:pPr>
                      <a:r>
                        <a:t>1 Semipresencial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3 Mat. Nueva
19    Mat. Total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92 %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100 %
(2022)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>
                          <a:latin typeface="Helvetica Neue Thin"/>
                          <a:ea typeface="Helvetica Neue Thin"/>
                          <a:cs typeface="Helvetica Neue Thin"/>
                          <a:sym typeface="Helvetica Neue Thin"/>
                        </a:rPr>
                        <a:t>10,2 Sem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3" name="*2 Programas con acreditación pendiente"/>
          <p:cNvSpPr txBox="1"/>
          <p:nvPr/>
        </p:nvSpPr>
        <p:spPr>
          <a:xfrm>
            <a:off x="11103276" y="2970845"/>
            <a:ext cx="989399" cy="544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*2 Programas con acreditación pendiente</a:t>
            </a:r>
          </a:p>
        </p:txBody>
      </p:sp>
      <p:sp>
        <p:nvSpPr>
          <p:cNvPr id="584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Estado al 2020…"/>
          <p:cNvSpPr txBox="1"/>
          <p:nvPr/>
        </p:nvSpPr>
        <p:spPr>
          <a:xfrm>
            <a:off x="238535" y="142939"/>
            <a:ext cx="5584634" cy="5072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Tasas de titulación</a:t>
            </a:r>
            <a:r>
              <a:t>: </a:t>
            </a:r>
            <a:r>
              <a:rPr b="1">
                <a:solidFill>
                  <a:schemeClr val="accent2">
                    <a:satOff val="-18194"/>
                    <a:lumOff val="-1121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deterioro progresivo desde 54%</a:t>
            </a:r>
            <a:r>
              <a:t> (cohorte 2004) a 48% (cohorte 2008). La respuesta fue el PAIEP (~MM$900/año, 4.996 estudiantes en 2019) y los Proyectos de Innovación Docente (138 proyectos, MM$400 en el período). Resultados: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carreras de 2–3 años subieron de 54%</a:t>
            </a:r>
            <a:r>
              <a:t> (cohorte 2008)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a 58%</a:t>
            </a:r>
            <a:r>
              <a:t> (cohorte 2012);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carreras de 6–7 años de 47%</a:t>
            </a:r>
            <a:r>
              <a:t> (cohorte 2004)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a 57%</a:t>
            </a:r>
            <a:r>
              <a:t> (cohorte 2008);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carreras de 4–5 años estables en ~60%.</a:t>
            </a:r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Acreditación de programas</a:t>
            </a:r>
            <a:r>
              <a:t>: </a:t>
            </a:r>
            <a:r>
              <a:rPr b="1">
                <a:solidFill>
                  <a:schemeClr val="accent2">
                    <a:satOff val="-18194"/>
                    <a:lumOff val="-1121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Insuficientes programas de magíster acreditados</a:t>
            </a:r>
            <a:r>
              <a:t> —especialmente profesionales— y de doctorados. Acciones: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creación de la VIPO</a:t>
            </a:r>
            <a:r>
              <a:t> (2018),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creación de la CEPP</a:t>
            </a:r>
            <a:r>
              <a:t> (Comisión de Evaluación de Programas de Postgrado), y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cierre de 16 programas</a:t>
            </a:r>
            <a:r>
              <a:t> que no cumplían estándares (2018–2019).</a:t>
            </a:r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Tasas de graduación oportuna</a:t>
            </a:r>
            <a:r>
              <a:t>: </a:t>
            </a:r>
            <a:r>
              <a:rPr b="1">
                <a:solidFill>
                  <a:schemeClr val="accent2">
                    <a:satOff val="-18194"/>
                    <a:lumOff val="-11215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Bajas tasas y tendencias negativas</a:t>
            </a:r>
            <a:r>
              <a:t>. Acciones: tutorías tempranas, Plan Operativo VIPO con seguimiento, MM$50 para innovación curricular. Resultados: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doctorados de 19%</a:t>
            </a:r>
            <a:r>
              <a:t> (cohorte 2008)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a 31%</a:t>
            </a:r>
            <a:r>
              <a:t> (cohorte 2014), tiempo real de graduación de 12 a 9 años; magíster de 19% (cohorte 2008) a 44% (cohorte 2016), tiempo real de 6,3 a 4,3 años.</a:t>
            </a:r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40368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Internacionalización</a:t>
            </a:r>
            <a:r>
              <a:t>: Creación del Área de Internacionalización en VIPO, Beca de Excelencia para Extranjeros. Resultados: 688 actividades con académicos de 40+ países (2014–2019); 74 estudiantes entrantes; 373 salientes; 91 convenios internacionales vigentes al cierre de 2019; 30% de matrícula doctoral extranjera a fines de 2019.</a:t>
            </a:r>
          </a:p>
        </p:txBody>
      </p:sp>
      <p:sp>
        <p:nvSpPr>
          <p:cNvPr id="587" name="Acciones Prioritarias para acreditación 2027…"/>
          <p:cNvSpPr txBox="1"/>
          <p:nvPr/>
        </p:nvSpPr>
        <p:spPr>
          <a:xfrm>
            <a:off x="6409648" y="142939"/>
            <a:ext cx="5584633" cy="421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Retención al primer año,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USACH 79%, </a:t>
            </a:r>
            <a:r>
              <a:t>el menor del sistema año 2025.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propone la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Implementación de prueba diagnóstica por nivel</a:t>
            </a:r>
            <a:r>
              <a:t> y registro de notas parciales,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sistema SACI</a:t>
            </a:r>
            <a:r>
              <a:t> (proyecto USA26991)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debe abordar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estructuralmente la retención y titulación.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debe propiciar la implementación de los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semestres intensivos de invierno y verano</a:t>
            </a:r>
            <a:r>
              <a:t>.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 algn="just">
              <a:defRPr sz="14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Programa de Acceso Inclusivo, Equidad y Permanencia PAIEP, levantar información sobre alcance.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Levantar iniciativas de Facultades, en especial Ingeniería por el volumen del estudiantado.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Uso de diagnósticos institucionales (en que se han ocupado?)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Pedagogías: Diagnóstico Inicial USACH y Evaluación Nacional Diagnóstica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Medicina: EUNACOM (levantar datos con FACIMED)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Revisar normativa de titulación de ingeniería para ver resultados y alcances.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Revisar los resultados de la articulación entre pre y postgrado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3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Cuerpo Académico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Image" descr="Image"/>
          <p:cNvPicPr>
            <a:picLocks noChangeAspect="1"/>
          </p:cNvPicPr>
          <p:nvPr/>
        </p:nvPicPr>
        <p:blipFill>
          <a:blip r:embed="rId2"/>
          <a:srcRect t="12852" b="46632"/>
          <a:stretch>
            <a:fillRect/>
          </a:stretch>
        </p:blipFill>
        <p:spPr>
          <a:xfrm>
            <a:off x="2285999" y="953386"/>
            <a:ext cx="7620001" cy="3995190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592" name="Rectangle"/>
          <p:cNvSpPr/>
          <p:nvPr/>
        </p:nvSpPr>
        <p:spPr>
          <a:xfrm>
            <a:off x="7261098" y="2232847"/>
            <a:ext cx="2008981" cy="1700867"/>
          </a:xfrm>
          <a:prstGeom prst="rect">
            <a:avLst/>
          </a:prstGeom>
          <a:solidFill>
            <a:srgbClr val="ED220D">
              <a:alpha val="39640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93" name="Rectangle"/>
          <p:cNvSpPr/>
          <p:nvPr/>
        </p:nvSpPr>
        <p:spPr>
          <a:xfrm>
            <a:off x="5204475" y="2232847"/>
            <a:ext cx="2008980" cy="1178607"/>
          </a:xfrm>
          <a:prstGeom prst="rect">
            <a:avLst/>
          </a:prstGeom>
          <a:solidFill>
            <a:srgbClr val="ED220D">
              <a:alpha val="39640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5" name="2D Stacked Column Chart"/>
          <p:cNvGraphicFramePr/>
          <p:nvPr/>
        </p:nvGraphicFramePr>
        <p:xfrm>
          <a:off x="324080" y="177916"/>
          <a:ext cx="11867245" cy="3073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96" name="2D Column Chart"/>
          <p:cNvGraphicFramePr/>
          <p:nvPr/>
        </p:nvGraphicFramePr>
        <p:xfrm>
          <a:off x="324080" y="3475519"/>
          <a:ext cx="5818654" cy="2656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97" name="2D Column Chart"/>
          <p:cNvGraphicFramePr/>
          <p:nvPr/>
        </p:nvGraphicFramePr>
        <p:xfrm>
          <a:off x="6577400" y="3475519"/>
          <a:ext cx="5620950" cy="2656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98" name="Cuerpo Académico"/>
          <p:cNvSpPr txBox="1"/>
          <p:nvPr/>
        </p:nvSpPr>
        <p:spPr>
          <a:xfrm>
            <a:off x="983822" y="128690"/>
            <a:ext cx="2177289" cy="426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Cuerpo Académico</a:t>
            </a:r>
          </a:p>
        </p:txBody>
      </p:sp>
      <p:sp>
        <p:nvSpPr>
          <p:cNvPr id="599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1" name="2D Pie Chart"/>
          <p:cNvGraphicFramePr/>
          <p:nvPr/>
        </p:nvGraphicFramePr>
        <p:xfrm>
          <a:off x="751114" y="-275915"/>
          <a:ext cx="6478805" cy="6478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2" name="2D Pie Chart"/>
          <p:cNvGraphicFramePr/>
          <p:nvPr/>
        </p:nvGraphicFramePr>
        <p:xfrm>
          <a:off x="7504317" y="647955"/>
          <a:ext cx="3934035" cy="2244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03" name="Cuerpo Académico (2025)"/>
          <p:cNvSpPr txBox="1"/>
          <p:nvPr/>
        </p:nvSpPr>
        <p:spPr>
          <a:xfrm>
            <a:off x="155093" y="95150"/>
            <a:ext cx="3204567" cy="451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4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Cuerpo Académico (2025)</a:t>
            </a:r>
          </a:p>
        </p:txBody>
      </p:sp>
      <p:graphicFrame>
        <p:nvGraphicFramePr>
          <p:cNvPr id="604" name="2D Pie Chart"/>
          <p:cNvGraphicFramePr/>
          <p:nvPr/>
        </p:nvGraphicFramePr>
        <p:xfrm>
          <a:off x="7422991" y="3231195"/>
          <a:ext cx="4015361" cy="2407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05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Estado al 2020…"/>
          <p:cNvSpPr txBox="1"/>
          <p:nvPr/>
        </p:nvSpPr>
        <p:spPr>
          <a:xfrm>
            <a:off x="238535" y="142939"/>
            <a:ext cx="5584634" cy="5448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Perfeccionamiento Docente</a:t>
            </a:r>
            <a:r>
              <a:t>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Plan de Desarrollo Docente que alcanzó el 54% de cobertura en desarrollo de habilidades pedagógicas.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Diplomado en Docencia Universitaria: desde 2009, formato anual desde 2015; promedia ~120 participantes/año (académicos + profesores hora).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Escuelas de Formación Pedagógica: desde 2015, 24 cursos aprobados modalidad SENCE, en enero y julio.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Diplomado en Investigación Educativa: relanzado en 2019 con 26 participantes.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Workshops en Docencia Universitaria: desde 2016; el 2do semestre se orientan a estudiantes ayudantes.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Acompañamiento pedagógico a unidades académicas: evaluaciones intermedias, ateneos pedagógicos, escuelas de ayudantes, apoyo a PID.</a:t>
            </a:r>
            <a:br/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Evaluación Académica</a:t>
            </a:r>
            <a:r>
              <a:t> (No hay evaluación desde la ultima acreditación).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Resolución N°5949/2009, modificada en 2019 por Resolución N°2196. La categoría "Aceptable" exige cumplir mínimos de productividad. Paso a planta, cambio de jerarquía y año sabático requieren categoría mínima “Bueno".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No existe evaluación a Cuerpo Especial, tampoco para Profesores hora.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Evaluación de la docencia</a:t>
            </a:r>
            <a:r>
              <a:t>.</a:t>
            </a:r>
          </a:p>
          <a:p>
            <a:pPr marL="521368" lvl="1" indent="-140368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Encuesta semestral censal con dos instrumentos: encuesta estudiantil (&gt;80% de cobertura, obligatoria) y autoevaluación docente (10%, voluntaria). Se señala explícitamente que el sistema no tiene efecto punitivo ni incidencia directa en la calificación académica, y reconoce la necesidad de avanzar hacia un nuevo sistema que oriente políticas institucionales de mejora.</a:t>
            </a:r>
          </a:p>
        </p:txBody>
      </p:sp>
      <p:sp>
        <p:nvSpPr>
          <p:cNvPr id="608" name="Acciones Prioritarias para acreditación 2027…"/>
          <p:cNvSpPr txBox="1"/>
          <p:nvPr/>
        </p:nvSpPr>
        <p:spPr>
          <a:xfrm>
            <a:off x="6409648" y="142939"/>
            <a:ext cx="5584633" cy="5929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Evaluación docente de Pre y Postgrado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Cuerpo Regular: Resultados, Acciones (pre y postgrado)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Profesores por Hora: Resultados, Acciones (pregrado)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Evaluación Académica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Sin avance desde 2020 de acuerdo a lo narrado en el último proceso de acreditación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Resoluciones Nº 5949 de 2009 y Nº 2196 de 2019 (Requiere evaluación inmediata y evaluar posterior modificación)</a:t>
            </a:r>
          </a:p>
          <a:p>
            <a:pPr marL="501315" lvl="1" indent="-120315">
              <a:buSzPct val="100000"/>
              <a:buChar char="-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Pre-calificación Departamental (% de cumplimiento)</a:t>
            </a:r>
          </a:p>
          <a:p>
            <a:pPr marL="501315" lvl="1" indent="-120315">
              <a:buSzPct val="100000"/>
              <a:buChar char="-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Calificación Bienal en Facultades (% de cumplimiento)</a:t>
            </a:r>
          </a:p>
          <a:p>
            <a:pPr marL="501315" lvl="1" indent="-120315">
              <a:buSzPct val="100000"/>
              <a:buChar char="-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Comisión Superior de Evaluación (Actas de reuniones)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Nuevo Cuerpo Académico Docente (DFL29)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Creación del nuevo cuerpo académico enfocado en la docencia universitaria en los primeros años de carrera</a:t>
            </a:r>
          </a:p>
          <a:p>
            <a:pPr marL="501315" lvl="1" indent="-120315">
              <a:buSzPct val="100000"/>
              <a:buChar char="-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Reglamentación y Evaluación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Actualización del Decreto 26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revisar y/o actualizar el D26 que abarca al Cuerpo Académico Regular, junto a sus procesos de evaluación y jerarquización.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 algn="just">
              <a:defRPr sz="14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ajustes académicos razonables. Departamento de Inclusión VICAVIGED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de las actividades de capacitación realizadas por INNED y otras unidades.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4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Investigación, innovación docente y mejora del proceso formativo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roup"/>
          <p:cNvGrpSpPr/>
          <p:nvPr/>
        </p:nvGrpSpPr>
        <p:grpSpPr>
          <a:xfrm>
            <a:off x="2285999" y="996757"/>
            <a:ext cx="7620001" cy="3887781"/>
            <a:chOff x="0" y="0"/>
            <a:chExt cx="7620000" cy="3887780"/>
          </a:xfrm>
        </p:grpSpPr>
        <p:pic>
          <p:nvPicPr>
            <p:cNvPr id="612" name="Image" descr="Image"/>
            <p:cNvPicPr>
              <a:picLocks noChangeAspect="1"/>
            </p:cNvPicPr>
            <p:nvPr/>
          </p:nvPicPr>
          <p:blipFill>
            <a:blip r:embed="rId2"/>
            <a:srcRect t="51479" b="9095"/>
            <a:stretch>
              <a:fillRect/>
            </a:stretch>
          </p:blipFill>
          <p:spPr>
            <a:xfrm>
              <a:off x="0" y="0"/>
              <a:ext cx="7620000" cy="3887781"/>
            </a:xfrm>
            <a:prstGeom prst="rect">
              <a:avLst/>
            </a:prstGeom>
            <a:ln w="9525" cap="flat">
              <a:solidFill>
                <a:schemeClr val="accent3">
                  <a:lumOff val="-12941"/>
                </a:schemeClr>
              </a:solidFill>
              <a:prstDash val="solid"/>
              <a:miter lim="400000"/>
            </a:ln>
            <a:effectLst/>
          </p:spPr>
        </p:pic>
        <p:sp>
          <p:nvSpPr>
            <p:cNvPr id="613" name="Rectangle"/>
            <p:cNvSpPr/>
            <p:nvPr/>
          </p:nvSpPr>
          <p:spPr>
            <a:xfrm>
              <a:off x="4976705" y="1318718"/>
              <a:ext cx="2008980" cy="2530442"/>
            </a:xfrm>
            <a:prstGeom prst="rect">
              <a:avLst/>
            </a:prstGeom>
            <a:solidFill>
              <a:srgbClr val="ED220D">
                <a:alpha val="3964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4" name="Rectangle"/>
            <p:cNvSpPr/>
            <p:nvPr/>
          </p:nvSpPr>
          <p:spPr>
            <a:xfrm>
              <a:off x="2920024" y="1318718"/>
              <a:ext cx="2008981" cy="1816089"/>
            </a:xfrm>
            <a:prstGeom prst="rect">
              <a:avLst/>
            </a:prstGeom>
            <a:solidFill>
              <a:srgbClr val="FEAE00">
                <a:alpha val="4022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Image" descr="Image"/>
          <p:cNvPicPr>
            <a:picLocks noChangeAspect="1"/>
          </p:cNvPicPr>
          <p:nvPr/>
        </p:nvPicPr>
        <p:blipFill>
          <a:blip r:embed="rId2"/>
          <a:srcRect t="15428" b="15428"/>
          <a:stretch>
            <a:fillRect/>
          </a:stretch>
        </p:blipFill>
        <p:spPr>
          <a:xfrm>
            <a:off x="1825441" y="89395"/>
            <a:ext cx="8344917" cy="2579185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618" name="2D Column Chart"/>
          <p:cNvGraphicFramePr/>
          <p:nvPr/>
        </p:nvGraphicFramePr>
        <p:xfrm>
          <a:off x="204391" y="3402486"/>
          <a:ext cx="3912876" cy="1963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9" name="2D Column Chart"/>
          <p:cNvGraphicFramePr/>
          <p:nvPr/>
        </p:nvGraphicFramePr>
        <p:xfrm>
          <a:off x="8318929" y="3402486"/>
          <a:ext cx="3979831" cy="1963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20" name="2D Column Chart"/>
          <p:cNvGraphicFramePr/>
          <p:nvPr/>
        </p:nvGraphicFramePr>
        <p:xfrm>
          <a:off x="4611801" y="3402486"/>
          <a:ext cx="3309371" cy="1963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21" name="Diplomado en Docencia Universitaria"/>
          <p:cNvSpPr txBox="1"/>
          <p:nvPr/>
        </p:nvSpPr>
        <p:spPr>
          <a:xfrm>
            <a:off x="458371" y="5434867"/>
            <a:ext cx="3449245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 algn="ctr" defTabSz="457200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Diplomado en Docencia Universitaria</a:t>
            </a:r>
          </a:p>
        </p:txBody>
      </p:sp>
      <p:sp>
        <p:nvSpPr>
          <p:cNvPr id="622" name="Diplomado en Investigación e Innovación en Docencia Universitaria"/>
          <p:cNvSpPr txBox="1"/>
          <p:nvPr/>
        </p:nvSpPr>
        <p:spPr>
          <a:xfrm>
            <a:off x="4358566" y="5434867"/>
            <a:ext cx="3772409" cy="6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 defTabSz="457200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Diplomado en Investigación e Innovación en Docencia Universitaria</a:t>
            </a:r>
          </a:p>
        </p:txBody>
      </p:sp>
      <p:sp>
        <p:nvSpPr>
          <p:cNvPr id="623" name="Escuela en Formación Pedagógica"/>
          <p:cNvSpPr txBox="1"/>
          <p:nvPr/>
        </p:nvSpPr>
        <p:spPr>
          <a:xfrm>
            <a:off x="8556609" y="5434867"/>
            <a:ext cx="3199842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 algn="ctr" defTabSz="457200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Escuela en Formación Pedagógica</a:t>
            </a:r>
          </a:p>
        </p:txBody>
      </p:sp>
      <p:sp>
        <p:nvSpPr>
          <p:cNvPr id="624" name="Fuente de datos: INNED"/>
          <p:cNvSpPr txBox="1"/>
          <p:nvPr/>
        </p:nvSpPr>
        <p:spPr>
          <a:xfrm>
            <a:off x="9938847" y="6324553"/>
            <a:ext cx="2003739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INNED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roup"/>
          <p:cNvGrpSpPr/>
          <p:nvPr/>
        </p:nvGrpSpPr>
        <p:grpSpPr>
          <a:xfrm>
            <a:off x="1193223" y="958360"/>
            <a:ext cx="9329116" cy="4729527"/>
            <a:chOff x="-981734" y="-272999"/>
            <a:chExt cx="9329114" cy="4729526"/>
          </a:xfrm>
        </p:grpSpPr>
        <p:graphicFrame>
          <p:nvGraphicFramePr>
            <p:cNvPr id="626" name="2D Area Chart"/>
            <p:cNvGraphicFramePr/>
            <p:nvPr/>
          </p:nvGraphicFramePr>
          <p:xfrm>
            <a:off x="122250" y="-273000"/>
            <a:ext cx="8138542" cy="440119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627" name="2D Stacked Column Chart"/>
            <p:cNvGraphicFramePr/>
            <p:nvPr/>
          </p:nvGraphicFramePr>
          <p:xfrm>
            <a:off x="-981735" y="-255765"/>
            <a:ext cx="9329115" cy="47122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629" name="Publicaciones en el área de Educación generadas por distintas unidades académicas"/>
          <p:cNvSpPr txBox="1"/>
          <p:nvPr/>
        </p:nvSpPr>
        <p:spPr>
          <a:xfrm>
            <a:off x="1114888" y="287488"/>
            <a:ext cx="9962224" cy="43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 algn="ctr" defTabSz="457200">
              <a:defRPr sz="23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Publicaciones en el área de Educación generadas por distintas unidades académicas</a:t>
            </a:r>
          </a:p>
        </p:txBody>
      </p:sp>
      <p:sp>
        <p:nvSpPr>
          <p:cNvPr id="630" name="Fuente de datos: VRIIC"/>
          <p:cNvSpPr txBox="1"/>
          <p:nvPr/>
        </p:nvSpPr>
        <p:spPr>
          <a:xfrm>
            <a:off x="10014971" y="6324553"/>
            <a:ext cx="192761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VRIIC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Estado al 2020…"/>
          <p:cNvSpPr txBox="1"/>
          <p:nvPr/>
        </p:nvSpPr>
        <p:spPr>
          <a:xfrm>
            <a:off x="238535" y="142939"/>
            <a:ext cx="5584634" cy="6045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4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7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algn="just"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Innovación docente. 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Concurso PID (Proyectos de Innovación Docente) — principal vehículo de innovación</a:t>
            </a:r>
          </a:p>
          <a:p>
            <a:pPr marL="110289" indent="-110289" algn="just">
              <a:buSzPct val="100000"/>
              <a:buChar char="•"/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138 proyectos financiados (2014–2019), MM$400 en total</a:t>
            </a:r>
          </a:p>
          <a:p>
            <a:pPr marL="110289" indent="-110289" algn="just">
              <a:buSzPct val="100000"/>
              <a:buChar char="•"/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4 líneas de postulación desde 2017:</a:t>
            </a:r>
          </a:p>
          <a:p>
            <a:pPr lvl="1"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Innovación en el Aula: 150 proyectos (71%) — la más solicitada</a:t>
            </a:r>
          </a:p>
          <a:p>
            <a:pPr lvl="1"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Investigación para la Innovación: 38 proyectos (18%)</a:t>
            </a:r>
          </a:p>
          <a:p>
            <a:pPr lvl="1"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Formación Inicial Docente: 6 proyectos</a:t>
            </a:r>
          </a:p>
          <a:p>
            <a:pPr lvl="1"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Innovación Curricular: 12 proyectos (</a:t>
            </a:r>
            <a:r>
              <a:rPr b="1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eliminada desde 2018</a:t>
            </a:r>
            <a:r>
              <a:t>)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Investigación en/sobre docencia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SoTL (investigación sobre docencia)</a:t>
            </a:r>
          </a:p>
          <a:p>
            <a:pPr marL="110289" indent="-110289" algn="just">
              <a:buSzPct val="100000"/>
              <a:buChar char="•"/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Diplomado en Investigación en Educación: relanzado en 2019, 20 inscritos (antecesor: DIIN desde 2004)</a:t>
            </a:r>
          </a:p>
          <a:p>
            <a:pPr marL="110289" indent="-110289" algn="just">
              <a:buSzPct val="100000"/>
              <a:buChar char="•"/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Grupos de Investigación en Docencia: publicaciones sobre aula invertida, tutorías, aprendizaje-servicio</a:t>
            </a:r>
          </a:p>
          <a:p>
            <a:pPr marL="110289" indent="-110289" algn="just">
              <a:buSzPct val="100000"/>
              <a:buChar char="•"/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Fondo de Apoyo a la Investigación en Educación + concurso TRASCIENDE USACH (tesis de Pedagogía)</a:t>
            </a:r>
          </a:p>
          <a:p>
            <a:pPr marL="110289" indent="-110289" algn="just">
              <a:buSzPct val="100000"/>
              <a:buChar char="•"/>
              <a:defRPr sz="1000">
                <a:solidFill>
                  <a:srgbClr val="FF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Proyección: crear centros/redes de investigación educativa</a:t>
            </a:r>
            <a:r>
              <a:t>.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Transferencia al aula</a:t>
            </a:r>
          </a:p>
          <a:p>
            <a:pPr marL="110289" indent="-110289" algn="just">
              <a:buSzPct val="100000"/>
              <a:buChar char="•"/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Resolución N°3756: participación estudiantil en congresos como actividad curricular</a:t>
            </a:r>
          </a:p>
          <a:p>
            <a:pPr marL="110289" indent="-110289" algn="just">
              <a:buSzPct val="100000"/>
              <a:buChar char="•"/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Investigación Asociativa con escuelas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Metodología de enseñanza-aprendizaje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Metodologías activas: A+S, ABP, Design Thinking, Flipped Classroom, Peer Instruction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Lions Up (CORFO): 15 semanas, ~800 estudiantes certificados, 35+ desafíos, 100+ mentores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Infraestructura</a:t>
            </a:r>
            <a:r>
              <a:t>: Salas ACE/Scale-UP (2019, Ingeniería en etapa 1) + Moodle 3.6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Redes: Red A+S (desde 2014, todas las facultades) y Red de Aprendizaje Activo (desde Física)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0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Seguimiento de trayectoria: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Diagnóstico de Ingreso: ~4.300 estudiantes, &gt;80% cobertura, 200+ reportes (institucionalizado desde 2019)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Modelo predictivo de deserción: &gt;75% de exactitud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Proyecto BNA: 6 meses en ejecución (acompañamiento desde 3er año)</a:t>
            </a:r>
          </a:p>
          <a:p>
            <a:pPr algn="just">
              <a:defRPr sz="1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Evaluación curricular: metodología institucional (PMI USA 1502) para coherencia entre currículo prescrito y real.</a:t>
            </a:r>
          </a:p>
        </p:txBody>
      </p:sp>
      <p:sp>
        <p:nvSpPr>
          <p:cNvPr id="633" name="Acciones Prioritarias para acreditación 2027…"/>
          <p:cNvSpPr txBox="1"/>
          <p:nvPr/>
        </p:nvSpPr>
        <p:spPr>
          <a:xfrm>
            <a:off x="6409648" y="142939"/>
            <a:ext cx="5584633" cy="3630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Es necesario retomar el Diplomado en Investigación Educativa como mecanismo de promoción de la investigación, cuyo objeto de estudio es la docencia impartida en Usach.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aumentar en el corto plazo el alcance del Diplomado en Docencia Universitaria (en formato híbrido).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para medir el alcance e impacto de los Proyectos de Innovación Docente (PID)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 Docencia Activa y Jornadas de Capacitación realizadas (Piloto 2018-2019 Departamento de Física)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tesis relacionadas a la práctica y/o implementaciones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5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Gobierno y estructura organizacional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roup"/>
          <p:cNvGrpSpPr/>
          <p:nvPr/>
        </p:nvGrpSpPr>
        <p:grpSpPr>
          <a:xfrm>
            <a:off x="2285999" y="391459"/>
            <a:ext cx="7620001" cy="5447485"/>
            <a:chOff x="0" y="0"/>
            <a:chExt cx="7620000" cy="5447484"/>
          </a:xfrm>
        </p:grpSpPr>
        <p:pic>
          <p:nvPicPr>
            <p:cNvPr id="637" name="Image" descr="Image"/>
            <p:cNvPicPr>
              <a:picLocks noChangeAspect="1"/>
            </p:cNvPicPr>
            <p:nvPr/>
          </p:nvPicPr>
          <p:blipFill>
            <a:blip r:embed="rId2"/>
            <a:srcRect t="28515" b="16243"/>
            <a:stretch>
              <a:fillRect/>
            </a:stretch>
          </p:blipFill>
          <p:spPr>
            <a:xfrm>
              <a:off x="0" y="0"/>
              <a:ext cx="7620000" cy="5447485"/>
            </a:xfrm>
            <a:prstGeom prst="rect">
              <a:avLst/>
            </a:prstGeom>
            <a:ln w="9525" cap="flat">
              <a:solidFill>
                <a:schemeClr val="accent3">
                  <a:lumOff val="-12941"/>
                </a:schemeClr>
              </a:solidFill>
              <a:prstDash val="solid"/>
              <a:miter lim="400000"/>
            </a:ln>
            <a:effectLst/>
          </p:spPr>
        </p:pic>
        <p:sp>
          <p:nvSpPr>
            <p:cNvPr id="638" name="Rectangle"/>
            <p:cNvSpPr/>
            <p:nvPr/>
          </p:nvSpPr>
          <p:spPr>
            <a:xfrm>
              <a:off x="4980378" y="1751315"/>
              <a:ext cx="1994709" cy="1034306"/>
            </a:xfrm>
            <a:prstGeom prst="rect">
              <a:avLst/>
            </a:prstGeom>
            <a:solidFill>
              <a:srgbClr val="ED220D">
                <a:alpha val="3964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" name="Rectangle"/>
            <p:cNvSpPr/>
            <p:nvPr/>
          </p:nvSpPr>
          <p:spPr>
            <a:xfrm>
              <a:off x="2901372" y="1751315"/>
              <a:ext cx="2055279" cy="734678"/>
            </a:xfrm>
            <a:prstGeom prst="rect">
              <a:avLst/>
            </a:prstGeom>
            <a:solidFill>
              <a:srgbClr val="FEAE00">
                <a:alpha val="4022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" name="Rectangle"/>
            <p:cNvSpPr/>
            <p:nvPr/>
          </p:nvSpPr>
          <p:spPr>
            <a:xfrm>
              <a:off x="4980378" y="2785620"/>
              <a:ext cx="1994709" cy="734677"/>
            </a:xfrm>
            <a:prstGeom prst="rect">
              <a:avLst/>
            </a:prstGeom>
            <a:solidFill>
              <a:srgbClr val="FEAE00">
                <a:alpha val="4022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Estado al 2020…"/>
          <p:cNvSpPr txBox="1"/>
          <p:nvPr/>
        </p:nvSpPr>
        <p:spPr>
          <a:xfrm>
            <a:off x="238535" y="142939"/>
            <a:ext cx="5584634" cy="4308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Modificaciones estructurales 2014–2020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Cambios relevantes formalizadas en la Resolución N°2106/2020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Vicerrectoría de Postgrado (2018): respuesta directa a observación de la acreditación 2014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Facultad de Derecho (2016): expansión disciplinar estratégica.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Dirección de Género, Diversidad y Equidad: evolución desde Punto Focal de Género (2015) → Área de Género (2016) → Dirección (2018); transferida a Prorrectoría en mayo 2020.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Departamento de Formación Integral e Inclusión (VRA): materializa el lineamiento de Inclusión del MEI.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Unidades de Calidad y Acreditación dentro del DCA: separan la función de aseguramiento continuo de la función de acreditación de carreras y programas.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Unidad de Gestión de Proyectos (Prorrectoría): apoya a investigadores con fondos externos.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Departamento de Educación Continua (VVME): administra diplomados y programas de extensión.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Unidad de Transparencia (Secretaría General): cumplimiento de normativa de transparencia y probidad.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Departamento de Tecnologías de la Información (2012, incorporado al período): diseño y control de sistemas institucionales.</a:t>
            </a:r>
          </a:p>
        </p:txBody>
      </p:sp>
      <p:sp>
        <p:nvSpPr>
          <p:cNvPr id="644" name="Acciones Prioritarias…"/>
          <p:cNvSpPr txBox="1"/>
          <p:nvPr/>
        </p:nvSpPr>
        <p:spPr>
          <a:xfrm>
            <a:off x="6409648" y="142939"/>
            <a:ext cx="5584633" cy="3034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Revisión y/o Creación de las normativas</a:t>
            </a:r>
            <a:r>
              <a:t>: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Consejo Superior de Docencia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Consejo Superior de Postgrado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Consejo Superior de Investigación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Consejo Superior de Vinculación con el Medio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Consejo Superior de VICAVIGED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Normativa y reglamento de funcionamiento Consejo Institucional de la Calidad. La propuesta debe ser redactada por Rectoría (DFL29 artículos 64-65) y aprobada por el Consejo Universitario.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y/o Actualización de la Política de Calidad de la Universidad de Santiago de Chile (Borrador 2026-06-18)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y/o Actualización del Reglamento de Funcionamiento Orgánico del Sistema de Aseguramiento de la Calidad Institucional (Borrador 2026-06-18)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6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Gestión y desarrollo de personas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Image" descr="Image"/>
          <p:cNvPicPr>
            <a:picLocks noChangeAspect="1"/>
          </p:cNvPicPr>
          <p:nvPr/>
        </p:nvPicPr>
        <p:blipFill>
          <a:blip r:embed="rId2"/>
          <a:srcRect t="13148" b="34947"/>
          <a:stretch>
            <a:fillRect/>
          </a:stretch>
        </p:blipFill>
        <p:spPr>
          <a:xfrm>
            <a:off x="2286000" y="575663"/>
            <a:ext cx="7620000" cy="5118304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649" name="Rectangle"/>
          <p:cNvSpPr/>
          <p:nvPr/>
        </p:nvSpPr>
        <p:spPr>
          <a:xfrm>
            <a:off x="7279078" y="2396168"/>
            <a:ext cx="1994709" cy="1224385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50" name="Rectangle"/>
          <p:cNvSpPr/>
          <p:nvPr/>
        </p:nvSpPr>
        <p:spPr>
          <a:xfrm>
            <a:off x="5220870" y="3288679"/>
            <a:ext cx="1994709" cy="1173153"/>
          </a:xfrm>
          <a:prstGeom prst="rect">
            <a:avLst/>
          </a:prstGeom>
          <a:solidFill>
            <a:srgbClr val="ED220D">
              <a:alpha val="39640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51" name="Rectangle"/>
          <p:cNvSpPr/>
          <p:nvPr/>
        </p:nvSpPr>
        <p:spPr>
          <a:xfrm>
            <a:off x="5220870" y="4474538"/>
            <a:ext cx="1994709" cy="732701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Estado al 2020…"/>
          <p:cNvSpPr txBox="1"/>
          <p:nvPr/>
        </p:nvSpPr>
        <p:spPr>
          <a:xfrm>
            <a:off x="238535" y="142939"/>
            <a:ext cx="5584634" cy="5607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Crecimiento de la dotación</a:t>
            </a:r>
            <a:br/>
            <a:r>
              <a:t>Las 4 plantas crecieron de 1.252 a 1.495 personas (+19,4%) entre 2014-2019, sostenido por 685 concursos (199 internos, 486 externos), con mayor actividad en 2014-2016.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Capacitación masiva del personal</a:t>
            </a:r>
            <a:br/>
            <a:r>
              <a:t>5.485 personas capacitadas entre 2014-2019 (con recuentos múltiples), liderado por personal administrativo (1.273) y profesorado por hora (1.204). En 2018 solo 14 de 23 postulantes a Diplomados fueron autorizados (~MM$30 presupuesto).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Expansión de Bienestar</a:t>
            </a:r>
            <a:br/>
            <a:r>
              <a:t>Los afiliados crecieron de 2.237 (2014) a 2.678 (2019), con aumento tanto en activos (1.942→2.217) como en pensionados (295→461).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Alta estabilidad en evaluación de desempeño administrativo</a:t>
            </a:r>
            <a:br/>
            <a:r>
              <a:t>Calificación satisfactoria estable en ~96,7% anual durante todo el período 2013-2019.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Reforma normativa en evaluación académica</a:t>
            </a:r>
            <a:br/>
            <a:r>
              <a:t>La Resolución N°5949/2009 fue reformada en 2019 (Resoluciones N°2196 y N°3120), incorporando por primera vez criterios de productividad científica (publicaciones WOS/SCOPUS, patentes, proyectos) para ascensos y beneficios.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Alto volumen de desvinculaciones, con peak en 2018</a:t>
            </a:r>
            <a:br/>
            <a:r>
              <a:t>1.809 salidas totales 2014-2019, dominadas por renuncias voluntarias de profesores/as hora (911). El año 2018 concentró el mayor número (450 salidas), explicado por la aplicación masiva de Leyes de Incentivo al Retiro (165 casos ese año).</a:t>
            </a:r>
          </a:p>
        </p:txBody>
      </p:sp>
      <p:sp>
        <p:nvSpPr>
          <p:cNvPr id="654" name="Acciones Prioritarias para acreditación 2027…"/>
          <p:cNvSpPr txBox="1"/>
          <p:nvPr/>
        </p:nvSpPr>
        <p:spPr>
          <a:xfrm>
            <a:off x="6409648" y="142939"/>
            <a:ext cx="5584633" cy="3796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Evaluación Académica Cuerpo Regular</a:t>
            </a:r>
            <a:r>
              <a:t>.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 avances parciales desde 2020 de acuerdo a lo narrado en el último proceso de acreditación. Resoluciones Nº 5949 de 2009 y Nº 2196 de 2019 Requiere evaluación inmediata. Se propone alinear ajustar según criterios de productividad por área disciplinar CNA.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Nuevo Cuerpo Académico Docente (DFL29)</a:t>
            </a:r>
            <a:r>
              <a:t>.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Creación del nuevo cuerpo académico enfocado en la docencia universitaria. Se debe diseñar un instrumento de evaluación y calificación docente.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Profesorado por hora actual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No existe normativa actualizada sobre la contratación, evaluación, promoción y desvinculación del profesorado por hora de clases.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Actualización del Decreto 26</a:t>
            </a:r>
          </a:p>
          <a:p>
            <a:pPr lvl="1" indent="228600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revisar y/o actualizar el D26 que abarca al Cuerpo Académico Regular, junto a sus procesos de evaluación y jerarquización.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7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Gestión de la convivencia, equidad de género,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diversidad e inclusión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Image" descr="Image"/>
          <p:cNvPicPr>
            <a:picLocks noChangeAspect="1"/>
          </p:cNvPicPr>
          <p:nvPr/>
        </p:nvPicPr>
        <p:blipFill>
          <a:blip r:embed="rId2"/>
          <a:srcRect t="13430" b="35238"/>
          <a:stretch>
            <a:fillRect/>
          </a:stretch>
        </p:blipFill>
        <p:spPr>
          <a:xfrm>
            <a:off x="2286000" y="621746"/>
            <a:ext cx="7620000" cy="5061832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659" name="Rectangle"/>
          <p:cNvSpPr/>
          <p:nvPr/>
        </p:nvSpPr>
        <p:spPr>
          <a:xfrm>
            <a:off x="7279078" y="2223474"/>
            <a:ext cx="1994709" cy="2891230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Estado al 2020…"/>
          <p:cNvSpPr txBox="1"/>
          <p:nvPr/>
        </p:nvSpPr>
        <p:spPr>
          <a:xfrm>
            <a:off x="238535" y="142939"/>
            <a:ext cx="5584634" cy="5933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Institucionalización de la perspectiva de género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La Dirección DGDE muestra una evolución progresiva y sostenida: Punto Focal (2015) → Área (2016) → Dirección (2018) → Prorrectoría (2020), reflejando creciente jerarquización del tema en la estructura institucional.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Protocolo contra el acoso sexual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Elaborado triestamentalmente e implementado desde 2017, con procedimientos jurídicos, acogida psicosocial y acompañamiento — orientado a la erradicación de la violencia de género.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Reconocimiento de identidad de género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Normativa institucional que autoriza el uso del Nombre Social, valorada como factor que permea los procesos formativos con perspectiva de género.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Inclusión de personas con discapacidad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Marco de derechos consolidado (Convención ONU, Ley 20.422, Ley 21.091) con apoyos concretos: 5 intérpretes de LSCh y 175 personas de la comunidad cursando LSCh. Tutorías par financiadas, adaptación de materiales, Beca Discapacidad. Ajustes normativos para permanencia y titulación (Art. 23 Reglamento de Pregrado)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Liderazgo en inclusión social en la admisión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USACH fue pionera en su grupo de acreditación (6-7 años) al elevar el factor Ranking de 10% (2013) a 40% (2014) — un salto significativo respecto a otras instituciones similares. Complementa con múltiples cupos especiales (PACE, Ranking 850, discapacidad, pueblos indígenas, entre otros).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Trabajo Decente y equidad salarial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Eliminación de la subcontratación de trabajadores de aseo, incorporándolos directamente a la dotación institucional. Política de Remuneraciones que declara explícitamente promover equidad interna e igualdad de género.</a:t>
            </a:r>
          </a:p>
        </p:txBody>
      </p:sp>
      <p:sp>
        <p:nvSpPr>
          <p:cNvPr id="662" name="Acciones Prioritarias para acreditación 2027…"/>
          <p:cNvSpPr txBox="1"/>
          <p:nvPr/>
        </p:nvSpPr>
        <p:spPr>
          <a:xfrm>
            <a:off x="6409648" y="142939"/>
            <a:ext cx="5584633" cy="5979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 algn="just">
              <a:defRPr sz="119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algn="just">
              <a:defRPr sz="119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Vicerrectorías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para ajustes en la políticas de las distintas Vicerrectorías y su relación con la comunidad universitaria.</a:t>
            </a:r>
          </a:p>
          <a:p>
            <a:pPr algn="just">
              <a:defRPr sz="119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algn="just">
              <a:defRPr sz="119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algn="just">
              <a:defRPr sz="119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 algn="just">
              <a:defRPr sz="119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 algn="just">
              <a:defRPr sz="119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Vicerrectoría de Apoyo Estudiantil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el avance de las políticas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beneficios internos arancelarios 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beneficios externos arancelarios 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de calidad de vida estudiantil</a:t>
            </a:r>
          </a:p>
          <a:p>
            <a:pPr marL="501315" lvl="1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Servicios de salud</a:t>
            </a:r>
          </a:p>
          <a:p>
            <a:pPr marL="501315" lvl="1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Servicios de salud psicológica</a:t>
            </a:r>
          </a:p>
          <a:p>
            <a:pPr marL="501315" lvl="1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Servicios alimentarios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 gestión del deporte y cultura (formación integral, administración recintos deportivos, gestión de talentos vocacionales)</a:t>
            </a:r>
          </a:p>
          <a:p>
            <a:pPr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9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Vicerrectora Calidad de Vida, Género, Equidad y Diversidad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avances en las política acompañamiento psicojurídico en materia de violencia de género VICAVIGED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adaptación de materiales de estudio para estudiantes en situación de discapacidad VICAVIGED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gestión cupo equidad y derecho a la diferencia VICAVIGED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trayectorias educativas (cartas de ajuste) VICAVIGED</a:t>
            </a:r>
          </a:p>
          <a:p>
            <a:pPr marL="120315" indent="-120315">
              <a:buSzPct val="100000"/>
              <a:buChar char="•"/>
              <a:defRPr sz="119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 sobre bienestar del personal VICAVIGED y VRIFYL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8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Gestión de recursos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Image" descr="Image"/>
          <p:cNvPicPr>
            <a:picLocks noChangeAspect="1"/>
          </p:cNvPicPr>
          <p:nvPr/>
        </p:nvPicPr>
        <p:blipFill>
          <a:blip r:embed="rId2"/>
          <a:srcRect t="15121" b="10911"/>
          <a:stretch>
            <a:fillRect/>
          </a:stretch>
        </p:blipFill>
        <p:spPr>
          <a:xfrm>
            <a:off x="2794859" y="0"/>
            <a:ext cx="6335167" cy="6064164"/>
          </a:xfrm>
          <a:prstGeom prst="rect">
            <a:avLst/>
          </a:prstGeom>
          <a:ln w="12700">
            <a:miter lim="400000"/>
          </a:ln>
        </p:spPr>
      </p:pic>
      <p:sp>
        <p:nvSpPr>
          <p:cNvPr id="667" name="Rectangle"/>
          <p:cNvSpPr/>
          <p:nvPr/>
        </p:nvSpPr>
        <p:spPr>
          <a:xfrm>
            <a:off x="6946902" y="1172457"/>
            <a:ext cx="1653084" cy="4111605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68" name="Rectangle"/>
          <p:cNvSpPr/>
          <p:nvPr/>
        </p:nvSpPr>
        <p:spPr>
          <a:xfrm>
            <a:off x="5244058" y="1172457"/>
            <a:ext cx="1653084" cy="4891793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Estado al 2020…"/>
          <p:cNvSpPr txBox="1"/>
          <p:nvPr/>
        </p:nvSpPr>
        <p:spPr>
          <a:xfrm>
            <a:off x="238535" y="142939"/>
            <a:ext cx="5584634" cy="5832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Infraestructura y Equipamiento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+52.000 m² construidos (inversión MM$56.000+), alcanzando 200.000+ m² en campus único de 37 hectáreas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16 edificios nuevos (Ingeniería, FAE, Ciencias Médicas, Tecnológica, entre otros). Indicador 9,5 m²/estudiante (2019)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Proyección 2020-2021: 8 proyectos adicionales (+24.087 m², MM$25.971) — incluye Centro Deportivo y remodelación Biblioteca Central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500 obras menores (accesibilidad universal, baños no binarios, puntos verdes); Plan de Mantenimiento: MM$30.520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Bibliotecas: recursos digitales +370% desde 2014 (43 bases de datos), 158.000+ títulos físicos; nuevo sistema Alma + RFID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Recursos Financieros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Clasificación de riesgo mejoró de A– a A estable (2014-2019)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Ingresos: MM$77.315 → MM$109.107 (+41% aprox.), superando siempre los egresos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Gratuidad: estudiantes beneficiarios crecieron de 7.749 a 11.478 (+48%, 2016-2019)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Remuneraciones en gastos: bajó de 78% a 76% (80% al 2024)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Salvedades de auditoría: reducidas de 6 a 2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Sin deudas, con solvencia y patrimonio creciente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Proyección 2021-2030: ingresos +41,2% (a MM$162.933), resultado operacional positivo sostenido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Gestión de la Información y TIC</a:t>
            </a:r>
          </a:p>
          <a:p>
            <a:pPr marL="120315" indent="-120315" algn="just">
              <a:buSzPct val="100000"/>
              <a:buChar char="-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Avance en transformación digital bajo Ley 21.180 (Modernización del Estado)</a:t>
            </a:r>
          </a:p>
          <a:p>
            <a:pPr marL="120315" indent="-120315" algn="just">
              <a:buSzPct val="100000"/>
              <a:buChar char="-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Área TIC gestionada por dos unidades: DTI (infraestructura, licencias, sistemas transaccionales) y SEGIC (redes, soporte, internet)</a:t>
            </a:r>
          </a:p>
        </p:txBody>
      </p:sp>
      <p:sp>
        <p:nvSpPr>
          <p:cNvPr id="671" name="Acciones Prioritarias para acreditación 2027…"/>
          <p:cNvSpPr txBox="1"/>
          <p:nvPr/>
        </p:nvSpPr>
        <p:spPr>
          <a:xfrm>
            <a:off x="6409648" y="142939"/>
            <a:ext cx="5584633" cy="4012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y aprobación del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Reglamento de Centros de Investigación</a:t>
            </a:r>
            <a:r>
              <a:t> (en estado de Borrador).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Creación de una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Plataforma Institucional de Equipamiento Avanzado</a:t>
            </a:r>
            <a:r>
              <a:t> que atienda las necesidades científicas y técnicas de la investigación que se realiza en Usach.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Implementación de semestres intensivos para mejorar los índices de retención y titulación oportuna.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de costos de los programas de postgrado, así como la política y costos de Educación Continua.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el equipamiento avanzado en Usach. Estado de funcionamiento, impacto, costos de uso y mantenimiento.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Implementación de un sistema de registro de usuarios y calendario de uso del equipamiento.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9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Gestión y resultados del aseguramiento interno de la calidad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Image" descr="Image"/>
          <p:cNvPicPr>
            <a:picLocks noChangeAspect="1"/>
          </p:cNvPicPr>
          <p:nvPr/>
        </p:nvPicPr>
        <p:blipFill>
          <a:blip r:embed="rId2"/>
          <a:srcRect t="28715" b="12668"/>
          <a:stretch>
            <a:fillRect/>
          </a:stretch>
        </p:blipFill>
        <p:spPr>
          <a:xfrm>
            <a:off x="2286000" y="194578"/>
            <a:ext cx="7620000" cy="5780279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676" name="Rectangle"/>
          <p:cNvSpPr/>
          <p:nvPr/>
        </p:nvSpPr>
        <p:spPr>
          <a:xfrm>
            <a:off x="5231358" y="1715423"/>
            <a:ext cx="1983717" cy="2271778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77" name="Rectangle"/>
          <p:cNvSpPr/>
          <p:nvPr/>
        </p:nvSpPr>
        <p:spPr>
          <a:xfrm>
            <a:off x="3174313" y="4789199"/>
            <a:ext cx="1983716" cy="927477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78" name="Rectangle"/>
          <p:cNvSpPr/>
          <p:nvPr/>
        </p:nvSpPr>
        <p:spPr>
          <a:xfrm>
            <a:off x="7290374" y="1715423"/>
            <a:ext cx="1983716" cy="2271778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Estado al 2020…"/>
          <p:cNvSpPr txBox="1"/>
          <p:nvPr/>
        </p:nvSpPr>
        <p:spPr>
          <a:xfrm>
            <a:off x="238535" y="142939"/>
            <a:ext cx="5584634" cy="5814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175" b="1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  <a:p>
            <a:pPr algn="just">
              <a:defRPr sz="1175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Evolución histórica</a:t>
            </a:r>
          </a:p>
          <a:p>
            <a:pPr algn="just"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2003 (acreditación de carreras) → 2005 (1ª institucional, 3 años) → 2007 (1er modelo de calidad) → 2010 (SGC/ISO 9001) → 2014 (2ª institucional, 6 años) → 2019 (nuevo Sistema de Aseguramiento de la Calidad Institucional, integra todo lo anterior).</a:t>
            </a:r>
          </a:p>
          <a:p>
            <a:pPr algn="just"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75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Modelo vigente (2019)</a:t>
            </a:r>
          </a:p>
          <a:p>
            <a:pPr marL="120315" indent="-120315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Evaluación y mejoramiento continuo (autoevaluación + acreditación CNA) para institución, Pregrado, Postgrado y Educación Continua</a:t>
            </a:r>
          </a:p>
          <a:p>
            <a:pPr marL="120315" indent="-120315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SGC (Sistema de Gestión de Calidad) en proceso de certificación ISO 9001:2015</a:t>
            </a:r>
          </a:p>
          <a:p>
            <a:pPr marL="120315" indent="-120315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Cubre 28 macroprocesos y 83 procesos en plataforma ISOTools. Al momento del IAE: levantamiento de procesos terminado, pendiente solo auditoría externa y certificación.</a:t>
            </a:r>
          </a:p>
          <a:p>
            <a:pPr algn="just"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75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Resultados</a:t>
            </a:r>
          </a:p>
          <a:p>
            <a:pPr marL="117809" indent="-117809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Acreditación Institucional: 3 procesos históricos favorables; IAE 2020 = 4° proceso</a:t>
            </a:r>
          </a:p>
          <a:p>
            <a:pPr marL="117809" indent="-117809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Carreras: 73% acreditadas; promedio 5,4 años; 100% de programas con autoevaluación</a:t>
            </a:r>
          </a:p>
          <a:p>
            <a:pPr marL="117809" indent="-117809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Postgrado: Magíster: 51,3% acreditado; Doctorados: 86,7% (2019) → 100% (2020); promedio subió de 5,1 a 5,5 años.</a:t>
            </a:r>
          </a:p>
          <a:p>
            <a:pPr marL="117809" indent="-117809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Especialidades Médicas: ~20 especialidades (3 años); nueva Comisión de Evaluación (2019)</a:t>
            </a:r>
          </a:p>
          <a:p>
            <a:pPr marL="117809" indent="-117809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Educación Continua: Regulado por Resolución N°5175/2018; sistema de evaluación interno en construcción</a:t>
            </a:r>
          </a:p>
          <a:p>
            <a:pPr algn="just"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75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Estructura organizacional</a:t>
            </a:r>
          </a:p>
          <a:p>
            <a:pPr marL="117809" indent="-117809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Rectoría (aprueba política) → Prorrectoría (lidera implementación)</a:t>
            </a:r>
          </a:p>
          <a:p>
            <a:pPr marL="117809" indent="-117809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Órganos: Consejo de la Calidad, Comité de Coordinación de Rectoría, Consejo Superior de Docencia, CEPP, Comisión de Especialidades Médicas, Consejo de Educación Continua, Comité SGC</a:t>
            </a:r>
          </a:p>
          <a:p>
            <a:pPr marL="117809" indent="-117809" algn="just">
              <a:buSzPct val="100000"/>
              <a:buChar char="•"/>
              <a:defRPr sz="1175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DCA (creado 2012): soporte técnico con 5 áreas (Calidad, Pregrado, Postgrado, Institucional, Datos y Análisis)</a:t>
            </a:r>
          </a:p>
        </p:txBody>
      </p:sp>
      <p:sp>
        <p:nvSpPr>
          <p:cNvPr id="681" name="Acciones Prioritarias para acreditación 2027…"/>
          <p:cNvSpPr txBox="1"/>
          <p:nvPr/>
        </p:nvSpPr>
        <p:spPr>
          <a:xfrm>
            <a:off x="6409648" y="142939"/>
            <a:ext cx="5584633" cy="3058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Consolidación de datos institucionales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Poblamiento y ajustes del sistema CiDi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Jornadas comunicacionales y talleres informativos en formato Bottom—Up sobre los cambios y procesos en el sistema de acreditación y aseguramiento continuo de la calidad.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y coherencia de datos entre las distintas Vicerrectorías y Prorrectoría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Generación de informe a escala Institucional, Vicerrectorías y Facultades.</a:t>
            </a:r>
            <a:br/>
            <a:endParaRPr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10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Aseguramiento de la calidad de los programas formativos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Image" descr="Image"/>
          <p:cNvPicPr>
            <a:picLocks noChangeAspect="1"/>
          </p:cNvPicPr>
          <p:nvPr/>
        </p:nvPicPr>
        <p:blipFill>
          <a:blip r:embed="rId2"/>
          <a:srcRect t="13698" b="34911"/>
          <a:stretch>
            <a:fillRect/>
          </a:stretch>
        </p:blipFill>
        <p:spPr>
          <a:xfrm>
            <a:off x="2286000" y="498634"/>
            <a:ext cx="7620000" cy="5067579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686" name="Rectangle"/>
          <p:cNvSpPr/>
          <p:nvPr/>
        </p:nvSpPr>
        <p:spPr>
          <a:xfrm>
            <a:off x="3174313" y="924105"/>
            <a:ext cx="6106114" cy="583010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87" name="Rectangle"/>
          <p:cNvSpPr/>
          <p:nvPr/>
        </p:nvSpPr>
        <p:spPr>
          <a:xfrm>
            <a:off x="7290374" y="1982457"/>
            <a:ext cx="1983716" cy="2367086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Subtitle 2"/>
          <p:cNvSpPr txBox="1"/>
          <p:nvPr/>
        </p:nvSpPr>
        <p:spPr>
          <a:xfrm>
            <a:off x="80439" y="1868068"/>
            <a:ext cx="1540417" cy="668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 anchor="ctr"/>
          <a:lstStyle/>
          <a:p>
            <a:pPr algn="ctr" defTabSz="1087437">
              <a:lnSpc>
                <a:spcPts val="1400"/>
              </a:lnSpc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Proceso de Acreditación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ctr" defTabSz="1087437">
              <a:lnSpc>
                <a:spcPts val="1400"/>
              </a:lnSpc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X años</a:t>
            </a:r>
          </a:p>
        </p:txBody>
      </p:sp>
      <p:sp>
        <p:nvSpPr>
          <p:cNvPr id="690" name="Subtitle 2"/>
          <p:cNvSpPr txBox="1"/>
          <p:nvPr/>
        </p:nvSpPr>
        <p:spPr>
          <a:xfrm>
            <a:off x="2639451" y="1868068"/>
            <a:ext cx="1540417" cy="668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 anchor="ctr"/>
          <a:lstStyle/>
          <a:p>
            <a:pPr algn="ctr" defTabSz="1087437">
              <a:lnSpc>
                <a:spcPts val="1400"/>
              </a:lnSpc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Proceso de Acreditación</a:t>
            </a:r>
          </a:p>
          <a:p>
            <a:pPr algn="ctr" defTabSz="1087437">
              <a:lnSpc>
                <a:spcPts val="1400"/>
              </a:lnSpc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Y años</a:t>
            </a:r>
          </a:p>
        </p:txBody>
      </p:sp>
      <p:cxnSp>
        <p:nvCxnSpPr>
          <p:cNvPr id="691" name="Connection Line"/>
          <p:cNvCxnSpPr>
            <a:stCxn id="689" idx="0"/>
            <a:endCxn id="690" idx="0"/>
          </p:cNvCxnSpPr>
          <p:nvPr/>
        </p:nvCxnSpPr>
        <p:spPr>
          <a:xfrm>
            <a:off x="850647" y="2202279"/>
            <a:ext cx="2559013" cy="1"/>
          </a:xfrm>
          <a:prstGeom prst="straightConnector1">
            <a:avLst/>
          </a:prstGeom>
          <a:ln w="38100">
            <a:solidFill>
              <a:schemeClr val="accent2"/>
            </a:solidFill>
            <a:miter/>
            <a:tailEnd type="arrow"/>
          </a:ln>
        </p:spPr>
      </p:cxnSp>
      <p:sp>
        <p:nvSpPr>
          <p:cNvPr id="692" name="Arrow"/>
          <p:cNvSpPr/>
          <p:nvPr/>
        </p:nvSpPr>
        <p:spPr>
          <a:xfrm>
            <a:off x="858349" y="2422544"/>
            <a:ext cx="2536797" cy="559946"/>
          </a:xfrm>
          <a:prstGeom prst="rightArrow">
            <a:avLst>
              <a:gd name="adj1" fmla="val 44151"/>
              <a:gd name="adj2" fmla="val 79863"/>
            </a:avLst>
          </a:prstGeom>
          <a:gradFill>
            <a:gsLst>
              <a:gs pos="37114">
                <a:schemeClr val="accent1"/>
              </a:gs>
              <a:gs pos="77910">
                <a:srgbClr val="99787B"/>
              </a:gs>
              <a:gs pos="81474">
                <a:schemeClr val="accent2"/>
              </a:gs>
            </a:gsLst>
          </a:gradFill>
          <a:ln w="12700">
            <a:solidFill>
              <a:srgbClr val="53535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693" name="Subtitle 2"/>
          <p:cNvSpPr txBox="1"/>
          <p:nvPr/>
        </p:nvSpPr>
        <p:spPr>
          <a:xfrm>
            <a:off x="5198464" y="1953480"/>
            <a:ext cx="1540417" cy="583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859" tIns="22859" rIns="22859" bIns="22859" anchor="ctr"/>
          <a:lstStyle/>
          <a:p>
            <a:pPr algn="ctr" defTabSz="1087437">
              <a:lnSpc>
                <a:spcPts val="1400"/>
              </a:lnSpc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Proceso de Acreditación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ctr" defTabSz="1087437">
              <a:lnSpc>
                <a:spcPts val="1400"/>
              </a:lnSpc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Z años</a:t>
            </a:r>
          </a:p>
        </p:txBody>
      </p:sp>
      <p:cxnSp>
        <p:nvCxnSpPr>
          <p:cNvPr id="694" name="Connection Line"/>
          <p:cNvCxnSpPr>
            <a:stCxn id="690" idx="0"/>
            <a:endCxn id="693" idx="0"/>
          </p:cNvCxnSpPr>
          <p:nvPr/>
        </p:nvCxnSpPr>
        <p:spPr>
          <a:xfrm>
            <a:off x="3409659" y="2202279"/>
            <a:ext cx="2559014" cy="42707"/>
          </a:xfrm>
          <a:prstGeom prst="straightConnector1">
            <a:avLst/>
          </a:prstGeom>
          <a:ln w="38100">
            <a:solidFill>
              <a:schemeClr val="accent2"/>
            </a:solidFill>
            <a:miter/>
            <a:tailEnd type="arrow"/>
          </a:ln>
        </p:spPr>
      </p:cxnSp>
      <p:grpSp>
        <p:nvGrpSpPr>
          <p:cNvPr id="711" name="Group"/>
          <p:cNvGrpSpPr/>
          <p:nvPr/>
        </p:nvGrpSpPr>
        <p:grpSpPr>
          <a:xfrm>
            <a:off x="7492696" y="588625"/>
            <a:ext cx="4705654" cy="4705656"/>
            <a:chOff x="0" y="0"/>
            <a:chExt cx="4705653" cy="4705654"/>
          </a:xfrm>
        </p:grpSpPr>
        <p:sp>
          <p:nvSpPr>
            <p:cNvPr id="695" name="Shape"/>
            <p:cNvSpPr/>
            <p:nvPr/>
          </p:nvSpPr>
          <p:spPr>
            <a:xfrm rot="18900000">
              <a:off x="305700" y="1433503"/>
              <a:ext cx="1913743" cy="16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600" extrusionOk="0">
                  <a:moveTo>
                    <a:pt x="18615" y="0"/>
                  </a:moveTo>
                  <a:cubicBezTo>
                    <a:pt x="13850" y="0"/>
                    <a:pt x="9083" y="2104"/>
                    <a:pt x="5447" y="6305"/>
                  </a:cubicBezTo>
                  <a:cubicBezTo>
                    <a:pt x="1795" y="10526"/>
                    <a:pt x="-17" y="16067"/>
                    <a:pt x="0" y="21600"/>
                  </a:cubicBezTo>
                  <a:lnTo>
                    <a:pt x="103" y="21600"/>
                  </a:lnTo>
                  <a:lnTo>
                    <a:pt x="2865" y="18409"/>
                  </a:lnTo>
                  <a:lnTo>
                    <a:pt x="5626" y="21600"/>
                  </a:lnTo>
                  <a:lnTo>
                    <a:pt x="5729" y="21600"/>
                  </a:lnTo>
                  <a:cubicBezTo>
                    <a:pt x="5712" y="17762"/>
                    <a:pt x="6968" y="13915"/>
                    <a:pt x="9503" y="10986"/>
                  </a:cubicBezTo>
                  <a:cubicBezTo>
                    <a:pt x="12020" y="8077"/>
                    <a:pt x="15316" y="6621"/>
                    <a:pt x="18615" y="6621"/>
                  </a:cubicBezTo>
                  <a:cubicBezTo>
                    <a:pt x="18636" y="6621"/>
                    <a:pt x="18657" y="6626"/>
                    <a:pt x="18678" y="6626"/>
                  </a:cubicBezTo>
                  <a:lnTo>
                    <a:pt x="18678" y="6502"/>
                  </a:lnTo>
                  <a:lnTo>
                    <a:pt x="18750" y="6584"/>
                  </a:lnTo>
                  <a:lnTo>
                    <a:pt x="21583" y="3310"/>
                  </a:lnTo>
                  <a:lnTo>
                    <a:pt x="18750" y="36"/>
                  </a:lnTo>
                  <a:lnTo>
                    <a:pt x="18678" y="119"/>
                  </a:lnTo>
                  <a:lnTo>
                    <a:pt x="18678" y="5"/>
                  </a:lnTo>
                  <a:cubicBezTo>
                    <a:pt x="18657" y="5"/>
                    <a:pt x="18636" y="0"/>
                    <a:pt x="18615" y="0"/>
                  </a:cubicBezTo>
                  <a:close/>
                </a:path>
              </a:pathLst>
            </a:custGeom>
            <a:solidFill>
              <a:srgbClr val="01A499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96" name="Shape"/>
            <p:cNvSpPr/>
            <p:nvPr/>
          </p:nvSpPr>
          <p:spPr>
            <a:xfrm rot="13500000">
              <a:off x="1305307" y="2614407"/>
              <a:ext cx="1913743" cy="16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600" extrusionOk="0">
                  <a:moveTo>
                    <a:pt x="18615" y="0"/>
                  </a:moveTo>
                  <a:cubicBezTo>
                    <a:pt x="13850" y="0"/>
                    <a:pt x="9083" y="2104"/>
                    <a:pt x="5447" y="6305"/>
                  </a:cubicBezTo>
                  <a:cubicBezTo>
                    <a:pt x="1795" y="10526"/>
                    <a:pt x="-17" y="16067"/>
                    <a:pt x="0" y="21600"/>
                  </a:cubicBezTo>
                  <a:lnTo>
                    <a:pt x="103" y="21600"/>
                  </a:lnTo>
                  <a:lnTo>
                    <a:pt x="2865" y="18409"/>
                  </a:lnTo>
                  <a:lnTo>
                    <a:pt x="5626" y="21600"/>
                  </a:lnTo>
                  <a:lnTo>
                    <a:pt x="5729" y="21600"/>
                  </a:lnTo>
                  <a:cubicBezTo>
                    <a:pt x="5712" y="17762"/>
                    <a:pt x="6968" y="13915"/>
                    <a:pt x="9503" y="10986"/>
                  </a:cubicBezTo>
                  <a:cubicBezTo>
                    <a:pt x="12020" y="8077"/>
                    <a:pt x="15316" y="6621"/>
                    <a:pt x="18615" y="6621"/>
                  </a:cubicBezTo>
                  <a:cubicBezTo>
                    <a:pt x="18636" y="6621"/>
                    <a:pt x="18657" y="6626"/>
                    <a:pt x="18678" y="6626"/>
                  </a:cubicBezTo>
                  <a:lnTo>
                    <a:pt x="18678" y="6502"/>
                  </a:lnTo>
                  <a:lnTo>
                    <a:pt x="18750" y="6584"/>
                  </a:lnTo>
                  <a:lnTo>
                    <a:pt x="21583" y="3310"/>
                  </a:lnTo>
                  <a:lnTo>
                    <a:pt x="18750" y="36"/>
                  </a:lnTo>
                  <a:lnTo>
                    <a:pt x="18678" y="119"/>
                  </a:lnTo>
                  <a:lnTo>
                    <a:pt x="18678" y="5"/>
                  </a:lnTo>
                  <a:cubicBezTo>
                    <a:pt x="18657" y="5"/>
                    <a:pt x="18636" y="0"/>
                    <a:pt x="18615" y="0"/>
                  </a:cubicBezTo>
                  <a:close/>
                </a:path>
              </a:pathLst>
            </a:custGeom>
            <a:solidFill>
              <a:schemeClr val="accent2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97" name="Shape"/>
            <p:cNvSpPr/>
            <p:nvPr/>
          </p:nvSpPr>
          <p:spPr>
            <a:xfrm rot="8100000">
              <a:off x="2486211" y="1614800"/>
              <a:ext cx="1913743" cy="16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600" extrusionOk="0">
                  <a:moveTo>
                    <a:pt x="18615" y="0"/>
                  </a:moveTo>
                  <a:cubicBezTo>
                    <a:pt x="13850" y="0"/>
                    <a:pt x="9083" y="2104"/>
                    <a:pt x="5447" y="6305"/>
                  </a:cubicBezTo>
                  <a:cubicBezTo>
                    <a:pt x="1795" y="10526"/>
                    <a:pt x="-17" y="16067"/>
                    <a:pt x="0" y="21600"/>
                  </a:cubicBezTo>
                  <a:lnTo>
                    <a:pt x="103" y="21600"/>
                  </a:lnTo>
                  <a:lnTo>
                    <a:pt x="2865" y="18409"/>
                  </a:lnTo>
                  <a:lnTo>
                    <a:pt x="5626" y="21600"/>
                  </a:lnTo>
                  <a:lnTo>
                    <a:pt x="5729" y="21600"/>
                  </a:lnTo>
                  <a:cubicBezTo>
                    <a:pt x="5712" y="17762"/>
                    <a:pt x="6968" y="13915"/>
                    <a:pt x="9503" y="10986"/>
                  </a:cubicBezTo>
                  <a:cubicBezTo>
                    <a:pt x="12020" y="8077"/>
                    <a:pt x="15316" y="6621"/>
                    <a:pt x="18615" y="6621"/>
                  </a:cubicBezTo>
                  <a:cubicBezTo>
                    <a:pt x="18636" y="6621"/>
                    <a:pt x="18657" y="6626"/>
                    <a:pt x="18678" y="6626"/>
                  </a:cubicBezTo>
                  <a:lnTo>
                    <a:pt x="18678" y="6502"/>
                  </a:lnTo>
                  <a:lnTo>
                    <a:pt x="18750" y="6584"/>
                  </a:lnTo>
                  <a:lnTo>
                    <a:pt x="21583" y="3310"/>
                  </a:lnTo>
                  <a:lnTo>
                    <a:pt x="18750" y="36"/>
                  </a:lnTo>
                  <a:lnTo>
                    <a:pt x="18678" y="119"/>
                  </a:lnTo>
                  <a:lnTo>
                    <a:pt x="18678" y="5"/>
                  </a:lnTo>
                  <a:cubicBezTo>
                    <a:pt x="18657" y="5"/>
                    <a:pt x="18636" y="0"/>
                    <a:pt x="18615" y="0"/>
                  </a:cubicBezTo>
                  <a:close/>
                </a:path>
              </a:pathLst>
            </a:custGeom>
            <a:solidFill>
              <a:srgbClr val="0048F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98" name="Shape"/>
            <p:cNvSpPr/>
            <p:nvPr/>
          </p:nvSpPr>
          <p:spPr>
            <a:xfrm rot="2700000">
              <a:off x="1486603" y="433896"/>
              <a:ext cx="1913743" cy="16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600" extrusionOk="0">
                  <a:moveTo>
                    <a:pt x="18615" y="0"/>
                  </a:moveTo>
                  <a:cubicBezTo>
                    <a:pt x="13850" y="0"/>
                    <a:pt x="9083" y="2104"/>
                    <a:pt x="5447" y="6305"/>
                  </a:cubicBezTo>
                  <a:cubicBezTo>
                    <a:pt x="1795" y="10526"/>
                    <a:pt x="-17" y="16067"/>
                    <a:pt x="0" y="21600"/>
                  </a:cubicBezTo>
                  <a:lnTo>
                    <a:pt x="103" y="21600"/>
                  </a:lnTo>
                  <a:lnTo>
                    <a:pt x="2865" y="18409"/>
                  </a:lnTo>
                  <a:lnTo>
                    <a:pt x="5626" y="21600"/>
                  </a:lnTo>
                  <a:lnTo>
                    <a:pt x="5729" y="21600"/>
                  </a:lnTo>
                  <a:cubicBezTo>
                    <a:pt x="5712" y="17762"/>
                    <a:pt x="6968" y="13915"/>
                    <a:pt x="9503" y="10986"/>
                  </a:cubicBezTo>
                  <a:cubicBezTo>
                    <a:pt x="12020" y="8077"/>
                    <a:pt x="15316" y="6621"/>
                    <a:pt x="18615" y="6621"/>
                  </a:cubicBezTo>
                  <a:cubicBezTo>
                    <a:pt x="18636" y="6621"/>
                    <a:pt x="18657" y="6626"/>
                    <a:pt x="18678" y="6626"/>
                  </a:cubicBezTo>
                  <a:lnTo>
                    <a:pt x="18678" y="6502"/>
                  </a:lnTo>
                  <a:lnTo>
                    <a:pt x="18750" y="6584"/>
                  </a:lnTo>
                  <a:lnTo>
                    <a:pt x="21583" y="3310"/>
                  </a:lnTo>
                  <a:lnTo>
                    <a:pt x="18750" y="36"/>
                  </a:lnTo>
                  <a:lnTo>
                    <a:pt x="18678" y="119"/>
                  </a:lnTo>
                  <a:lnTo>
                    <a:pt x="18678" y="5"/>
                  </a:lnTo>
                  <a:cubicBezTo>
                    <a:pt x="18657" y="5"/>
                    <a:pt x="18636" y="0"/>
                    <a:pt x="18615" y="0"/>
                  </a:cubicBezTo>
                  <a:close/>
                </a:path>
              </a:pathLst>
            </a:custGeom>
            <a:solidFill>
              <a:srgbClr val="535353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99" name="1. Planificación"/>
            <p:cNvSpPr txBox="1"/>
            <p:nvPr/>
          </p:nvSpPr>
          <p:spPr>
            <a:xfrm>
              <a:off x="1877504" y="842039"/>
              <a:ext cx="951562" cy="2526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1. Planificación</a:t>
              </a:r>
            </a:p>
          </p:txBody>
        </p:sp>
        <p:sp>
          <p:nvSpPr>
            <p:cNvPr id="700" name="Line"/>
            <p:cNvSpPr/>
            <p:nvPr/>
          </p:nvSpPr>
          <p:spPr>
            <a:xfrm flipH="1" flipV="1">
              <a:off x="1200745" y="2347440"/>
              <a:ext cx="2305080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01" name="Formación…"/>
            <p:cNvSpPr/>
            <p:nvPr/>
          </p:nvSpPr>
          <p:spPr>
            <a:xfrm>
              <a:off x="1717826" y="1717827"/>
              <a:ext cx="1270001" cy="127000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535353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Formación</a:t>
              </a:r>
            </a:p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Investigación</a:t>
              </a:r>
            </a:p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Vinculación</a:t>
              </a:r>
            </a:p>
          </p:txBody>
        </p:sp>
        <p:sp>
          <p:nvSpPr>
            <p:cNvPr id="702" name="2. Implementación"/>
            <p:cNvSpPr txBox="1"/>
            <p:nvPr/>
          </p:nvSpPr>
          <p:spPr>
            <a:xfrm rot="5400000">
              <a:off x="3173526" y="2213889"/>
              <a:ext cx="1127164" cy="25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2. Implementación</a:t>
              </a:r>
            </a:p>
          </p:txBody>
        </p:sp>
        <p:sp>
          <p:nvSpPr>
            <p:cNvPr id="703" name="3. Evaluación"/>
            <p:cNvSpPr txBox="1"/>
            <p:nvPr/>
          </p:nvSpPr>
          <p:spPr>
            <a:xfrm>
              <a:off x="1921466" y="3603114"/>
              <a:ext cx="835191" cy="2526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3. Evaluación</a:t>
              </a:r>
            </a:p>
          </p:txBody>
        </p:sp>
        <p:sp>
          <p:nvSpPr>
            <p:cNvPr id="704" name="4. Retroalimentación y mejora"/>
            <p:cNvSpPr txBox="1"/>
            <p:nvPr/>
          </p:nvSpPr>
          <p:spPr>
            <a:xfrm rot="16200000">
              <a:off x="198521" y="2131339"/>
              <a:ext cx="1556000" cy="4177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4. Retroalimentación y mejora</a:t>
              </a:r>
            </a:p>
          </p:txBody>
        </p:sp>
        <p:sp>
          <p:nvSpPr>
            <p:cNvPr id="705" name="PROCESOS Y SISTEMAS DE APOYO"/>
            <p:cNvSpPr txBox="1"/>
            <p:nvPr/>
          </p:nvSpPr>
          <p:spPr>
            <a:xfrm>
              <a:off x="1791640" y="2983129"/>
              <a:ext cx="1127824" cy="5450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PROCESOS Y SISTEMAS DE APOYO</a:t>
              </a:r>
            </a:p>
          </p:txBody>
        </p:sp>
        <p:sp>
          <p:nvSpPr>
            <p:cNvPr id="706" name="EJES ESTRATÉGICOS INSTITUCIONALES"/>
            <p:cNvSpPr txBox="1"/>
            <p:nvPr/>
          </p:nvSpPr>
          <p:spPr>
            <a:xfrm>
              <a:off x="1791640" y="1320541"/>
              <a:ext cx="1127824" cy="3926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EJES ESTRATÉGICOS INSTITUCIONALES</a:t>
              </a:r>
            </a:p>
          </p:txBody>
        </p:sp>
        <p:sp>
          <p:nvSpPr>
            <p:cNvPr id="707" name="EVALUACIÓN"/>
            <p:cNvSpPr txBox="1"/>
            <p:nvPr/>
          </p:nvSpPr>
          <p:spPr>
            <a:xfrm>
              <a:off x="1837569" y="391204"/>
              <a:ext cx="1056832" cy="3020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EVALUACIÓN</a:t>
              </a:r>
            </a:p>
          </p:txBody>
        </p:sp>
        <p:sp>
          <p:nvSpPr>
            <p:cNvPr id="708" name="SISTEMA DE ASEGURAMIENTO…"/>
            <p:cNvSpPr txBox="1"/>
            <p:nvPr/>
          </p:nvSpPr>
          <p:spPr>
            <a:xfrm>
              <a:off x="1162981" y="4001669"/>
              <a:ext cx="2371472" cy="5179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SISTEMA DE ASEGURAMIENTO</a:t>
              </a:r>
            </a:p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DE LA CALIDAD</a:t>
              </a:r>
            </a:p>
          </p:txBody>
        </p:sp>
        <p:cxnSp>
          <p:nvCxnSpPr>
            <p:cNvPr id="709" name="Connection Line"/>
            <p:cNvCxnSpPr>
              <a:stCxn id="708" idx="0"/>
              <a:endCxn id="707" idx="0"/>
            </p:cNvCxnSpPr>
            <p:nvPr/>
          </p:nvCxnSpPr>
          <p:spPr>
            <a:xfrm flipV="1">
              <a:off x="2349500" y="546100"/>
              <a:ext cx="12700" cy="3708400"/>
            </a:xfrm>
            <a:prstGeom prst="bentConnector3">
              <a:avLst>
                <a:gd name="adj1" fmla="val -14100000"/>
              </a:avLst>
            </a:prstGeom>
            <a:ln w="38100" cap="flat">
              <a:solidFill>
                <a:schemeClr val="accent2"/>
              </a:solidFill>
              <a:prstDash val="solid"/>
              <a:miter lim="800000"/>
              <a:tailEnd type="arrow" w="med" len="med"/>
            </a:ln>
            <a:effectLst/>
          </p:spPr>
        </p:cxnSp>
        <p:cxnSp>
          <p:nvCxnSpPr>
            <p:cNvPr id="710" name="Connection Line"/>
            <p:cNvCxnSpPr>
              <a:stCxn id="708" idx="0"/>
              <a:endCxn id="707" idx="0"/>
            </p:cNvCxnSpPr>
            <p:nvPr/>
          </p:nvCxnSpPr>
          <p:spPr>
            <a:xfrm flipV="1">
              <a:off x="2349500" y="546100"/>
              <a:ext cx="12700" cy="3708400"/>
            </a:xfrm>
            <a:prstGeom prst="bentConnector3">
              <a:avLst>
                <a:gd name="adj1" fmla="val 14200000"/>
              </a:avLst>
            </a:prstGeom>
            <a:ln w="38100" cap="flat">
              <a:solidFill>
                <a:schemeClr val="accent2"/>
              </a:solidFill>
              <a:prstDash val="solid"/>
              <a:miter lim="800000"/>
              <a:headEnd type="arrow" w="med" len="med"/>
            </a:ln>
            <a:effectLst/>
          </p:spPr>
        </p:cxnSp>
      </p:grpSp>
      <p:sp>
        <p:nvSpPr>
          <p:cNvPr id="712" name="CNA—2013"/>
          <p:cNvSpPr txBox="1"/>
          <p:nvPr/>
        </p:nvSpPr>
        <p:spPr>
          <a:xfrm>
            <a:off x="157773" y="822052"/>
            <a:ext cx="1385749" cy="426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CNA—2013</a:t>
            </a:r>
          </a:p>
        </p:txBody>
      </p:sp>
      <p:sp>
        <p:nvSpPr>
          <p:cNvPr id="713" name="CNA—2023"/>
          <p:cNvSpPr txBox="1"/>
          <p:nvPr/>
        </p:nvSpPr>
        <p:spPr>
          <a:xfrm>
            <a:off x="6600856" y="822052"/>
            <a:ext cx="1385748" cy="426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CNA—2023</a:t>
            </a:r>
          </a:p>
        </p:txBody>
      </p:sp>
      <p:grpSp>
        <p:nvGrpSpPr>
          <p:cNvPr id="720" name="Group"/>
          <p:cNvGrpSpPr/>
          <p:nvPr/>
        </p:nvGrpSpPr>
        <p:grpSpPr>
          <a:xfrm>
            <a:off x="850647" y="2993956"/>
            <a:ext cx="2425571" cy="2322920"/>
            <a:chOff x="0" y="0"/>
            <a:chExt cx="2425570" cy="2322918"/>
          </a:xfrm>
        </p:grpSpPr>
        <p:grpSp>
          <p:nvGrpSpPr>
            <p:cNvPr id="718" name="Group"/>
            <p:cNvGrpSpPr/>
            <p:nvPr/>
          </p:nvGrpSpPr>
          <p:grpSpPr>
            <a:xfrm>
              <a:off x="1464135" y="-1"/>
              <a:ext cx="961436" cy="2322920"/>
              <a:chOff x="0" y="0"/>
              <a:chExt cx="961435" cy="2322918"/>
            </a:xfrm>
          </p:grpSpPr>
          <p:sp>
            <p:nvSpPr>
              <p:cNvPr id="714" name="Levantamiento de indicadores"/>
              <p:cNvSpPr txBox="1"/>
              <p:nvPr/>
            </p:nvSpPr>
            <p:spPr>
              <a:xfrm rot="5400000">
                <a:off x="-943496" y="943495"/>
                <a:ext cx="2155838" cy="2688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defTabSz="1087437">
                  <a:lnSpc>
                    <a:spcPts val="1400"/>
                  </a:lnSpc>
                  <a:defRPr sz="1300"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lvl1pPr>
              </a:lstStyle>
              <a:p>
                <a:r>
                  <a:t>Levantamiento de indicadores</a:t>
                </a:r>
              </a:p>
            </p:txBody>
          </p:sp>
          <p:sp>
            <p:nvSpPr>
              <p:cNvPr id="715" name="Toma y análisis de encuestas"/>
              <p:cNvSpPr txBox="1"/>
              <p:nvPr/>
            </p:nvSpPr>
            <p:spPr>
              <a:xfrm rot="5400000">
                <a:off x="-695726" y="923766"/>
                <a:ext cx="2116380" cy="2688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defTabSz="1087437">
                  <a:lnSpc>
                    <a:spcPts val="1400"/>
                  </a:lnSpc>
                  <a:defRPr sz="1300"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lvl1pPr>
              </a:lstStyle>
              <a:p>
                <a:r>
                  <a:t>Toma y análisis de encuestas</a:t>
                </a:r>
              </a:p>
            </p:txBody>
          </p:sp>
          <p:sp>
            <p:nvSpPr>
              <p:cNvPr id="716" name="Autoevaluación y plan de mejora"/>
              <p:cNvSpPr txBox="1"/>
              <p:nvPr/>
            </p:nvSpPr>
            <p:spPr>
              <a:xfrm rot="5400000">
                <a:off x="-557995" y="1027036"/>
                <a:ext cx="2322920" cy="2688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defTabSz="1087437">
                  <a:lnSpc>
                    <a:spcPts val="1400"/>
                  </a:lnSpc>
                  <a:defRPr sz="1300"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lvl1pPr>
              </a:lstStyle>
              <a:p>
                <a:r>
                  <a:t>Autoevaluación y plan de mejora</a:t>
                </a:r>
              </a:p>
            </p:txBody>
          </p:sp>
          <p:sp>
            <p:nvSpPr>
              <p:cNvPr id="717" name="Evaluación"/>
              <p:cNvSpPr txBox="1"/>
              <p:nvPr/>
            </p:nvSpPr>
            <p:spPr>
              <a:xfrm rot="5400000">
                <a:off x="409740" y="282848"/>
                <a:ext cx="834544" cy="2688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defTabSz="1087437">
                  <a:lnSpc>
                    <a:spcPts val="1400"/>
                  </a:lnSpc>
                  <a:defRPr sz="1300"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lvl1pPr>
              </a:lstStyle>
              <a:p>
                <a:r>
                  <a:t>Evaluación</a:t>
                </a:r>
              </a:p>
            </p:txBody>
          </p:sp>
        </p:grpSp>
        <p:sp>
          <p:nvSpPr>
            <p:cNvPr id="719" name="Resultado de acreditación"/>
            <p:cNvSpPr txBox="1"/>
            <p:nvPr/>
          </p:nvSpPr>
          <p:spPr>
            <a:xfrm rot="5400000">
              <a:off x="-811664" y="811663"/>
              <a:ext cx="1892174" cy="268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defTabSz="1087437">
                <a:lnSpc>
                  <a:spcPts val="1400"/>
                </a:lnSpc>
                <a:defRPr sz="1300"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lvl1pPr>
            </a:lstStyle>
            <a:p>
              <a:r>
                <a:t>Resultado de acreditación</a:t>
              </a:r>
            </a:p>
          </p:txBody>
        </p:sp>
      </p:grpSp>
      <p:grpSp>
        <p:nvGrpSpPr>
          <p:cNvPr id="727" name="Group"/>
          <p:cNvGrpSpPr/>
          <p:nvPr/>
        </p:nvGrpSpPr>
        <p:grpSpPr>
          <a:xfrm>
            <a:off x="3411011" y="2993956"/>
            <a:ext cx="2425572" cy="2322920"/>
            <a:chOff x="0" y="0"/>
            <a:chExt cx="2425570" cy="2322918"/>
          </a:xfrm>
        </p:grpSpPr>
        <p:grpSp>
          <p:nvGrpSpPr>
            <p:cNvPr id="725" name="Group"/>
            <p:cNvGrpSpPr/>
            <p:nvPr/>
          </p:nvGrpSpPr>
          <p:grpSpPr>
            <a:xfrm>
              <a:off x="1464135" y="-1"/>
              <a:ext cx="961436" cy="2322920"/>
              <a:chOff x="0" y="0"/>
              <a:chExt cx="961435" cy="2322918"/>
            </a:xfrm>
          </p:grpSpPr>
          <p:sp>
            <p:nvSpPr>
              <p:cNvPr id="721" name="Levantamiento de indicadores"/>
              <p:cNvSpPr txBox="1"/>
              <p:nvPr/>
            </p:nvSpPr>
            <p:spPr>
              <a:xfrm rot="5400000">
                <a:off x="-943496" y="943495"/>
                <a:ext cx="2155838" cy="2688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defTabSz="1087437">
                  <a:lnSpc>
                    <a:spcPts val="1400"/>
                  </a:lnSpc>
                  <a:defRPr sz="1300"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lvl1pPr>
              </a:lstStyle>
              <a:p>
                <a:r>
                  <a:t>Levantamiento de indicadores</a:t>
                </a:r>
              </a:p>
            </p:txBody>
          </p:sp>
          <p:sp>
            <p:nvSpPr>
              <p:cNvPr id="722" name="Toma y análisis de encuestas"/>
              <p:cNvSpPr txBox="1"/>
              <p:nvPr/>
            </p:nvSpPr>
            <p:spPr>
              <a:xfrm rot="5400000">
                <a:off x="-695726" y="923766"/>
                <a:ext cx="2116380" cy="2688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defTabSz="1087437">
                  <a:lnSpc>
                    <a:spcPts val="1400"/>
                  </a:lnSpc>
                  <a:defRPr sz="1300"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lvl1pPr>
              </a:lstStyle>
              <a:p>
                <a:r>
                  <a:t>Toma y análisis de encuestas</a:t>
                </a:r>
              </a:p>
            </p:txBody>
          </p:sp>
          <p:sp>
            <p:nvSpPr>
              <p:cNvPr id="723" name="Autoevaluación y plan de mejora"/>
              <p:cNvSpPr txBox="1"/>
              <p:nvPr/>
            </p:nvSpPr>
            <p:spPr>
              <a:xfrm rot="5400000">
                <a:off x="-557995" y="1027036"/>
                <a:ext cx="2322920" cy="2688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defTabSz="1087437">
                  <a:lnSpc>
                    <a:spcPts val="1400"/>
                  </a:lnSpc>
                  <a:defRPr sz="1300"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lvl1pPr>
              </a:lstStyle>
              <a:p>
                <a:r>
                  <a:t>Autoevaluación y plan de mejora</a:t>
                </a:r>
              </a:p>
            </p:txBody>
          </p:sp>
          <p:sp>
            <p:nvSpPr>
              <p:cNvPr id="724" name="Evaluación"/>
              <p:cNvSpPr txBox="1"/>
              <p:nvPr/>
            </p:nvSpPr>
            <p:spPr>
              <a:xfrm rot="5400000">
                <a:off x="409740" y="282848"/>
                <a:ext cx="834544" cy="2688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defTabSz="1087437">
                  <a:lnSpc>
                    <a:spcPts val="1400"/>
                  </a:lnSpc>
                  <a:defRPr sz="1300"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lvl1pPr>
              </a:lstStyle>
              <a:p>
                <a:r>
                  <a:t>Evaluación</a:t>
                </a:r>
              </a:p>
            </p:txBody>
          </p:sp>
        </p:grpSp>
        <p:sp>
          <p:nvSpPr>
            <p:cNvPr id="726" name="Resultado de acreditación"/>
            <p:cNvSpPr txBox="1"/>
            <p:nvPr/>
          </p:nvSpPr>
          <p:spPr>
            <a:xfrm rot="5400000">
              <a:off x="-811664" y="811663"/>
              <a:ext cx="1892174" cy="268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defTabSz="1087437">
                <a:lnSpc>
                  <a:spcPts val="1400"/>
                </a:lnSpc>
                <a:defRPr sz="1300">
                  <a:latin typeface="Helvetica Neue Thin"/>
                  <a:ea typeface="Helvetica Neue Thin"/>
                  <a:cs typeface="Helvetica Neue Thin"/>
                  <a:sym typeface="Helvetica Neue Thin"/>
                </a:defRPr>
              </a:lvl1pPr>
            </a:lstStyle>
            <a:p>
              <a:r>
                <a:t>Resultado de acreditación</a:t>
              </a:r>
            </a:p>
          </p:txBody>
        </p:sp>
      </p:grpSp>
      <p:sp>
        <p:nvSpPr>
          <p:cNvPr id="728" name="Arrow"/>
          <p:cNvSpPr/>
          <p:nvPr/>
        </p:nvSpPr>
        <p:spPr>
          <a:xfrm>
            <a:off x="3416009" y="2422544"/>
            <a:ext cx="2536798" cy="559946"/>
          </a:xfrm>
          <a:prstGeom prst="rightArrow">
            <a:avLst>
              <a:gd name="adj1" fmla="val 44151"/>
              <a:gd name="adj2" fmla="val 79863"/>
            </a:avLst>
          </a:prstGeom>
          <a:gradFill>
            <a:gsLst>
              <a:gs pos="37114">
                <a:schemeClr val="accent1"/>
              </a:gs>
              <a:gs pos="77910">
                <a:srgbClr val="99787B"/>
              </a:gs>
              <a:gs pos="81474">
                <a:schemeClr val="accent2"/>
              </a:gs>
            </a:gsLst>
          </a:gradFill>
          <a:ln w="12700">
            <a:solidFill>
              <a:srgbClr val="53535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Screenshot 2026-07-13 at 6.24.26 PM.png" descr="Screenshot 2026-07-13 at 6.24.26 PM.png"/>
          <p:cNvPicPr>
            <a:picLocks noChangeAspect="1"/>
          </p:cNvPicPr>
          <p:nvPr/>
        </p:nvPicPr>
        <p:blipFill>
          <a:blip r:embed="rId2"/>
          <a:srcRect b="28810"/>
          <a:stretch>
            <a:fillRect/>
          </a:stretch>
        </p:blipFill>
        <p:spPr>
          <a:xfrm>
            <a:off x="6183288" y="2712152"/>
            <a:ext cx="5387664" cy="26420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47" name="Group"/>
          <p:cNvGrpSpPr/>
          <p:nvPr/>
        </p:nvGrpSpPr>
        <p:grpSpPr>
          <a:xfrm>
            <a:off x="1049613" y="588625"/>
            <a:ext cx="4705655" cy="4705656"/>
            <a:chOff x="0" y="0"/>
            <a:chExt cx="4705653" cy="4705654"/>
          </a:xfrm>
        </p:grpSpPr>
        <p:sp>
          <p:nvSpPr>
            <p:cNvPr id="731" name="Shape"/>
            <p:cNvSpPr/>
            <p:nvPr/>
          </p:nvSpPr>
          <p:spPr>
            <a:xfrm rot="18900000">
              <a:off x="305700" y="1433503"/>
              <a:ext cx="1913743" cy="16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600" extrusionOk="0">
                  <a:moveTo>
                    <a:pt x="18615" y="0"/>
                  </a:moveTo>
                  <a:cubicBezTo>
                    <a:pt x="13850" y="0"/>
                    <a:pt x="9083" y="2104"/>
                    <a:pt x="5447" y="6305"/>
                  </a:cubicBezTo>
                  <a:cubicBezTo>
                    <a:pt x="1795" y="10526"/>
                    <a:pt x="-17" y="16067"/>
                    <a:pt x="0" y="21600"/>
                  </a:cubicBezTo>
                  <a:lnTo>
                    <a:pt x="103" y="21600"/>
                  </a:lnTo>
                  <a:lnTo>
                    <a:pt x="2865" y="18409"/>
                  </a:lnTo>
                  <a:lnTo>
                    <a:pt x="5626" y="21600"/>
                  </a:lnTo>
                  <a:lnTo>
                    <a:pt x="5729" y="21600"/>
                  </a:lnTo>
                  <a:cubicBezTo>
                    <a:pt x="5712" y="17762"/>
                    <a:pt x="6968" y="13915"/>
                    <a:pt x="9503" y="10986"/>
                  </a:cubicBezTo>
                  <a:cubicBezTo>
                    <a:pt x="12020" y="8077"/>
                    <a:pt x="15316" y="6621"/>
                    <a:pt x="18615" y="6621"/>
                  </a:cubicBezTo>
                  <a:cubicBezTo>
                    <a:pt x="18636" y="6621"/>
                    <a:pt x="18657" y="6626"/>
                    <a:pt x="18678" y="6626"/>
                  </a:cubicBezTo>
                  <a:lnTo>
                    <a:pt x="18678" y="6502"/>
                  </a:lnTo>
                  <a:lnTo>
                    <a:pt x="18750" y="6584"/>
                  </a:lnTo>
                  <a:lnTo>
                    <a:pt x="21583" y="3310"/>
                  </a:lnTo>
                  <a:lnTo>
                    <a:pt x="18750" y="36"/>
                  </a:lnTo>
                  <a:lnTo>
                    <a:pt x="18678" y="119"/>
                  </a:lnTo>
                  <a:lnTo>
                    <a:pt x="18678" y="5"/>
                  </a:lnTo>
                  <a:cubicBezTo>
                    <a:pt x="18657" y="5"/>
                    <a:pt x="18636" y="0"/>
                    <a:pt x="18615" y="0"/>
                  </a:cubicBezTo>
                  <a:close/>
                </a:path>
              </a:pathLst>
            </a:custGeom>
            <a:solidFill>
              <a:srgbClr val="01A499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2" name="Shape"/>
            <p:cNvSpPr/>
            <p:nvPr/>
          </p:nvSpPr>
          <p:spPr>
            <a:xfrm rot="13500000">
              <a:off x="1305307" y="2614407"/>
              <a:ext cx="1913743" cy="16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600" extrusionOk="0">
                  <a:moveTo>
                    <a:pt x="18615" y="0"/>
                  </a:moveTo>
                  <a:cubicBezTo>
                    <a:pt x="13850" y="0"/>
                    <a:pt x="9083" y="2104"/>
                    <a:pt x="5447" y="6305"/>
                  </a:cubicBezTo>
                  <a:cubicBezTo>
                    <a:pt x="1795" y="10526"/>
                    <a:pt x="-17" y="16067"/>
                    <a:pt x="0" y="21600"/>
                  </a:cubicBezTo>
                  <a:lnTo>
                    <a:pt x="103" y="21600"/>
                  </a:lnTo>
                  <a:lnTo>
                    <a:pt x="2865" y="18409"/>
                  </a:lnTo>
                  <a:lnTo>
                    <a:pt x="5626" y="21600"/>
                  </a:lnTo>
                  <a:lnTo>
                    <a:pt x="5729" y="21600"/>
                  </a:lnTo>
                  <a:cubicBezTo>
                    <a:pt x="5712" y="17762"/>
                    <a:pt x="6968" y="13915"/>
                    <a:pt x="9503" y="10986"/>
                  </a:cubicBezTo>
                  <a:cubicBezTo>
                    <a:pt x="12020" y="8077"/>
                    <a:pt x="15316" y="6621"/>
                    <a:pt x="18615" y="6621"/>
                  </a:cubicBezTo>
                  <a:cubicBezTo>
                    <a:pt x="18636" y="6621"/>
                    <a:pt x="18657" y="6626"/>
                    <a:pt x="18678" y="6626"/>
                  </a:cubicBezTo>
                  <a:lnTo>
                    <a:pt x="18678" y="6502"/>
                  </a:lnTo>
                  <a:lnTo>
                    <a:pt x="18750" y="6584"/>
                  </a:lnTo>
                  <a:lnTo>
                    <a:pt x="21583" y="3310"/>
                  </a:lnTo>
                  <a:lnTo>
                    <a:pt x="18750" y="36"/>
                  </a:lnTo>
                  <a:lnTo>
                    <a:pt x="18678" y="119"/>
                  </a:lnTo>
                  <a:lnTo>
                    <a:pt x="18678" y="5"/>
                  </a:lnTo>
                  <a:cubicBezTo>
                    <a:pt x="18657" y="5"/>
                    <a:pt x="18636" y="0"/>
                    <a:pt x="18615" y="0"/>
                  </a:cubicBezTo>
                  <a:close/>
                </a:path>
              </a:pathLst>
            </a:custGeom>
            <a:solidFill>
              <a:schemeClr val="accent2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3" name="Shape"/>
            <p:cNvSpPr/>
            <p:nvPr/>
          </p:nvSpPr>
          <p:spPr>
            <a:xfrm rot="8100000">
              <a:off x="2486211" y="1614800"/>
              <a:ext cx="1913743" cy="16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600" extrusionOk="0">
                  <a:moveTo>
                    <a:pt x="18615" y="0"/>
                  </a:moveTo>
                  <a:cubicBezTo>
                    <a:pt x="13850" y="0"/>
                    <a:pt x="9083" y="2104"/>
                    <a:pt x="5447" y="6305"/>
                  </a:cubicBezTo>
                  <a:cubicBezTo>
                    <a:pt x="1795" y="10526"/>
                    <a:pt x="-17" y="16067"/>
                    <a:pt x="0" y="21600"/>
                  </a:cubicBezTo>
                  <a:lnTo>
                    <a:pt x="103" y="21600"/>
                  </a:lnTo>
                  <a:lnTo>
                    <a:pt x="2865" y="18409"/>
                  </a:lnTo>
                  <a:lnTo>
                    <a:pt x="5626" y="21600"/>
                  </a:lnTo>
                  <a:lnTo>
                    <a:pt x="5729" y="21600"/>
                  </a:lnTo>
                  <a:cubicBezTo>
                    <a:pt x="5712" y="17762"/>
                    <a:pt x="6968" y="13915"/>
                    <a:pt x="9503" y="10986"/>
                  </a:cubicBezTo>
                  <a:cubicBezTo>
                    <a:pt x="12020" y="8077"/>
                    <a:pt x="15316" y="6621"/>
                    <a:pt x="18615" y="6621"/>
                  </a:cubicBezTo>
                  <a:cubicBezTo>
                    <a:pt x="18636" y="6621"/>
                    <a:pt x="18657" y="6626"/>
                    <a:pt x="18678" y="6626"/>
                  </a:cubicBezTo>
                  <a:lnTo>
                    <a:pt x="18678" y="6502"/>
                  </a:lnTo>
                  <a:lnTo>
                    <a:pt x="18750" y="6584"/>
                  </a:lnTo>
                  <a:lnTo>
                    <a:pt x="21583" y="3310"/>
                  </a:lnTo>
                  <a:lnTo>
                    <a:pt x="18750" y="36"/>
                  </a:lnTo>
                  <a:lnTo>
                    <a:pt x="18678" y="119"/>
                  </a:lnTo>
                  <a:lnTo>
                    <a:pt x="18678" y="5"/>
                  </a:lnTo>
                  <a:cubicBezTo>
                    <a:pt x="18657" y="5"/>
                    <a:pt x="18636" y="0"/>
                    <a:pt x="18615" y="0"/>
                  </a:cubicBezTo>
                  <a:close/>
                </a:path>
              </a:pathLst>
            </a:custGeom>
            <a:solidFill>
              <a:srgbClr val="0048F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4" name="Shape"/>
            <p:cNvSpPr/>
            <p:nvPr/>
          </p:nvSpPr>
          <p:spPr>
            <a:xfrm rot="2700000">
              <a:off x="1486603" y="433896"/>
              <a:ext cx="1913743" cy="16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600" extrusionOk="0">
                  <a:moveTo>
                    <a:pt x="18615" y="0"/>
                  </a:moveTo>
                  <a:cubicBezTo>
                    <a:pt x="13850" y="0"/>
                    <a:pt x="9083" y="2104"/>
                    <a:pt x="5447" y="6305"/>
                  </a:cubicBezTo>
                  <a:cubicBezTo>
                    <a:pt x="1795" y="10526"/>
                    <a:pt x="-17" y="16067"/>
                    <a:pt x="0" y="21600"/>
                  </a:cubicBezTo>
                  <a:lnTo>
                    <a:pt x="103" y="21600"/>
                  </a:lnTo>
                  <a:lnTo>
                    <a:pt x="2865" y="18409"/>
                  </a:lnTo>
                  <a:lnTo>
                    <a:pt x="5626" y="21600"/>
                  </a:lnTo>
                  <a:lnTo>
                    <a:pt x="5729" y="21600"/>
                  </a:lnTo>
                  <a:cubicBezTo>
                    <a:pt x="5712" y="17762"/>
                    <a:pt x="6968" y="13915"/>
                    <a:pt x="9503" y="10986"/>
                  </a:cubicBezTo>
                  <a:cubicBezTo>
                    <a:pt x="12020" y="8077"/>
                    <a:pt x="15316" y="6621"/>
                    <a:pt x="18615" y="6621"/>
                  </a:cubicBezTo>
                  <a:cubicBezTo>
                    <a:pt x="18636" y="6621"/>
                    <a:pt x="18657" y="6626"/>
                    <a:pt x="18678" y="6626"/>
                  </a:cubicBezTo>
                  <a:lnTo>
                    <a:pt x="18678" y="6502"/>
                  </a:lnTo>
                  <a:lnTo>
                    <a:pt x="18750" y="6584"/>
                  </a:lnTo>
                  <a:lnTo>
                    <a:pt x="21583" y="3310"/>
                  </a:lnTo>
                  <a:lnTo>
                    <a:pt x="18750" y="36"/>
                  </a:lnTo>
                  <a:lnTo>
                    <a:pt x="18678" y="119"/>
                  </a:lnTo>
                  <a:lnTo>
                    <a:pt x="18678" y="5"/>
                  </a:lnTo>
                  <a:cubicBezTo>
                    <a:pt x="18657" y="5"/>
                    <a:pt x="18636" y="0"/>
                    <a:pt x="18615" y="0"/>
                  </a:cubicBezTo>
                  <a:close/>
                </a:path>
              </a:pathLst>
            </a:custGeom>
            <a:solidFill>
              <a:srgbClr val="535353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5" name="1. Planificación"/>
            <p:cNvSpPr txBox="1"/>
            <p:nvPr/>
          </p:nvSpPr>
          <p:spPr>
            <a:xfrm>
              <a:off x="1877504" y="842039"/>
              <a:ext cx="951562" cy="2526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1. Planificación</a:t>
              </a:r>
            </a:p>
          </p:txBody>
        </p:sp>
        <p:sp>
          <p:nvSpPr>
            <p:cNvPr id="736" name="Line"/>
            <p:cNvSpPr/>
            <p:nvPr/>
          </p:nvSpPr>
          <p:spPr>
            <a:xfrm flipH="1" flipV="1">
              <a:off x="1200745" y="2347440"/>
              <a:ext cx="2305080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37" name="Formación…"/>
            <p:cNvSpPr/>
            <p:nvPr/>
          </p:nvSpPr>
          <p:spPr>
            <a:xfrm>
              <a:off x="1717826" y="1717827"/>
              <a:ext cx="1270001" cy="127000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535353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Formación</a:t>
              </a:r>
            </a:p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Investigación</a:t>
              </a:r>
            </a:p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Vinculación</a:t>
              </a:r>
            </a:p>
          </p:txBody>
        </p:sp>
        <p:sp>
          <p:nvSpPr>
            <p:cNvPr id="738" name="2. Implementación"/>
            <p:cNvSpPr txBox="1"/>
            <p:nvPr/>
          </p:nvSpPr>
          <p:spPr>
            <a:xfrm rot="5400000">
              <a:off x="3173526" y="2213889"/>
              <a:ext cx="1127164" cy="25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2. Implementación</a:t>
              </a:r>
            </a:p>
          </p:txBody>
        </p:sp>
        <p:sp>
          <p:nvSpPr>
            <p:cNvPr id="739" name="3. Evaluación"/>
            <p:cNvSpPr txBox="1"/>
            <p:nvPr/>
          </p:nvSpPr>
          <p:spPr>
            <a:xfrm>
              <a:off x="1921466" y="3603114"/>
              <a:ext cx="835191" cy="2526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3. Evaluación</a:t>
              </a:r>
            </a:p>
          </p:txBody>
        </p:sp>
        <p:sp>
          <p:nvSpPr>
            <p:cNvPr id="740" name="4. Retroalimentación y mejora"/>
            <p:cNvSpPr txBox="1"/>
            <p:nvPr/>
          </p:nvSpPr>
          <p:spPr>
            <a:xfrm rot="16200000">
              <a:off x="198521" y="2131339"/>
              <a:ext cx="1556000" cy="4177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4. Retroalimentación y mejora</a:t>
              </a:r>
            </a:p>
          </p:txBody>
        </p:sp>
        <p:sp>
          <p:nvSpPr>
            <p:cNvPr id="741" name="PROCESOS Y SISTEMAS DE APOYO"/>
            <p:cNvSpPr txBox="1"/>
            <p:nvPr/>
          </p:nvSpPr>
          <p:spPr>
            <a:xfrm>
              <a:off x="1791640" y="2983129"/>
              <a:ext cx="1127824" cy="5450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PROCESOS Y SISTEMAS DE APOYO</a:t>
              </a:r>
            </a:p>
          </p:txBody>
        </p:sp>
        <p:sp>
          <p:nvSpPr>
            <p:cNvPr id="742" name="EJES ESTRATÉGICOS INSTITUCIONALES"/>
            <p:cNvSpPr txBox="1"/>
            <p:nvPr/>
          </p:nvSpPr>
          <p:spPr>
            <a:xfrm>
              <a:off x="1791640" y="1320541"/>
              <a:ext cx="1127824" cy="3926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EJES ESTRATÉGICOS INSTITUCIONALES</a:t>
              </a:r>
            </a:p>
          </p:txBody>
        </p:sp>
        <p:sp>
          <p:nvSpPr>
            <p:cNvPr id="743" name="EVALUACIÓN"/>
            <p:cNvSpPr txBox="1"/>
            <p:nvPr/>
          </p:nvSpPr>
          <p:spPr>
            <a:xfrm>
              <a:off x="1837569" y="391204"/>
              <a:ext cx="1056832" cy="3020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lvl1pPr>
            </a:lstStyle>
            <a:p>
              <a:r>
                <a:t>EVALUACIÓN</a:t>
              </a:r>
            </a:p>
          </p:txBody>
        </p:sp>
        <p:sp>
          <p:nvSpPr>
            <p:cNvPr id="744" name="SISTEMA DE ASEGURAMIENTO…"/>
            <p:cNvSpPr txBox="1"/>
            <p:nvPr/>
          </p:nvSpPr>
          <p:spPr>
            <a:xfrm>
              <a:off x="1162981" y="4001669"/>
              <a:ext cx="2371472" cy="5179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SISTEMA DE ASEGURAMIENTO</a:t>
              </a:r>
            </a:p>
            <a:p>
              <a:pPr algn="ctr">
                <a:defRPr sz="1500"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t>DE LA CALIDAD</a:t>
              </a:r>
            </a:p>
          </p:txBody>
        </p:sp>
        <p:cxnSp>
          <p:nvCxnSpPr>
            <p:cNvPr id="745" name="Connection Line"/>
            <p:cNvCxnSpPr>
              <a:stCxn id="744" idx="0"/>
              <a:endCxn id="743" idx="0"/>
            </p:cNvCxnSpPr>
            <p:nvPr/>
          </p:nvCxnSpPr>
          <p:spPr>
            <a:xfrm flipV="1">
              <a:off x="2349500" y="546100"/>
              <a:ext cx="12700" cy="3708400"/>
            </a:xfrm>
            <a:prstGeom prst="bentConnector3">
              <a:avLst>
                <a:gd name="adj1" fmla="val -14100000"/>
              </a:avLst>
            </a:prstGeom>
            <a:ln w="38100" cap="flat">
              <a:solidFill>
                <a:schemeClr val="accent2"/>
              </a:solidFill>
              <a:prstDash val="solid"/>
              <a:miter lim="800000"/>
              <a:tailEnd type="arrow" w="med" len="med"/>
            </a:ln>
            <a:effectLst/>
          </p:spPr>
        </p:cxnSp>
        <p:cxnSp>
          <p:nvCxnSpPr>
            <p:cNvPr id="746" name="Connection Line"/>
            <p:cNvCxnSpPr>
              <a:stCxn id="744" idx="0"/>
              <a:endCxn id="743" idx="0"/>
            </p:cNvCxnSpPr>
            <p:nvPr/>
          </p:nvCxnSpPr>
          <p:spPr>
            <a:xfrm flipV="1">
              <a:off x="2349500" y="546100"/>
              <a:ext cx="12700" cy="3708400"/>
            </a:xfrm>
            <a:prstGeom prst="bentConnector3">
              <a:avLst>
                <a:gd name="adj1" fmla="val 14200000"/>
              </a:avLst>
            </a:prstGeom>
            <a:ln w="38100" cap="flat">
              <a:solidFill>
                <a:schemeClr val="accent2"/>
              </a:solidFill>
              <a:prstDash val="solid"/>
              <a:miter lim="800000"/>
              <a:headEnd type="arrow" w="med" len="med"/>
            </a:ln>
            <a:effectLst/>
          </p:spPr>
        </p:cxnSp>
      </p:grpSp>
      <p:sp>
        <p:nvSpPr>
          <p:cNvPr id="748" name="CNA—2023"/>
          <p:cNvSpPr txBox="1"/>
          <p:nvPr/>
        </p:nvSpPr>
        <p:spPr>
          <a:xfrm>
            <a:off x="157773" y="822052"/>
            <a:ext cx="1385749" cy="426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CNA—2023</a:t>
            </a:r>
          </a:p>
        </p:txBody>
      </p:sp>
      <p:sp>
        <p:nvSpPr>
          <p:cNvPr id="749" name="✅ Pedagogías…"/>
          <p:cNvSpPr txBox="1"/>
          <p:nvPr/>
        </p:nvSpPr>
        <p:spPr>
          <a:xfrm>
            <a:off x="6285924" y="1472099"/>
            <a:ext cx="5182306" cy="1045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numCol="2" spcCol="259115"/>
          <a:lstStyle/>
          <a:p>
            <a:pPr>
              <a:lnSpc>
                <a:spcPct val="50000"/>
              </a:lnSpc>
              <a:spcBef>
                <a:spcPts val="1000"/>
              </a:spcBef>
              <a:defRPr sz="15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✅ Pedagogías</a:t>
            </a:r>
          </a:p>
          <a:p>
            <a:pPr>
              <a:lnSpc>
                <a:spcPct val="50000"/>
              </a:lnSpc>
              <a:spcBef>
                <a:spcPts val="1000"/>
              </a:spcBef>
              <a:defRPr sz="15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✅ Medicina</a:t>
            </a:r>
          </a:p>
          <a:p>
            <a:pPr>
              <a:lnSpc>
                <a:spcPct val="50000"/>
              </a:lnSpc>
              <a:spcBef>
                <a:spcPts val="1000"/>
              </a:spcBef>
              <a:defRPr sz="15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✅ Postgrado</a:t>
            </a:r>
          </a:p>
          <a:p>
            <a:pPr>
              <a:lnSpc>
                <a:spcPct val="50000"/>
              </a:lnSpc>
              <a:spcBef>
                <a:spcPts val="1000"/>
              </a:spcBef>
              <a:defRPr sz="15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✅ Especialidades Médicas</a:t>
            </a:r>
          </a:p>
          <a:p>
            <a:pPr>
              <a:lnSpc>
                <a:spcPct val="50000"/>
              </a:lnSpc>
              <a:spcBef>
                <a:spcPts val="1000"/>
              </a:spcBef>
              <a:defRPr sz="15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endParaRPr/>
          </a:p>
          <a:p>
            <a:pPr>
              <a:lnSpc>
                <a:spcPct val="50000"/>
              </a:lnSpc>
              <a:spcBef>
                <a:spcPts val="1000"/>
              </a:spcBef>
              <a:defRPr sz="15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⚠️ Pregrado No obligatorio</a:t>
            </a:r>
          </a:p>
        </p:txBody>
      </p:sp>
      <p:sp>
        <p:nvSpPr>
          <p:cNvPr id="750" name="Ciclo de mejoramiento continuo (no actualizado)"/>
          <p:cNvSpPr txBox="1"/>
          <p:nvPr/>
        </p:nvSpPr>
        <p:spPr>
          <a:xfrm>
            <a:off x="6285924" y="822052"/>
            <a:ext cx="5147413" cy="426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>
                <a:solidFill>
                  <a:srgbClr val="394049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Ciclo de mejoramiento continuo </a:t>
            </a:r>
            <a:r>
              <a:rPr sz="1800"/>
              <a:t>(no actualizado)</a:t>
            </a:r>
          </a:p>
        </p:txBody>
      </p:sp>
      <p:sp>
        <p:nvSpPr>
          <p:cNvPr id="751" name="Leyes 20.129, 20.903, 21.091"/>
          <p:cNvSpPr txBox="1"/>
          <p:nvPr/>
        </p:nvSpPr>
        <p:spPr>
          <a:xfrm>
            <a:off x="6285924" y="1169916"/>
            <a:ext cx="2466570" cy="302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400">
                <a:solidFill>
                  <a:srgbClr val="394049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>
              <a:defRPr sz="1800"/>
            </a:pPr>
            <a:r>
              <a:rPr sz="1400"/>
              <a:t>Leyes 20.129, 20.903, 21.091 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unknown.png" descr="unknown.png"/>
          <p:cNvPicPr>
            <a:picLocks noChangeAspect="1"/>
          </p:cNvPicPr>
          <p:nvPr/>
        </p:nvPicPr>
        <p:blipFill>
          <a:blip r:embed="rId2"/>
          <a:srcRect b="3967"/>
          <a:stretch>
            <a:fillRect/>
          </a:stretch>
        </p:blipFill>
        <p:spPr>
          <a:xfrm>
            <a:off x="2316849" y="191204"/>
            <a:ext cx="8041539" cy="57918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Estado al 2020…"/>
          <p:cNvSpPr txBox="1"/>
          <p:nvPr/>
        </p:nvSpPr>
        <p:spPr>
          <a:xfrm>
            <a:off x="238535" y="142939"/>
            <a:ext cx="5584634" cy="584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Tres mecanismos de evaluación de carreras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MEC (Modelo de Evaluación Curricular). Programas/carreras (7 dimensiones). Proceso de 6-12 meses; aplicado en 42 carreras (~60% cobertura, 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Sistema de Evaluación de la Docencia. Gestionado por Unidades Académicas + Área Docencia UNIE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Seguimiento a la Trayectoria. A cargo de PAIEP y unidades de soporte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Acreditación de Carreras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Progresión sostenida: 65% (2014) → 73% (2018) → 100% (2019), con las 11 carreras de acreditación obligatoria ese año.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Promedio de acreditación subió de 4,9 a 5,4 años.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Desde 2019, nuevo Subsistema de Autoevaluación Interno para carreras sin obligatoriedad (suspendida hasta 2025 por Ley 21.091).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Innovación Curricular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Proceso de 6 etapas (diagnóstico → perfil egreso/ingreso → estructura curricular SCT-Chile → normativa → programas). Estado al cierre del período: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59,7% innovadas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15,3% en proceso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12,5% creadas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6,9% evaluadas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5,6% no innovadas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Pedagogía: completó innovación en los últimos 3 años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Articulación Pregrado-Postgrado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Dos modalidades formalizadas: simultánea (Diplomados, Minors, electivas) y progresiva (secuencial). Soportado por SCT-Chile, sistema en que USACH fue pionera en el CRUCH.</a:t>
            </a:r>
          </a:p>
        </p:txBody>
      </p:sp>
      <p:sp>
        <p:nvSpPr>
          <p:cNvPr id="756" name="Acciones Prioritarias para acreditación 2027…"/>
          <p:cNvSpPr txBox="1"/>
          <p:nvPr/>
        </p:nvSpPr>
        <p:spPr>
          <a:xfrm>
            <a:off x="6409648" y="142939"/>
            <a:ext cx="5584633" cy="2678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Creación y/o revisión de normativa sobre mejora continua y muestra intencionada</a:t>
            </a:r>
            <a:r>
              <a:t>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Lanzamiento de los procesos de encuestas asociadas a pregrado.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Lanzamiento de los procesos de encuestas asociadas a acreditación institucional.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de carreras de pregrado en cada facultad.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Revisar oferta directa (No PAES)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11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Política y gestión de la vinculación con el medio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Image" descr="Image"/>
          <p:cNvPicPr>
            <a:picLocks noChangeAspect="1"/>
          </p:cNvPicPr>
          <p:nvPr/>
        </p:nvPicPr>
        <p:blipFill>
          <a:blip r:embed="rId2"/>
          <a:srcRect t="32745" b="11724"/>
          <a:stretch>
            <a:fillRect/>
          </a:stretch>
        </p:blipFill>
        <p:spPr>
          <a:xfrm>
            <a:off x="2286000" y="302551"/>
            <a:ext cx="7620000" cy="5475874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761" name="Rectangle"/>
          <p:cNvSpPr/>
          <p:nvPr/>
        </p:nvSpPr>
        <p:spPr>
          <a:xfrm>
            <a:off x="5218442" y="1951587"/>
            <a:ext cx="1991005" cy="2846284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62" name="Rectangle"/>
          <p:cNvSpPr/>
          <p:nvPr/>
        </p:nvSpPr>
        <p:spPr>
          <a:xfrm>
            <a:off x="7275842" y="1951587"/>
            <a:ext cx="1991005" cy="2846284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Estado al 2020…"/>
          <p:cNvSpPr txBox="1"/>
          <p:nvPr/>
        </p:nvSpPr>
        <p:spPr>
          <a:xfrm>
            <a:off x="238535" y="142939"/>
            <a:ext cx="5584634" cy="6090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Política VIME (2017)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Respuesta a observación de CNA 2014 (falta de articulación con Docencia e Investigación). Construcción participativa masiva: 100+ integrantes en redacción. Socializada con 300 autoridades, 40 directores, 157 (internacionalización) y 159 (egresados) participantes.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Estructura en 4 apartados: definición conceptual, integración con Docencia/Investigación, 5 principios (Democratización, Integración/Horizontalidad, Bidireccionalidad, Sustentabilidad, Ética), y 5 Líneas de Acción.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Modelo de Vinculación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Organiza impactos internos (formación, investigación, imagen) y externos (productivo, sociocultural, público) en 5 familias de instrumentos: Docencia, Investigación, Servicios, Extensión.</a:t>
            </a:r>
          </a:p>
          <a:p>
            <a:pPr marL="120315" indent="-120315" algn="just">
              <a:buSzPct val="100000"/>
              <a:buChar char="-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Cultural e Internacionalización.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Estructura organizacional: 4 niveles: VIME → Consejo interfacultades → 6 Departamentos de apoyo → Facultades con Analistas propios.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13 Analistas VIME distribuidos (2019)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100% de Departamentos/Escuelas/Facultades con lineamientos VIME alineados al PEI (2018)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Mecanismos de gestión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Institucionalización: perfil de Analista desde 2014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Financiamiento: Fondo VIME (desde 2018) — 300+ postulaciones, 100+ proyectos adjudicados, MM$234 en 3 versiones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Reconocimiento: Sello RSU (45 reconocimientos desde 2014), Premio Bidireccionalidad (2017), Premio Excelencia VIME (2018)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Registro: SIRMAI (desde 2015), 17 fuentes secundarias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Articulación territorial/sectorial</a:t>
            </a:r>
          </a:p>
          <a:p>
            <a:pPr algn="just"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Aseguramiento de calidad</a:t>
            </a:r>
          </a:p>
          <a:p>
            <a:pPr marL="110289" indent="-110289" algn="just">
              <a:buSzPct val="100000"/>
              <a:buChar char="•"/>
              <a:defRPr sz="11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Integrado al SAC institucional (Subsistema de Mejoramiento de Procesos Misionales): Plan Anual, seguimiento semanal, monitoreo presupuestario semestral, evaluación anual de metas, auditorías del DCA, y rendición de cuentas ante Contraloría.</a:t>
            </a:r>
          </a:p>
        </p:txBody>
      </p:sp>
      <p:sp>
        <p:nvSpPr>
          <p:cNvPr id="765" name="Acciones Prioritarias para acreditación 2027…"/>
          <p:cNvSpPr txBox="1"/>
          <p:nvPr/>
        </p:nvSpPr>
        <p:spPr>
          <a:xfrm>
            <a:off x="6409648" y="142939"/>
            <a:ext cx="5584633" cy="4392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Política VIME a nivel de: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Pregrado VRA (Graduados y Empleadores)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Pedagogías VRA (Graduados, Colegios, SLEPS, Ministerio)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Postgrado VIPO: Movilidad (conferencias, estadías), Graduados, Investigadores extranjeros en proyectos y defensas de tesis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Investigación VRIIC: ICCs, Sabáticos, Convenios y Estadías (movilidad)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Sistema integrado de registro de acciones VIME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confeccionar base de datos de ICCs para levantar indicadores de internacionalización y uso de convenios.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base de datos ICCs desde VRIIC con el objetivo de cruzar esta base de datos con los convenios y reportar su uso.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incluir política, información, alcance sobre los cursos de Educación Continua. Si bien la educación continua no es observada, este aspecto ha sido consultado en acreditaciones institucionales.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12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Resultados e impacto de la vinculación con el medio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Image" descr="Image"/>
          <p:cNvPicPr>
            <a:picLocks noChangeAspect="1"/>
          </p:cNvPicPr>
          <p:nvPr/>
        </p:nvPicPr>
        <p:blipFill>
          <a:blip r:embed="rId2"/>
          <a:srcRect t="13250" b="37372"/>
          <a:stretch>
            <a:fillRect/>
          </a:stretch>
        </p:blipFill>
        <p:spPr>
          <a:xfrm>
            <a:off x="2286000" y="564830"/>
            <a:ext cx="7620000" cy="4869137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770" name="Rectangle"/>
          <p:cNvSpPr/>
          <p:nvPr/>
        </p:nvSpPr>
        <p:spPr>
          <a:xfrm>
            <a:off x="5218442" y="2116687"/>
            <a:ext cx="1991005" cy="2846284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71" name="Rectangle"/>
          <p:cNvSpPr/>
          <p:nvPr/>
        </p:nvSpPr>
        <p:spPr>
          <a:xfrm>
            <a:off x="7275842" y="2116687"/>
            <a:ext cx="1991005" cy="2846284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Screenshot 2026-07-23 at 7.13.39 AM.png" descr="Screenshot 2026-07-23 at 7.13.39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0" y="1144378"/>
            <a:ext cx="7151815" cy="1875498"/>
          </a:xfrm>
          <a:prstGeom prst="rect">
            <a:avLst/>
          </a:prstGeom>
          <a:ln w="12700">
            <a:miter lim="400000"/>
          </a:ln>
        </p:spPr>
      </p:pic>
      <p:sp>
        <p:nvSpPr>
          <p:cNvPr id="774" name="Matricula Extranjera en Pregrado"/>
          <p:cNvSpPr txBox="1"/>
          <p:nvPr/>
        </p:nvSpPr>
        <p:spPr>
          <a:xfrm>
            <a:off x="662079" y="993375"/>
            <a:ext cx="2606549" cy="302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Matricula Extranjera en Pregrado</a:t>
            </a:r>
          </a:p>
        </p:txBody>
      </p:sp>
      <p:pic>
        <p:nvPicPr>
          <p:cNvPr id="775" name="Screenshot 2026-07-23 at 7.17.35 AM.png" descr="Screenshot 2026-07-23 at 7.17.35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40" y="3548740"/>
            <a:ext cx="7151815" cy="1890295"/>
          </a:xfrm>
          <a:prstGeom prst="rect">
            <a:avLst/>
          </a:prstGeom>
          <a:ln w="12700">
            <a:miter lim="400000"/>
          </a:ln>
        </p:spPr>
      </p:pic>
      <p:sp>
        <p:nvSpPr>
          <p:cNvPr id="776" name="Matricula Extranjera en Postgrado"/>
          <p:cNvSpPr txBox="1"/>
          <p:nvPr/>
        </p:nvSpPr>
        <p:spPr>
          <a:xfrm>
            <a:off x="662079" y="3397737"/>
            <a:ext cx="2683892" cy="302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Matricula Extranjera en Postgrado</a:t>
            </a:r>
          </a:p>
        </p:txBody>
      </p:sp>
      <p:sp>
        <p:nvSpPr>
          <p:cNvPr id="777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  <p:pic>
        <p:nvPicPr>
          <p:cNvPr id="778" name="Screenshot 2026-07-23 at 7.40.20 AM.png" descr="Screenshot 2026-07-23 at 7.40.20 AM.png"/>
          <p:cNvPicPr>
            <a:picLocks noChangeAspect="1"/>
          </p:cNvPicPr>
          <p:nvPr/>
        </p:nvPicPr>
        <p:blipFill>
          <a:blip r:embed="rId4"/>
          <a:srcRect l="699" t="2166" r="770" b="1565"/>
          <a:stretch>
            <a:fillRect/>
          </a:stretch>
        </p:blipFill>
        <p:spPr>
          <a:xfrm>
            <a:off x="7621191" y="1144379"/>
            <a:ext cx="4366817" cy="16509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0" y="0"/>
                </a:moveTo>
                <a:lnTo>
                  <a:pt x="0" y="10795"/>
                </a:lnTo>
                <a:lnTo>
                  <a:pt x="0" y="21584"/>
                </a:lnTo>
                <a:lnTo>
                  <a:pt x="4603" y="21594"/>
                </a:lnTo>
                <a:cubicBezTo>
                  <a:pt x="7135" y="21600"/>
                  <a:pt x="11904" y="21600"/>
                  <a:pt x="15200" y="21594"/>
                </a:cubicBezTo>
                <a:cubicBezTo>
                  <a:pt x="18497" y="21589"/>
                  <a:pt x="21286" y="21584"/>
                  <a:pt x="21398" y="21584"/>
                </a:cubicBezTo>
                <a:lnTo>
                  <a:pt x="21600" y="21584"/>
                </a:lnTo>
                <a:lnTo>
                  <a:pt x="21600" y="0"/>
                </a:lnTo>
                <a:lnTo>
                  <a:pt x="10801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79" name="Screenshot 2026-07-23 at 7.41.43 AM.png" descr="Screenshot 2026-07-23 at 7.41.43 AM.png"/>
          <p:cNvPicPr>
            <a:picLocks noChangeAspect="1"/>
          </p:cNvPicPr>
          <p:nvPr/>
        </p:nvPicPr>
        <p:blipFill>
          <a:blip r:embed="rId5"/>
          <a:srcRect l="679" t="2845" r="814" b="2491"/>
          <a:stretch>
            <a:fillRect/>
          </a:stretch>
        </p:blipFill>
        <p:spPr>
          <a:xfrm>
            <a:off x="7621191" y="3548740"/>
            <a:ext cx="4498579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800"/>
                </a:lnTo>
                <a:lnTo>
                  <a:pt x="0" y="21600"/>
                </a:lnTo>
                <a:lnTo>
                  <a:pt x="10799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0"/>
                </a:lnTo>
                <a:lnTo>
                  <a:pt x="20152" y="0"/>
                </a:lnTo>
                <a:lnTo>
                  <a:pt x="2938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Screenshot 2026-07-23 at 7.36.49 AM.png" descr="Screenshot 2026-07-23 at 7.36.49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40" y="3548740"/>
            <a:ext cx="6989290" cy="1743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2" name="Screenshot 2026-07-23 at 7.34.27 AM.png" descr="Screenshot 2026-07-23 at 7.34.27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40" y="1144378"/>
            <a:ext cx="7110403" cy="1898770"/>
          </a:xfrm>
          <a:prstGeom prst="rect">
            <a:avLst/>
          </a:prstGeom>
          <a:ln w="12700">
            <a:miter lim="400000"/>
          </a:ln>
        </p:spPr>
      </p:pic>
      <p:sp>
        <p:nvSpPr>
          <p:cNvPr id="783" name="Movilidad Internacional de Pregrado"/>
          <p:cNvSpPr txBox="1"/>
          <p:nvPr/>
        </p:nvSpPr>
        <p:spPr>
          <a:xfrm>
            <a:off x="662079" y="993375"/>
            <a:ext cx="2845817" cy="302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Movilidad Internacional de Pregrado</a:t>
            </a:r>
          </a:p>
        </p:txBody>
      </p:sp>
      <p:sp>
        <p:nvSpPr>
          <p:cNvPr id="784" name="Movilidad Internacional de Postgrado"/>
          <p:cNvSpPr txBox="1"/>
          <p:nvPr/>
        </p:nvSpPr>
        <p:spPr>
          <a:xfrm>
            <a:off x="662079" y="3397737"/>
            <a:ext cx="2923160" cy="302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Movilidad Internacional de Postgrado</a:t>
            </a:r>
          </a:p>
        </p:txBody>
      </p:sp>
      <p:pic>
        <p:nvPicPr>
          <p:cNvPr id="785" name="Screenshot 2026-07-23 at 7.35.44 AM.png" descr="Screenshot 2026-07-23 at 7.35.44 AM.png"/>
          <p:cNvPicPr>
            <a:picLocks noChangeAspect="1"/>
          </p:cNvPicPr>
          <p:nvPr/>
        </p:nvPicPr>
        <p:blipFill>
          <a:blip r:embed="rId4"/>
          <a:srcRect l="155" t="728" r="312" b="1099"/>
          <a:stretch>
            <a:fillRect/>
          </a:stretch>
        </p:blipFill>
        <p:spPr>
          <a:xfrm>
            <a:off x="7967964" y="1144378"/>
            <a:ext cx="3930255" cy="1656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72"/>
                </a:lnTo>
                <a:cubicBezTo>
                  <a:pt x="0" y="16697"/>
                  <a:pt x="5" y="21559"/>
                  <a:pt x="11" y="21574"/>
                </a:cubicBezTo>
                <a:cubicBezTo>
                  <a:pt x="17" y="21589"/>
                  <a:pt x="4873" y="21600"/>
                  <a:pt x="10801" y="21600"/>
                </a:cubicBezTo>
                <a:cubicBezTo>
                  <a:pt x="20614" y="21600"/>
                  <a:pt x="21580" y="21596"/>
                  <a:pt x="21589" y="21538"/>
                </a:cubicBezTo>
                <a:cubicBezTo>
                  <a:pt x="21595" y="21503"/>
                  <a:pt x="21600" y="16641"/>
                  <a:pt x="21600" y="10735"/>
                </a:cubicBezTo>
                <a:lnTo>
                  <a:pt x="21600" y="0"/>
                </a:lnTo>
                <a:lnTo>
                  <a:pt x="10801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86" name="Screenshot 2026-07-23 at 7.37.48 AM.png" descr="Screenshot 2026-07-23 at 7.37.48 AM.png"/>
          <p:cNvPicPr>
            <a:picLocks noChangeAspect="1"/>
          </p:cNvPicPr>
          <p:nvPr/>
        </p:nvPicPr>
        <p:blipFill>
          <a:blip r:embed="rId5"/>
          <a:srcRect l="815" t="3014" r="1418" b="2299"/>
          <a:stretch>
            <a:fillRect/>
          </a:stretch>
        </p:blipFill>
        <p:spPr>
          <a:xfrm>
            <a:off x="7967964" y="3548740"/>
            <a:ext cx="2974201" cy="1656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0" y="0"/>
                </a:moveTo>
                <a:lnTo>
                  <a:pt x="0" y="10797"/>
                </a:lnTo>
                <a:lnTo>
                  <a:pt x="0" y="21600"/>
                </a:lnTo>
                <a:lnTo>
                  <a:pt x="10811" y="21600"/>
                </a:lnTo>
                <a:lnTo>
                  <a:pt x="21596" y="21600"/>
                </a:lnTo>
                <a:lnTo>
                  <a:pt x="21599" y="18049"/>
                </a:lnTo>
                <a:cubicBezTo>
                  <a:pt x="21600" y="5647"/>
                  <a:pt x="21597" y="27"/>
                  <a:pt x="21591" y="16"/>
                </a:cubicBezTo>
                <a:cubicBezTo>
                  <a:pt x="21587" y="10"/>
                  <a:pt x="20973" y="2"/>
                  <a:pt x="18584" y="0"/>
                </a:cubicBezTo>
                <a:lnTo>
                  <a:pt x="4926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87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Screenshot 2026-07-23 at 7.44.57 AM.png" descr="Screenshot 2026-07-23 at 7.44.57 AM.png"/>
          <p:cNvPicPr>
            <a:picLocks noChangeAspect="1"/>
          </p:cNvPicPr>
          <p:nvPr/>
        </p:nvPicPr>
        <p:blipFill>
          <a:blip r:embed="rId2"/>
          <a:srcRect l="5057"/>
          <a:stretch>
            <a:fillRect/>
          </a:stretch>
        </p:blipFill>
        <p:spPr>
          <a:xfrm>
            <a:off x="549289" y="837803"/>
            <a:ext cx="5072956" cy="2591353"/>
          </a:xfrm>
          <a:prstGeom prst="rect">
            <a:avLst/>
          </a:prstGeom>
          <a:ln w="12700">
            <a:miter lim="400000"/>
          </a:ln>
        </p:spPr>
      </p:pic>
      <p:sp>
        <p:nvSpPr>
          <p:cNvPr id="790" name="Oferta Educación Continua"/>
          <p:cNvSpPr txBox="1"/>
          <p:nvPr/>
        </p:nvSpPr>
        <p:spPr>
          <a:xfrm>
            <a:off x="471579" y="993375"/>
            <a:ext cx="2113344" cy="302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Oferta Educación Continua</a:t>
            </a:r>
          </a:p>
        </p:txBody>
      </p:sp>
      <p:sp>
        <p:nvSpPr>
          <p:cNvPr id="791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  <p:pic>
        <p:nvPicPr>
          <p:cNvPr id="792" name="Screenshot 2026-07-23 at 7.47.11 AM.png" descr="Screenshot 2026-07-23 at 7.47.11 AM.png"/>
          <p:cNvPicPr>
            <a:picLocks noChangeAspect="1"/>
          </p:cNvPicPr>
          <p:nvPr/>
        </p:nvPicPr>
        <p:blipFill>
          <a:blip r:embed="rId3"/>
          <a:srcRect l="18555" r="1775"/>
          <a:stretch>
            <a:fillRect/>
          </a:stretch>
        </p:blipFill>
        <p:spPr>
          <a:xfrm>
            <a:off x="6422097" y="1080690"/>
            <a:ext cx="4722275" cy="2284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793" name="Screenshot 2026-07-23 at 7.49.03 AM.png" descr="Screenshot 2026-07-23 at 7.49.03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7772" y="993375"/>
            <a:ext cx="1177837" cy="58301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4" name="Screenshot 2026-07-23 at 7.50.46 AM.png" descr="Screenshot 2026-07-23 at 7.50.46 AM.png"/>
          <p:cNvPicPr>
            <a:picLocks noChangeAspect="1"/>
          </p:cNvPicPr>
          <p:nvPr/>
        </p:nvPicPr>
        <p:blipFill>
          <a:blip r:embed="rId5"/>
          <a:srcRect l="7402" b="1234"/>
          <a:stretch>
            <a:fillRect/>
          </a:stretch>
        </p:blipFill>
        <p:spPr>
          <a:xfrm>
            <a:off x="1619264" y="3818708"/>
            <a:ext cx="3759738" cy="2281057"/>
          </a:xfrm>
          <a:prstGeom prst="rect">
            <a:avLst/>
          </a:prstGeom>
          <a:ln w="12700">
            <a:miter lim="400000"/>
          </a:ln>
        </p:spPr>
      </p:pic>
      <p:pic>
        <p:nvPicPr>
          <p:cNvPr id="795" name="Screenshot 2026-07-23 at 7.51.06 AM.png" descr="Screenshot 2026-07-23 at 7.51.06 AM.png"/>
          <p:cNvPicPr>
            <a:picLocks noChangeAspect="1"/>
          </p:cNvPicPr>
          <p:nvPr/>
        </p:nvPicPr>
        <p:blipFill>
          <a:blip r:embed="rId6"/>
          <a:srcRect l="8657" b="3155"/>
          <a:stretch>
            <a:fillRect/>
          </a:stretch>
        </p:blipFill>
        <p:spPr>
          <a:xfrm>
            <a:off x="7313658" y="3940152"/>
            <a:ext cx="3566517" cy="2139995"/>
          </a:xfrm>
          <a:prstGeom prst="rect">
            <a:avLst/>
          </a:prstGeom>
          <a:ln w="12700">
            <a:miter lim="400000"/>
          </a:ln>
        </p:spPr>
      </p:pic>
      <p:sp>
        <p:nvSpPr>
          <p:cNvPr id="796" name="Titulados…"/>
          <p:cNvSpPr txBox="1"/>
          <p:nvPr/>
        </p:nvSpPr>
        <p:spPr>
          <a:xfrm>
            <a:off x="549289" y="3889351"/>
            <a:ext cx="812420" cy="468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Titulados</a:t>
            </a:r>
          </a:p>
          <a:p>
            <a:pPr>
              <a:defRPr sz="11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(Acumulado)</a:t>
            </a:r>
          </a:p>
        </p:txBody>
      </p:sp>
      <p:sp>
        <p:nvSpPr>
          <p:cNvPr id="797" name="Titulados…"/>
          <p:cNvSpPr txBox="1"/>
          <p:nvPr/>
        </p:nvSpPr>
        <p:spPr>
          <a:xfrm>
            <a:off x="6422097" y="3818708"/>
            <a:ext cx="1088886" cy="63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Titulados</a:t>
            </a:r>
          </a:p>
          <a:p>
            <a:pPr>
              <a:defRPr sz="11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Hombres/Mujeres</a:t>
            </a:r>
          </a:p>
          <a:p>
            <a:pPr>
              <a:defRPr sz="11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(Acumulado)</a:t>
            </a:r>
          </a:p>
        </p:txBody>
      </p:sp>
      <p:sp>
        <p:nvSpPr>
          <p:cNvPr id="798" name="Matrícula"/>
          <p:cNvSpPr txBox="1"/>
          <p:nvPr/>
        </p:nvSpPr>
        <p:spPr>
          <a:xfrm>
            <a:off x="6422097" y="993375"/>
            <a:ext cx="823088" cy="302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Matrícula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Estado al 2020…"/>
          <p:cNvSpPr txBox="1"/>
          <p:nvPr/>
        </p:nvSpPr>
        <p:spPr>
          <a:xfrm>
            <a:off x="238535" y="142939"/>
            <a:ext cx="5584634" cy="4493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VIME en cifras (2015-2019)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Volumen general: 6.972 proyectos de Docencia · 62.051 de Investigación · 2.812 de Servicios · 637 de Extensión · 11.230 movilidades internacionales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Docencia: 26.309 estudiantes | 4.930 en Prácticas (2.269 organizaciones) | 2.150 en A+S (25 carreras) | 18.251 en Educación Continua (MM$48.378 captados)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Investigación: 1.757 académicos | 98 proyectos asociativos (MM$14.198) | 56.677 apariciones en prensa | Planetario: 778.612 visitantes | 22 participaciones legislativas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Servicios: 2.985 atenciones (CAP + Operativos de Salud) | 2.735 soluciones técnicas | 6.053 beneficiarios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Extensión: 100.000+ personas, 54 comunas | 21.000 fotos restauradas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Internacionalización: movilidad entrante +44%, saliente +89% | 1.617 co-publicaciones internacionales | nueva Beca Olga Ulianova (2019)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Financiamiento: interno $15.236M (crecimiento sostenido) + externo $73.768M = ~$89.000 millones totales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Impacto formativo: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Pertinencia formativa: +117% (25.969 estudiantes)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Perfil de egreso: +115% (8.145 estudiantes)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75% de planes de Pregrado innovados con input del medio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~82-86% de aprobación (egresados, empleadores, estudiantes)</a:t>
            </a:r>
          </a:p>
        </p:txBody>
      </p:sp>
      <p:sp>
        <p:nvSpPr>
          <p:cNvPr id="801" name="Acciones Prioritarias para acreditación 2027…"/>
          <p:cNvSpPr txBox="1"/>
          <p:nvPr/>
        </p:nvSpPr>
        <p:spPr>
          <a:xfrm>
            <a:off x="6409648" y="142939"/>
            <a:ext cx="5584633" cy="4392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Política VIME a nivel de: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Pregrado VRA (Graduados y Empleadores)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Pedagogías VRA (Graduados, Colegios, SLEPS, Ministerio)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Postgrado VIPO: Movilidad (conferencias, estadías), Graduados, Investigadores extranjeros en proyectos y defensas de tesis</a:t>
            </a:r>
          </a:p>
          <a:p>
            <a:pPr marL="501315" lvl="1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Investigación VRIIC: ICCs, Sabáticos, Convenios y Estadías (movilidad)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Sistema integrado de registro de acciones VIME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confeccionar base de datos de ICCs para levantar indicadores de internacionalización y uso de convenios.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base de datos ICCs desde VRIIC con el objetivo de cruzar esta base de datos con los convenios y reportar su uso.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Se requiere incluir política, información, alcance sobre los cursos de Educación Continua. Si bien la educación continua no es observada, este aspecto ha sido consultado en acreditaciones institucionales.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13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Política y gestión de la investigación, creación y/o innovación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Image" descr="Image"/>
          <p:cNvPicPr>
            <a:picLocks noChangeAspect="1"/>
          </p:cNvPicPr>
          <p:nvPr/>
        </p:nvPicPr>
        <p:blipFill>
          <a:blip r:embed="rId2"/>
          <a:srcRect t="29697" b="25420"/>
          <a:stretch>
            <a:fillRect/>
          </a:stretch>
        </p:blipFill>
        <p:spPr>
          <a:xfrm>
            <a:off x="2286000" y="913721"/>
            <a:ext cx="7620000" cy="4425908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806" name="Rectangle"/>
          <p:cNvSpPr/>
          <p:nvPr/>
        </p:nvSpPr>
        <p:spPr>
          <a:xfrm>
            <a:off x="7275842" y="2512485"/>
            <a:ext cx="1991005" cy="2166351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Estado al 2020…"/>
          <p:cNvSpPr txBox="1"/>
          <p:nvPr/>
        </p:nvSpPr>
        <p:spPr>
          <a:xfrm>
            <a:off x="238535" y="142939"/>
            <a:ext cx="5584634" cy="605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8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I+D+i (Investigación, Desarrollo e innovación)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Marco normativo: Política General de I+D+i (Res. N°1924/2014), 8 objetivos específicos, 3 principios rectores (libertad de investigación, ética, mérito). PEI 2016-2020: mejorar impacto y productividad.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Estructura: VRIDEI (3 unidades: DICYT, DGT, UCC) + Comité de Ética (2008, primero acreditado en Chile) + 7 Comités DICYT.</a:t>
            </a:r>
          </a:p>
          <a:p>
            <a:pPr algn="just"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8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RRHH y financiamiento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Académicos activos: 319 → 403 (+26%); Doctores JC: +27%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Financiamiento anual duplicado: $2.230M → $4.445M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Infraestructura: MM$13.950 invertidos | 151 laboratorios, 11 Centros de Investigación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Fondos internos (DICYT): duplicados (2014-2019): $448M → $1.049M anuales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Fondos externos: $10.403M → $14.369M (+38%)</a:t>
            </a:r>
          </a:p>
          <a:p>
            <a:pPr algn="just"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8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Publicaciones y Patentes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WOS: 412 → 802 (+95%) | SCOPUS: +62%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74% en Q1/Q2 (vs 61% en 2014) | Factor de Impacto: 1,8 → 2,3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Índice-H: 109 | 7.979 publicaciones indexadas → 7° lugar Scimago 2020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Patentes 331 solicitadas, 122 concedidas (triplicado) | 1ª universidad pública en solicitudes por 10 años consecutivos</a:t>
            </a:r>
          </a:p>
          <a:p>
            <a:pPr marL="131253" indent="-131253" algn="just">
              <a:buSzPct val="100000"/>
              <a:buChar char="-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8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Transferencia e impacto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22 tecnologías transferidas → $76,7M en ingresos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Empresas incubadas: 28 → 41 (135 empleos, MM$1.800 en ventas)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 Premios Nacionales (Historia 2016, Ciencias Exactas 2019)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51% publicaciones con co-autoría internacional</a:t>
            </a:r>
          </a:p>
          <a:p>
            <a:pPr algn="just"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Emprendimiento</a:t>
            </a:r>
          </a:p>
          <a:p>
            <a:pPr marL="118310" indent="-118310" algn="just">
              <a:buSzPct val="100000"/>
              <a:buChar char="•"/>
              <a:defRPr sz="118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Lions-Up (~800 estudiantes) + Despega USACH + Concurso Vector | 79% de académicos valora positivamente el apoyo interno</a:t>
            </a:r>
          </a:p>
        </p:txBody>
      </p:sp>
      <p:sp>
        <p:nvSpPr>
          <p:cNvPr id="809" name="Acciones Prioritarias para acreditación 2027…"/>
          <p:cNvSpPr txBox="1"/>
          <p:nvPr/>
        </p:nvSpPr>
        <p:spPr>
          <a:xfrm>
            <a:off x="6409648" y="142939"/>
            <a:ext cx="5584633" cy="3822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y/o actualización de políticas de investigación.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Actualización y/o priorización de las líneas de investigación en torno al FIU-Frontera Usach.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Revisión y aprobación del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Reglamento de Centros de Investigación</a:t>
            </a:r>
            <a:r>
              <a:t> (en estado de Borrador).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Creación de una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Plataforma Institucional de Equipamiento Avanzado</a:t>
            </a:r>
            <a:r>
              <a:t> que atienda las necesidades científicas y técnicas de la investigación que se realiza en Usach, con el objetivo de democratizar el acceso y aumentar el impacto en los resultados de investigación.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Otras acciones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sobre el equipamiento avanzado en Usach. Estado de funcionamiento, impacto, costos de uso y mantenimiento.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Implementación de un sistema de registro de usuarios y calendario de uso del equipamiento.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Título 1"/>
          <p:cNvSpPr txBox="1">
            <a:spLocks noGrp="1"/>
          </p:cNvSpPr>
          <p:nvPr>
            <p:ph type="title"/>
          </p:nvPr>
        </p:nvSpPr>
        <p:spPr>
          <a:xfrm>
            <a:off x="1357936" y="2235200"/>
            <a:ext cx="9476128" cy="2387600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Criterio 14</a:t>
            </a:r>
          </a:p>
          <a:p>
            <a:pPr>
              <a:defRPr sz="32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Resultados de la investigación, creación y/o innovación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Image" descr="Image"/>
          <p:cNvPicPr>
            <a:picLocks noChangeAspect="1"/>
          </p:cNvPicPr>
          <p:nvPr/>
        </p:nvPicPr>
        <p:blipFill>
          <a:blip r:embed="rId2"/>
          <a:srcRect t="13617" b="11917"/>
          <a:stretch>
            <a:fillRect/>
          </a:stretch>
        </p:blipFill>
        <p:spPr>
          <a:xfrm>
            <a:off x="2922984" y="11440"/>
            <a:ext cx="6346030" cy="6115475"/>
          </a:xfrm>
          <a:prstGeom prst="rect">
            <a:avLst/>
          </a:prstGeom>
          <a:ln>
            <a:solidFill>
              <a:schemeClr val="accent3">
                <a:lumOff val="-12941"/>
              </a:schemeClr>
            </a:solidFill>
            <a:miter lim="400000"/>
          </a:ln>
        </p:spPr>
      </p:pic>
      <p:sp>
        <p:nvSpPr>
          <p:cNvPr id="814" name="Rectangle"/>
          <p:cNvSpPr/>
          <p:nvPr/>
        </p:nvSpPr>
        <p:spPr>
          <a:xfrm>
            <a:off x="7085342" y="1315057"/>
            <a:ext cx="1654261" cy="4765689"/>
          </a:xfrm>
          <a:prstGeom prst="rect">
            <a:avLst/>
          </a:prstGeom>
          <a:solidFill>
            <a:srgbClr val="FEAE00">
              <a:alpha val="40229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royectos Externos"/>
          <p:cNvSpPr txBox="1"/>
          <p:nvPr/>
        </p:nvSpPr>
        <p:spPr>
          <a:xfrm>
            <a:off x="238535" y="530920"/>
            <a:ext cx="1848588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Proyectos Externos</a:t>
            </a:r>
          </a:p>
        </p:txBody>
      </p:sp>
      <p:pic>
        <p:nvPicPr>
          <p:cNvPr id="817" name="Screenshot 2026-07-13 at 3.18.28 PM.png" descr="Screenshot 2026-07-13 at 3.18.2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3" y="895359"/>
            <a:ext cx="5560555" cy="1776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818" name="Screenshot 2026-07-13 at 3.18.42 PM.png" descr="Screenshot 2026-07-13 at 3.18.42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3" y="3597275"/>
            <a:ext cx="5560555" cy="1795596"/>
          </a:xfrm>
          <a:prstGeom prst="rect">
            <a:avLst/>
          </a:prstGeom>
          <a:ln w="12700">
            <a:miter lim="400000"/>
          </a:ln>
        </p:spPr>
      </p:pic>
      <p:sp>
        <p:nvSpPr>
          <p:cNvPr id="819" name="Proyectos Internos"/>
          <p:cNvSpPr txBox="1"/>
          <p:nvPr/>
        </p:nvSpPr>
        <p:spPr>
          <a:xfrm>
            <a:off x="238535" y="3232835"/>
            <a:ext cx="1806297" cy="36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Proyectos Internos</a:t>
            </a:r>
          </a:p>
        </p:txBody>
      </p:sp>
      <p:pic>
        <p:nvPicPr>
          <p:cNvPr id="820" name="Screenshot 2026-07-13 at 3.19.50 PM.png" descr="Screenshot 2026-07-13 at 3.19.50 PM.png"/>
          <p:cNvPicPr>
            <a:picLocks noChangeAspect="1"/>
          </p:cNvPicPr>
          <p:nvPr/>
        </p:nvPicPr>
        <p:blipFill>
          <a:blip r:embed="rId4"/>
          <a:srcRect r="2156"/>
          <a:stretch>
            <a:fillRect/>
          </a:stretch>
        </p:blipFill>
        <p:spPr>
          <a:xfrm>
            <a:off x="5735467" y="765536"/>
            <a:ext cx="6456593" cy="4757158"/>
          </a:xfrm>
          <a:prstGeom prst="rect">
            <a:avLst/>
          </a:prstGeom>
          <a:ln w="12700">
            <a:miter lim="400000"/>
          </a:ln>
        </p:spPr>
      </p:pic>
      <p:sp>
        <p:nvSpPr>
          <p:cNvPr id="821" name="Nº de Publicaciones Indexadas"/>
          <p:cNvSpPr txBox="1"/>
          <p:nvPr/>
        </p:nvSpPr>
        <p:spPr>
          <a:xfrm>
            <a:off x="6096000" y="530920"/>
            <a:ext cx="2891460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Nº de Publicaciones Indexadas</a:t>
            </a:r>
          </a:p>
        </p:txBody>
      </p:sp>
      <p:sp>
        <p:nvSpPr>
          <p:cNvPr id="822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imes Higher Education (Latinoamérica)"/>
          <p:cNvSpPr txBox="1"/>
          <p:nvPr/>
        </p:nvSpPr>
        <p:spPr>
          <a:xfrm>
            <a:off x="238535" y="175320"/>
            <a:ext cx="3736824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Times Higher Education (Latinoamérica)</a:t>
            </a:r>
          </a:p>
        </p:txBody>
      </p:sp>
      <p:sp>
        <p:nvSpPr>
          <p:cNvPr id="825" name="Quacquarelli Symonds (QS, Latam)"/>
          <p:cNvSpPr txBox="1"/>
          <p:nvPr/>
        </p:nvSpPr>
        <p:spPr>
          <a:xfrm>
            <a:off x="238535" y="3483137"/>
            <a:ext cx="3238476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Quacquarelli Symonds (QS, Latam)</a:t>
            </a:r>
          </a:p>
        </p:txBody>
      </p:sp>
      <p:sp>
        <p:nvSpPr>
          <p:cNvPr id="826" name="Nature Research Leaders (Latinoamérica)"/>
          <p:cNvSpPr txBox="1"/>
          <p:nvPr/>
        </p:nvSpPr>
        <p:spPr>
          <a:xfrm>
            <a:off x="6705751" y="175320"/>
            <a:ext cx="3873297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Nature Research Leaders (Latinoamérica)</a:t>
            </a:r>
          </a:p>
        </p:txBody>
      </p:sp>
      <p:sp>
        <p:nvSpPr>
          <p:cNvPr id="827" name="Fuente de datos: CiDi"/>
          <p:cNvSpPr txBox="1"/>
          <p:nvPr/>
        </p:nvSpPr>
        <p:spPr>
          <a:xfrm>
            <a:off x="10117841" y="6324553"/>
            <a:ext cx="1824745" cy="33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20">
                <a:solidFill>
                  <a:srgbClr val="DDDDDD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r>
              <a:t>Fuente de datos: CiDi</a:t>
            </a:r>
          </a:p>
        </p:txBody>
      </p:sp>
      <p:pic>
        <p:nvPicPr>
          <p:cNvPr id="828" name="Screenshot 2026-07-23 at 8.09.16 AM.png" descr="Screenshot 2026-07-23 at 8.09.16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5" y="593413"/>
            <a:ext cx="5969001" cy="24263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29" name="Screenshot 2026-07-23 at 8.12.47 AM.png" descr="Screenshot 2026-07-23 at 8.12.47 AM.png"/>
          <p:cNvPicPr>
            <a:picLocks noChangeAspect="1"/>
          </p:cNvPicPr>
          <p:nvPr/>
        </p:nvPicPr>
        <p:blipFill>
          <a:blip r:embed="rId3"/>
          <a:srcRect t="12950"/>
          <a:stretch>
            <a:fillRect/>
          </a:stretch>
        </p:blipFill>
        <p:spPr>
          <a:xfrm>
            <a:off x="6623050" y="593413"/>
            <a:ext cx="5019099" cy="2426862"/>
          </a:xfrm>
          <a:prstGeom prst="rect">
            <a:avLst/>
          </a:prstGeom>
          <a:ln w="12700">
            <a:miter lim="400000"/>
          </a:ln>
        </p:spPr>
      </p:pic>
      <p:pic>
        <p:nvPicPr>
          <p:cNvPr id="830" name="Screenshot 2026-07-23 at 8.12.47 AM.png" descr="Screenshot 2026-07-23 at 8.12.47 AM.png"/>
          <p:cNvPicPr>
            <a:picLocks noChangeAspect="1"/>
          </p:cNvPicPr>
          <p:nvPr/>
        </p:nvPicPr>
        <p:blipFill>
          <a:blip r:embed="rId3"/>
          <a:srcRect l="24716" b="87264"/>
          <a:stretch>
            <a:fillRect/>
          </a:stretch>
        </p:blipFill>
        <p:spPr>
          <a:xfrm>
            <a:off x="7287349" y="3073958"/>
            <a:ext cx="4354800" cy="4091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31" name="Screenshot 2026-07-23 at 8.16.42 AM.png" descr="Screenshot 2026-07-23 at 8.16.42 AM.png"/>
          <p:cNvPicPr>
            <a:picLocks noChangeAspect="1"/>
          </p:cNvPicPr>
          <p:nvPr/>
        </p:nvPicPr>
        <p:blipFill>
          <a:blip r:embed="rId4"/>
          <a:srcRect l="23745" t="5011" b="77077"/>
          <a:stretch>
            <a:fillRect/>
          </a:stretch>
        </p:blipFill>
        <p:spPr>
          <a:xfrm>
            <a:off x="431400" y="5645557"/>
            <a:ext cx="4011555" cy="412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32" name="Screenshot 2026-07-23 at 8.17.43 AM.png" descr="Screenshot 2026-07-23 at 8.17.43 AM.png"/>
          <p:cNvPicPr>
            <a:picLocks noChangeAspect="1"/>
          </p:cNvPicPr>
          <p:nvPr/>
        </p:nvPicPr>
        <p:blipFill>
          <a:blip r:embed="rId5"/>
          <a:srcRect r="6101"/>
          <a:stretch>
            <a:fillRect/>
          </a:stretch>
        </p:blipFill>
        <p:spPr>
          <a:xfrm>
            <a:off x="278008" y="3976776"/>
            <a:ext cx="4318416" cy="15951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Estado al 2020…"/>
          <p:cNvSpPr txBox="1"/>
          <p:nvPr/>
        </p:nvSpPr>
        <p:spPr>
          <a:xfrm>
            <a:off x="238535" y="142939"/>
            <a:ext cx="11714929" cy="592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numCol="2" spcCol="585746"/>
          <a:lstStyle/>
          <a:p>
            <a:pPr algn="just">
              <a:defRPr sz="1500"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Estado al 2020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Publicaciones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WOS: 412 → 802 (+95%) | SCOPUS: +62% | 7.979 publicaciones acumuladas → 7° lugar Scimago 2020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Calidad: 74% en Q1/Q2 (vs 61% en 2014) | Factor Impacto: 1,8 → 2,3 | Índice-H: 109 | 57.168 citas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Crecimiento destacado en facultades antes rezagadas: Ciencias Médicas +438%, Admin. y Economía +167%, Humanidades +116% (responde a observación CNA 2014)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Incentivos pagados: MM$1.680 (+150%)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Patentes y PI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331 solicitadas, 122 concedidas (triplicado) | 1ª universidad pública en solicitudes por 10 años consecutivos (INAPI)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9 derechos de autor, 11 marcas comerciales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Transferencia tecnológica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22 tecnologías transferidas → $76,7M en ingresos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Miembro Hub APTA (42 tecnologías en negociación internacional)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Emprendimiento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180+ empresas apoyadas desde 2011 | 41 incubadas (2019): 135 empleos, MM$1.800 en ventas. Despega USACH + Lions-Up: 1.800+ estudiantes (2015-2019)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Vinculación investigación-docencia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~800 estudiantes de pregrado en trabajos de titulación en laboratorios (2019)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209 becas de investigación otorgadas (170 en doctorado)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73% declara incorporar investigación en su carrera</a:t>
            </a:r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  <a:p>
            <a:pPr algn="just">
              <a:defRPr sz="12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Vinculación internacional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3.841 intercambios científicos/culturales (2014-2019)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51% de publicaciones WOS con coautoría internacional (+37%)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Alianzas: CESS Oxford, MISTI-MIT, LSE, AUGM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3ª universidad chilena / 13ª Latinoamérica (QS Ranking 2019)</a:t>
            </a:r>
          </a:p>
          <a:p>
            <a:pPr marL="120315" indent="-120315" algn="just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Desafío: diversificar más allá de España, mejorar difusión interna de convenios</a:t>
            </a:r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algn="just">
              <a:defRPr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pPr>
            <a:r>
              <a:t>Acciones Prioritarias para acreditación 2027</a:t>
            </a:r>
          </a:p>
          <a:p>
            <a:pPr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Renovar estrategias para un mejor posicionamiento en Rankings Internacionales.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Crear un mecanismo de evaluación y promoción de candidatos/as a Premios Nacionales.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Levantamiento de información y estadística en la generación de otros productos de investigación (Libros y Capítulos de Libros)</a:t>
            </a:r>
          </a:p>
          <a:p>
            <a:pPr marL="120315" indent="-120315">
              <a:buSzPct val="100000"/>
              <a:buChar char="•"/>
              <a:defRPr sz="12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Vinculación formal de las actividades de investigación en pregrado (proyecto USA23992)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394049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7770</Words>
  <Application>Microsoft Macintosh PowerPoint</Application>
  <PresentationFormat>Widescreen</PresentationFormat>
  <Paragraphs>1063</Paragraphs>
  <Slides>69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Arial</vt:lpstr>
      <vt:lpstr>Bebas Neue Pro</vt:lpstr>
      <vt:lpstr>Calibri</vt:lpstr>
      <vt:lpstr>Helvetica Neue</vt:lpstr>
      <vt:lpstr>Helvetica Neue Bold Condensed</vt:lpstr>
      <vt:lpstr>Helvetica Neue Thin</vt:lpstr>
      <vt:lpstr>Tema de Office</vt:lpstr>
      <vt:lpstr>Proceso de Acreditación Institucional</vt:lpstr>
      <vt:lpstr>Contexto</vt:lpstr>
      <vt:lpstr>Áreas — Dimensiones — Criterios — Estándares</vt:lpstr>
      <vt:lpstr>Áreas — Dimensiones — Criterios — Estándares</vt:lpstr>
      <vt:lpstr>Dimensiones — Criterios — Estándares</vt:lpstr>
      <vt:lpstr>Aseguramiento de la Calidad y procesos de mejora continua</vt:lpstr>
      <vt:lpstr>Análisis del Informe de Autoevaluación 2020 y estado actual bajo los nuevos criterios y estándares CNA</vt:lpstr>
      <vt:lpstr>CRITERIO 1 Modelo Educativo y Diseño Curricular</vt:lpstr>
      <vt:lpstr>PowerPoint Presentation</vt:lpstr>
      <vt:lpstr>PowerPoint Presentation</vt:lpstr>
      <vt:lpstr>CRITERIO 2 Procesos y Resultados de Enseñanza y Aprendizaje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CRITERIO 3 Cuerpo Académico</vt:lpstr>
      <vt:lpstr>PowerPoint Presentation</vt:lpstr>
      <vt:lpstr>PowerPoint Presentation</vt:lpstr>
      <vt:lpstr>PowerPoint Presentation</vt:lpstr>
      <vt:lpstr>PowerPoint Presentation</vt:lpstr>
      <vt:lpstr>Criterio 4 Investigación, innovación docente y mejora del proceso formativo</vt:lpstr>
      <vt:lpstr>PowerPoint Presentation</vt:lpstr>
      <vt:lpstr>PowerPoint Presentation</vt:lpstr>
      <vt:lpstr>PowerPoint Presentation</vt:lpstr>
      <vt:lpstr>PowerPoint Presentation</vt:lpstr>
      <vt:lpstr>Criterio 5 Gobierno y estructura organizacional</vt:lpstr>
      <vt:lpstr>PowerPoint Presentation</vt:lpstr>
      <vt:lpstr>PowerPoint Presentation</vt:lpstr>
      <vt:lpstr>Criterio 6 Gestión y desarrollo de personas</vt:lpstr>
      <vt:lpstr>PowerPoint Presentation</vt:lpstr>
      <vt:lpstr>PowerPoint Presentation</vt:lpstr>
      <vt:lpstr>Criterio 7 Gestión de la convivencia, equidad de género, diversidad e inclusión</vt:lpstr>
      <vt:lpstr>PowerPoint Presentation</vt:lpstr>
      <vt:lpstr>PowerPoint Presentation</vt:lpstr>
      <vt:lpstr>Criterio 8 Gestión de recursos</vt:lpstr>
      <vt:lpstr>PowerPoint Presentation</vt:lpstr>
      <vt:lpstr>PowerPoint Presentation</vt:lpstr>
      <vt:lpstr>Criterio 9 Gestión y resultados del aseguramiento interno de la calidad</vt:lpstr>
      <vt:lpstr>PowerPoint Presentation</vt:lpstr>
      <vt:lpstr>PowerPoint Presentation</vt:lpstr>
      <vt:lpstr>Criterio 10 Aseguramiento de la calidad de los programas formativos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Criterio 11 Política y gestión de la vinculación con el medio</vt:lpstr>
      <vt:lpstr>PowerPoint Presentation</vt:lpstr>
      <vt:lpstr>PowerPoint Presentation</vt:lpstr>
      <vt:lpstr>Criterio 12 Resultados e impacto de la vinculación con el medio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Criterio 13 Política y gestión de la investigación, creación y/o innovación</vt:lpstr>
      <vt:lpstr>PowerPoint Presentation</vt:lpstr>
      <vt:lpstr>PowerPoint Presentation</vt:lpstr>
      <vt:lpstr>Criterio 14 Resultados de la investigación, creación y/o innovación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Roberto Bernal</cp:lastModifiedBy>
  <cp:revision>1</cp:revision>
  <dcterms:modified xsi:type="dcterms:W3CDTF">2026-08-01T19:15:23Z</dcterms:modified>
</cp:coreProperties>
</file>