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91017"/>
        </a:solidFill>
        <a:effectLst/>
      </p:bgPr>
    </p:bg>
    <p:spTree>
      <p:nvGrpSpPr>
        <p:cNvPr id="1" name=""/>
        <p:cNvGrpSpPr/>
        <p:nvPr/>
      </p:nvGrpSpPr>
      <p:grpSpPr/>
      <p:sp>
        <p:nvSpPr>
          <p:cNvPr id="2" name="Oval 1"/>
          <p:cNvSpPr/>
          <p:nvPr/>
        </p:nvSpPr>
        <p:spPr>
          <a:xfrm>
            <a:off x="8778240" y="-1554480"/>
            <a:ext cx="5120640" cy="5120640"/>
          </a:xfrm>
          <a:prstGeom prst="ellipse">
            <a:avLst/>
          </a:prstGeom>
          <a:noFill/>
          <a:ln w="254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4846320"/>
            <a:ext cx="3108960" cy="3108960"/>
          </a:xfrm>
          <a:prstGeom prst="ellipse">
            <a:avLst/>
          </a:prstGeom>
          <a:noFill/>
          <a:ln w="19050">
            <a:solidFill>
              <a:srgbClr val="D8C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65960"/>
            <a:ext cx="9601200" cy="365760"/>
          </a:xfrm>
          <a:prstGeom prst="rect">
            <a:avLst/>
          </a:prstGeom>
          <a:noFill/>
        </p:spPr>
        <p:txBody>
          <a:bodyPr wrap="square" lIns="36576" rIns="36576" tIns="18288" bIns="18288">
            <a:spAutoFit/>
          </a:bodyPr>
          <a:lstStyle/>
          <a:p>
            <a:pPr algn="l"/>
            <a:r>
              <a:rPr sz="1300" b="1" i="0">
                <a:solidFill>
                  <a:srgbClr val="C9A227"/>
                </a:solidFill>
                <a:latin typeface="Calibri"/>
              </a:rPr>
              <a:t>ACREDITACIÓN INSTITUCIONAL · COMISIÓN NACIONAL DE ACREDITACIÓN</a:t>
            </a:r>
          </a:p>
        </p:txBody>
      </p:sp>
      <p:sp>
        <p:nvSpPr>
          <p:cNvPr id="5" name="TextBox 4"/>
          <p:cNvSpPr txBox="1"/>
          <p:nvPr/>
        </p:nvSpPr>
        <p:spPr>
          <a:xfrm>
            <a:off x="822960" y="2377440"/>
            <a:ext cx="9692640" cy="1828800"/>
          </a:xfrm>
          <a:prstGeom prst="rect">
            <a:avLst/>
          </a:prstGeom>
          <a:noFill/>
        </p:spPr>
        <p:txBody>
          <a:bodyPr wrap="square" lIns="36576" rIns="36576" tIns="18288" bIns="18288">
            <a:spAutoFit/>
          </a:bodyPr>
          <a:lstStyle/>
          <a:p>
            <a:pPr algn="l">
              <a:lnSpc>
                <a:spcPct val="105000"/>
              </a:lnSpc>
            </a:pPr>
            <a:r>
              <a:rPr sz="4000" b="1" i="0">
                <a:solidFill>
                  <a:srgbClr val="FFFFFF"/>
                </a:solidFill>
                <a:latin typeface="Cambria"/>
              </a:rPr>
              <a:t>Los criterios CNA y el camino de la
Universidad de Santiago de Chile</a:t>
            </a:r>
          </a:p>
        </p:txBody>
      </p:sp>
      <p:sp>
        <p:nvSpPr>
          <p:cNvPr id="6" name="TextBox 5"/>
          <p:cNvSpPr txBox="1"/>
          <p:nvPr/>
        </p:nvSpPr>
        <p:spPr>
          <a:xfrm>
            <a:off x="822960" y="4343400"/>
            <a:ext cx="8961120" cy="822960"/>
          </a:xfrm>
          <a:prstGeom prst="rect">
            <a:avLst/>
          </a:prstGeom>
          <a:noFill/>
        </p:spPr>
        <p:txBody>
          <a:bodyPr wrap="square" lIns="36576" rIns="36576" tIns="18288" bIns="18288">
            <a:spAutoFit/>
          </a:bodyPr>
          <a:lstStyle/>
          <a:p>
            <a:pPr algn="l">
              <a:lnSpc>
                <a:spcPct val="115000"/>
              </a:lnSpc>
            </a:pPr>
            <a:r>
              <a:rPr sz="1650" b="0" i="1">
                <a:solidFill>
                  <a:srgbClr val="D8C6C2"/>
                </a:solidFill>
                <a:latin typeface="Calibri"/>
              </a:rPr>
              <a:t>Una guía para la comunidad universitaria sobre el marco vigente
de acreditación institucional en Chile</a:t>
            </a:r>
          </a:p>
        </p:txBody>
      </p:sp>
      <p:sp>
        <p:nvSpPr>
          <p:cNvPr id="7" name="TextBox 6"/>
          <p:cNvSpPr txBox="1"/>
          <p:nvPr/>
        </p:nvSpPr>
        <p:spPr>
          <a:xfrm>
            <a:off x="822960" y="6080760"/>
            <a:ext cx="5486400" cy="365760"/>
          </a:xfrm>
          <a:prstGeom prst="rect">
            <a:avLst/>
          </a:prstGeom>
          <a:noFill/>
        </p:spPr>
        <p:txBody>
          <a:bodyPr wrap="square" lIns="36576" rIns="36576" tIns="18288" bIns="18288">
            <a:spAutoFit/>
          </a:bodyPr>
          <a:lstStyle/>
          <a:p>
            <a:pPr algn="l"/>
            <a:r>
              <a:rPr sz="1200" b="0" i="0">
                <a:solidFill>
                  <a:srgbClr val="E9D9A6"/>
                </a:solidFill>
                <a:latin typeface="Calibri"/>
              </a:rPr>
              <a:t>Universidad de Santiago de Chile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CONTENIDOS</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¿Qué veremos en esta presentación?</a:t>
            </a:r>
          </a:p>
        </p:txBody>
      </p:sp>
      <p:sp>
        <p:nvSpPr>
          <p:cNvPr id="4" name="Oval 3"/>
          <p:cNvSpPr/>
          <p:nvPr/>
        </p:nvSpPr>
        <p:spPr>
          <a:xfrm>
            <a:off x="640080" y="1600200"/>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502920" cy="502920"/>
          </a:xfrm>
          <a:prstGeom prst="rect">
            <a:avLst/>
          </a:prstGeom>
          <a:noFill/>
        </p:spPr>
        <p:txBody>
          <a:bodyPr wrap="square" lIns="36576" rIns="36576" tIns="18288" bIns="18288" anchor="ctr">
            <a:spAutoFit/>
          </a:bodyPr>
          <a:lstStyle/>
          <a:p>
            <a:pPr algn="ctr"/>
            <a:r>
              <a:rPr sz="1800" b="1" i="0">
                <a:solidFill>
                  <a:srgbClr val="FFFFFF"/>
                </a:solidFill>
                <a:latin typeface="Cambria"/>
              </a:rPr>
              <a:t>1</a:t>
            </a:r>
          </a:p>
        </p:txBody>
      </p:sp>
      <p:sp>
        <p:nvSpPr>
          <p:cNvPr id="6" name="TextBox 5"/>
          <p:cNvSpPr txBox="1"/>
          <p:nvPr/>
        </p:nvSpPr>
        <p:spPr>
          <a:xfrm>
            <a:off x="1353312" y="1554480"/>
            <a:ext cx="4754880" cy="457200"/>
          </a:xfrm>
          <a:prstGeom prst="rect">
            <a:avLst/>
          </a:prstGeom>
          <a:noFill/>
        </p:spPr>
        <p:txBody>
          <a:bodyPr wrap="square" lIns="36576" rIns="36576" tIns="18288" bIns="18288">
            <a:spAutoFit/>
          </a:bodyPr>
          <a:lstStyle/>
          <a:p>
            <a:pPr algn="l"/>
            <a:r>
              <a:rPr sz="1600" b="1" i="0">
                <a:solidFill>
                  <a:srgbClr val="491017"/>
                </a:solidFill>
                <a:latin typeface="Cambria"/>
              </a:rPr>
              <a:t>¿Qué es la acreditación institucional?</a:t>
            </a:r>
          </a:p>
        </p:txBody>
      </p:sp>
      <p:sp>
        <p:nvSpPr>
          <p:cNvPr id="7" name="TextBox 6"/>
          <p:cNvSpPr txBox="1"/>
          <p:nvPr/>
        </p:nvSpPr>
        <p:spPr>
          <a:xfrm>
            <a:off x="1353312" y="2011680"/>
            <a:ext cx="4754880" cy="822960"/>
          </a:xfrm>
          <a:prstGeom prst="rect">
            <a:avLst/>
          </a:prstGeom>
          <a:noFill/>
        </p:spPr>
        <p:txBody>
          <a:bodyPr wrap="square" lIns="36576" rIns="36576" tIns="18288" bIns="18288">
            <a:spAutoFit/>
          </a:bodyPr>
          <a:lstStyle/>
          <a:p>
            <a:pPr algn="l">
              <a:lnSpc>
                <a:spcPct val="110000"/>
              </a:lnSpc>
            </a:pPr>
            <a:r>
              <a:rPr sz="1250" b="0" i="0">
                <a:solidFill>
                  <a:srgbClr val="797371"/>
                </a:solidFill>
                <a:latin typeface="Calibri"/>
              </a:rPr>
              <a:t>Concepto, propósito y por qué importa para la universidad.</a:t>
            </a:r>
          </a:p>
        </p:txBody>
      </p:sp>
      <p:sp>
        <p:nvSpPr>
          <p:cNvPr id="8" name="Oval 7"/>
          <p:cNvSpPr/>
          <p:nvPr/>
        </p:nvSpPr>
        <p:spPr>
          <a:xfrm>
            <a:off x="640080" y="3081528"/>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81528"/>
            <a:ext cx="502920" cy="502920"/>
          </a:xfrm>
          <a:prstGeom prst="rect">
            <a:avLst/>
          </a:prstGeom>
          <a:noFill/>
        </p:spPr>
        <p:txBody>
          <a:bodyPr wrap="square" lIns="36576" rIns="36576" tIns="18288" bIns="18288" anchor="ctr">
            <a:spAutoFit/>
          </a:bodyPr>
          <a:lstStyle/>
          <a:p>
            <a:pPr algn="ctr"/>
            <a:r>
              <a:rPr sz="1800" b="1" i="0">
                <a:solidFill>
                  <a:srgbClr val="FFFFFF"/>
                </a:solidFill>
                <a:latin typeface="Cambria"/>
              </a:rPr>
              <a:t>2</a:t>
            </a:r>
          </a:p>
        </p:txBody>
      </p:sp>
      <p:sp>
        <p:nvSpPr>
          <p:cNvPr id="10" name="TextBox 9"/>
          <p:cNvSpPr txBox="1"/>
          <p:nvPr/>
        </p:nvSpPr>
        <p:spPr>
          <a:xfrm>
            <a:off x="1353312" y="3035808"/>
            <a:ext cx="4754880" cy="457200"/>
          </a:xfrm>
          <a:prstGeom prst="rect">
            <a:avLst/>
          </a:prstGeom>
          <a:noFill/>
        </p:spPr>
        <p:txBody>
          <a:bodyPr wrap="square" lIns="36576" rIns="36576" tIns="18288" bIns="18288">
            <a:spAutoFit/>
          </a:bodyPr>
          <a:lstStyle/>
          <a:p>
            <a:pPr algn="l"/>
            <a:r>
              <a:rPr sz="1600" b="1" i="0">
                <a:solidFill>
                  <a:srgbClr val="491017"/>
                </a:solidFill>
                <a:latin typeface="Cambria"/>
              </a:rPr>
              <a:t>Marco legal y la CNA</a:t>
            </a:r>
          </a:p>
        </p:txBody>
      </p:sp>
      <p:sp>
        <p:nvSpPr>
          <p:cNvPr id="11" name="TextBox 10"/>
          <p:cNvSpPr txBox="1"/>
          <p:nvPr/>
        </p:nvSpPr>
        <p:spPr>
          <a:xfrm>
            <a:off x="1353312" y="3493008"/>
            <a:ext cx="4754880" cy="822960"/>
          </a:xfrm>
          <a:prstGeom prst="rect">
            <a:avLst/>
          </a:prstGeom>
          <a:noFill/>
        </p:spPr>
        <p:txBody>
          <a:bodyPr wrap="square" lIns="36576" rIns="36576" tIns="18288" bIns="18288">
            <a:spAutoFit/>
          </a:bodyPr>
          <a:lstStyle/>
          <a:p>
            <a:pPr algn="l">
              <a:lnSpc>
                <a:spcPct val="110000"/>
              </a:lnSpc>
            </a:pPr>
            <a:r>
              <a:rPr sz="1250" b="0" i="0">
                <a:solidFill>
                  <a:srgbClr val="797371"/>
                </a:solidFill>
                <a:latin typeface="Calibri"/>
              </a:rPr>
              <a:t>Las leyes que la rigen y el rol de la Comisión Nacional de Acreditación.</a:t>
            </a:r>
          </a:p>
        </p:txBody>
      </p:sp>
      <p:sp>
        <p:nvSpPr>
          <p:cNvPr id="12" name="Oval 11"/>
          <p:cNvSpPr/>
          <p:nvPr/>
        </p:nvSpPr>
        <p:spPr>
          <a:xfrm>
            <a:off x="640080" y="4562856"/>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562856"/>
            <a:ext cx="502920" cy="502920"/>
          </a:xfrm>
          <a:prstGeom prst="rect">
            <a:avLst/>
          </a:prstGeom>
          <a:noFill/>
        </p:spPr>
        <p:txBody>
          <a:bodyPr wrap="square" lIns="36576" rIns="36576" tIns="18288" bIns="18288" anchor="ctr">
            <a:spAutoFit/>
          </a:bodyPr>
          <a:lstStyle/>
          <a:p>
            <a:pPr algn="ctr"/>
            <a:r>
              <a:rPr sz="1800" b="1" i="0">
                <a:solidFill>
                  <a:srgbClr val="FFFFFF"/>
                </a:solidFill>
                <a:latin typeface="Cambria"/>
              </a:rPr>
              <a:t>3</a:t>
            </a:r>
          </a:p>
        </p:txBody>
      </p:sp>
      <p:sp>
        <p:nvSpPr>
          <p:cNvPr id="14" name="TextBox 13"/>
          <p:cNvSpPr txBox="1"/>
          <p:nvPr/>
        </p:nvSpPr>
        <p:spPr>
          <a:xfrm>
            <a:off x="1353312" y="4517136"/>
            <a:ext cx="4754880" cy="457200"/>
          </a:xfrm>
          <a:prstGeom prst="rect">
            <a:avLst/>
          </a:prstGeom>
          <a:noFill/>
        </p:spPr>
        <p:txBody>
          <a:bodyPr wrap="square" lIns="36576" rIns="36576" tIns="18288" bIns="18288">
            <a:spAutoFit/>
          </a:bodyPr>
          <a:lstStyle/>
          <a:p>
            <a:pPr algn="l"/>
            <a:r>
              <a:rPr sz="1600" b="1" i="0">
                <a:solidFill>
                  <a:srgbClr val="491017"/>
                </a:solidFill>
                <a:latin typeface="Cambria"/>
              </a:rPr>
              <a:t>El proceso, paso a paso</a:t>
            </a:r>
          </a:p>
        </p:txBody>
      </p:sp>
      <p:sp>
        <p:nvSpPr>
          <p:cNvPr id="15" name="TextBox 14"/>
          <p:cNvSpPr txBox="1"/>
          <p:nvPr/>
        </p:nvSpPr>
        <p:spPr>
          <a:xfrm>
            <a:off x="1353312" y="4974336"/>
            <a:ext cx="4754880" cy="822960"/>
          </a:xfrm>
          <a:prstGeom prst="rect">
            <a:avLst/>
          </a:prstGeom>
          <a:noFill/>
        </p:spPr>
        <p:txBody>
          <a:bodyPr wrap="square" lIns="36576" rIns="36576" tIns="18288" bIns="18288">
            <a:spAutoFit/>
          </a:bodyPr>
          <a:lstStyle/>
          <a:p>
            <a:pPr algn="l">
              <a:lnSpc>
                <a:spcPct val="110000"/>
              </a:lnSpc>
            </a:pPr>
            <a:r>
              <a:rPr sz="1250" b="0" i="0">
                <a:solidFill>
                  <a:srgbClr val="797371"/>
                </a:solidFill>
                <a:latin typeface="Calibri"/>
              </a:rPr>
              <a:t>Las tres etapas y los plazos del procedimiento de acreditación.</a:t>
            </a:r>
          </a:p>
        </p:txBody>
      </p:sp>
      <p:sp>
        <p:nvSpPr>
          <p:cNvPr id="16" name="Oval 15"/>
          <p:cNvSpPr/>
          <p:nvPr/>
        </p:nvSpPr>
        <p:spPr>
          <a:xfrm>
            <a:off x="6355080" y="1600200"/>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600200"/>
            <a:ext cx="502920" cy="502920"/>
          </a:xfrm>
          <a:prstGeom prst="rect">
            <a:avLst/>
          </a:prstGeom>
          <a:noFill/>
        </p:spPr>
        <p:txBody>
          <a:bodyPr wrap="square" lIns="36576" rIns="36576" tIns="18288" bIns="18288" anchor="ctr">
            <a:spAutoFit/>
          </a:bodyPr>
          <a:lstStyle/>
          <a:p>
            <a:pPr algn="ctr"/>
            <a:r>
              <a:rPr sz="1800" b="1" i="0">
                <a:solidFill>
                  <a:srgbClr val="FFFFFF"/>
                </a:solidFill>
                <a:latin typeface="Cambria"/>
              </a:rPr>
              <a:t>4</a:t>
            </a:r>
          </a:p>
        </p:txBody>
      </p:sp>
      <p:sp>
        <p:nvSpPr>
          <p:cNvPr id="18" name="TextBox 17"/>
          <p:cNvSpPr txBox="1"/>
          <p:nvPr/>
        </p:nvSpPr>
        <p:spPr>
          <a:xfrm>
            <a:off x="7068312" y="1554480"/>
            <a:ext cx="4754880" cy="457200"/>
          </a:xfrm>
          <a:prstGeom prst="rect">
            <a:avLst/>
          </a:prstGeom>
          <a:noFill/>
        </p:spPr>
        <p:txBody>
          <a:bodyPr wrap="square" lIns="36576" rIns="36576" tIns="18288" bIns="18288">
            <a:spAutoFit/>
          </a:bodyPr>
          <a:lstStyle/>
          <a:p>
            <a:pPr algn="l"/>
            <a:r>
              <a:rPr sz="1600" b="1" i="0">
                <a:solidFill>
                  <a:srgbClr val="491017"/>
                </a:solidFill>
                <a:latin typeface="Cambria"/>
              </a:rPr>
              <a:t>Niveles y consecuencias</a:t>
            </a:r>
          </a:p>
        </p:txBody>
      </p:sp>
      <p:sp>
        <p:nvSpPr>
          <p:cNvPr id="19" name="TextBox 18"/>
          <p:cNvSpPr txBox="1"/>
          <p:nvPr/>
        </p:nvSpPr>
        <p:spPr>
          <a:xfrm>
            <a:off x="7068312" y="2011680"/>
            <a:ext cx="4754880" cy="822960"/>
          </a:xfrm>
          <a:prstGeom prst="rect">
            <a:avLst/>
          </a:prstGeom>
          <a:noFill/>
        </p:spPr>
        <p:txBody>
          <a:bodyPr wrap="square" lIns="36576" rIns="36576" tIns="18288" bIns="18288">
            <a:spAutoFit/>
          </a:bodyPr>
          <a:lstStyle/>
          <a:p>
            <a:pPr algn="l">
              <a:lnSpc>
                <a:spcPct val="110000"/>
              </a:lnSpc>
            </a:pPr>
            <a:r>
              <a:rPr sz="1250" b="0" i="0">
                <a:solidFill>
                  <a:srgbClr val="797371"/>
                </a:solidFill>
                <a:latin typeface="Calibri"/>
              </a:rPr>
              <a:t>Qué se obtiene, por cuánto tiempo, y qué arriesga la institución.</a:t>
            </a:r>
          </a:p>
        </p:txBody>
      </p:sp>
      <p:sp>
        <p:nvSpPr>
          <p:cNvPr id="20" name="Oval 19"/>
          <p:cNvSpPr/>
          <p:nvPr/>
        </p:nvSpPr>
        <p:spPr>
          <a:xfrm>
            <a:off x="6355080" y="3081528"/>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081528"/>
            <a:ext cx="502920" cy="502920"/>
          </a:xfrm>
          <a:prstGeom prst="rect">
            <a:avLst/>
          </a:prstGeom>
          <a:noFill/>
        </p:spPr>
        <p:txBody>
          <a:bodyPr wrap="square" lIns="36576" rIns="36576" tIns="18288" bIns="18288" anchor="ctr">
            <a:spAutoFit/>
          </a:bodyPr>
          <a:lstStyle/>
          <a:p>
            <a:pPr algn="ctr"/>
            <a:r>
              <a:rPr sz="1800" b="1" i="0">
                <a:solidFill>
                  <a:srgbClr val="FFFFFF"/>
                </a:solidFill>
                <a:latin typeface="Cambria"/>
              </a:rPr>
              <a:t>5</a:t>
            </a:r>
          </a:p>
        </p:txBody>
      </p:sp>
      <p:sp>
        <p:nvSpPr>
          <p:cNvPr id="22" name="TextBox 21"/>
          <p:cNvSpPr txBox="1"/>
          <p:nvPr/>
        </p:nvSpPr>
        <p:spPr>
          <a:xfrm>
            <a:off x="7068312" y="3035808"/>
            <a:ext cx="4754880" cy="457200"/>
          </a:xfrm>
          <a:prstGeom prst="rect">
            <a:avLst/>
          </a:prstGeom>
          <a:noFill/>
        </p:spPr>
        <p:txBody>
          <a:bodyPr wrap="square" lIns="36576" rIns="36576" tIns="18288" bIns="18288">
            <a:spAutoFit/>
          </a:bodyPr>
          <a:lstStyle/>
          <a:p>
            <a:pPr algn="l"/>
            <a:r>
              <a:rPr sz="1600" b="1" i="0">
                <a:solidFill>
                  <a:srgbClr val="491017"/>
                </a:solidFill>
                <a:latin typeface="Cambria"/>
              </a:rPr>
              <a:t>Las 5 dimensiones y 14 criterios</a:t>
            </a:r>
          </a:p>
        </p:txBody>
      </p:sp>
      <p:sp>
        <p:nvSpPr>
          <p:cNvPr id="23" name="TextBox 22"/>
          <p:cNvSpPr txBox="1"/>
          <p:nvPr/>
        </p:nvSpPr>
        <p:spPr>
          <a:xfrm>
            <a:off x="7068312" y="3493008"/>
            <a:ext cx="4754880" cy="822960"/>
          </a:xfrm>
          <a:prstGeom prst="rect">
            <a:avLst/>
          </a:prstGeom>
          <a:noFill/>
        </p:spPr>
        <p:txBody>
          <a:bodyPr wrap="square" lIns="36576" rIns="36576" tIns="18288" bIns="18288">
            <a:spAutoFit/>
          </a:bodyPr>
          <a:lstStyle/>
          <a:p>
            <a:pPr algn="l">
              <a:lnSpc>
                <a:spcPct val="110000"/>
              </a:lnSpc>
            </a:pPr>
            <a:r>
              <a:rPr sz="1250" b="0" i="0">
                <a:solidFill>
                  <a:srgbClr val="797371"/>
                </a:solidFill>
                <a:latin typeface="Calibri"/>
              </a:rPr>
              <a:t>La rúbrica completa con la que la CNA evalúa a la universidad.</a:t>
            </a:r>
          </a:p>
        </p:txBody>
      </p:sp>
      <p:sp>
        <p:nvSpPr>
          <p:cNvPr id="24" name="Oval 23"/>
          <p:cNvSpPr/>
          <p:nvPr/>
        </p:nvSpPr>
        <p:spPr>
          <a:xfrm>
            <a:off x="6355080" y="4562856"/>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562856"/>
            <a:ext cx="502920" cy="502920"/>
          </a:xfrm>
          <a:prstGeom prst="rect">
            <a:avLst/>
          </a:prstGeom>
          <a:noFill/>
        </p:spPr>
        <p:txBody>
          <a:bodyPr wrap="square" lIns="36576" rIns="36576" tIns="18288" bIns="18288" anchor="ctr">
            <a:spAutoFit/>
          </a:bodyPr>
          <a:lstStyle/>
          <a:p>
            <a:pPr algn="ctr"/>
            <a:r>
              <a:rPr sz="1800" b="1" i="0">
                <a:solidFill>
                  <a:srgbClr val="FFFFFF"/>
                </a:solidFill>
                <a:latin typeface="Cambria"/>
              </a:rPr>
              <a:t>6</a:t>
            </a:r>
          </a:p>
        </p:txBody>
      </p:sp>
      <p:sp>
        <p:nvSpPr>
          <p:cNvPr id="26" name="TextBox 25"/>
          <p:cNvSpPr txBox="1"/>
          <p:nvPr/>
        </p:nvSpPr>
        <p:spPr>
          <a:xfrm>
            <a:off x="7068312" y="4517136"/>
            <a:ext cx="4754880" cy="457200"/>
          </a:xfrm>
          <a:prstGeom prst="rect">
            <a:avLst/>
          </a:prstGeom>
          <a:noFill/>
        </p:spPr>
        <p:txBody>
          <a:bodyPr wrap="square" lIns="36576" rIns="36576" tIns="18288" bIns="18288">
            <a:spAutoFit/>
          </a:bodyPr>
          <a:lstStyle/>
          <a:p>
            <a:pPr algn="l"/>
            <a:r>
              <a:rPr sz="1600" b="1" i="0">
                <a:solidFill>
                  <a:srgbClr val="491017"/>
                </a:solidFill>
                <a:latin typeface="Cambria"/>
              </a:rPr>
              <a:t>La muestra intencionada y la USACH</a:t>
            </a:r>
          </a:p>
        </p:txBody>
      </p:sp>
      <p:sp>
        <p:nvSpPr>
          <p:cNvPr id="27" name="TextBox 26"/>
          <p:cNvSpPr txBox="1"/>
          <p:nvPr/>
        </p:nvSpPr>
        <p:spPr>
          <a:xfrm>
            <a:off x="7068312" y="4974336"/>
            <a:ext cx="4754880" cy="822960"/>
          </a:xfrm>
          <a:prstGeom prst="rect">
            <a:avLst/>
          </a:prstGeom>
          <a:noFill/>
        </p:spPr>
        <p:txBody>
          <a:bodyPr wrap="square" lIns="36576" rIns="36576" tIns="18288" bIns="18288">
            <a:spAutoFit/>
          </a:bodyPr>
          <a:lstStyle/>
          <a:p>
            <a:pPr algn="l">
              <a:lnSpc>
                <a:spcPct val="110000"/>
              </a:lnSpc>
            </a:pPr>
            <a:r>
              <a:rPr sz="1250" b="0" i="0">
                <a:solidFill>
                  <a:srgbClr val="797371"/>
                </a:solidFill>
                <a:latin typeface="Calibri"/>
              </a:rPr>
              <a:t>Cómo se eligen los programas evaluados y cómo se prepara la universidad.</a:t>
            </a:r>
          </a:p>
        </p:txBody>
      </p:sp>
      <p:sp>
        <p:nvSpPr>
          <p:cNvPr id="28" name="TextBox 27"/>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CONCEPTO</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¿Qué es la acreditación institucional?</a:t>
            </a:r>
          </a:p>
        </p:txBody>
      </p:sp>
      <p:sp>
        <p:nvSpPr>
          <p:cNvPr id="4" name="TextBox 3"/>
          <p:cNvSpPr txBox="1"/>
          <p:nvPr/>
        </p:nvSpPr>
        <p:spPr>
          <a:xfrm>
            <a:off x="594360" y="1554480"/>
            <a:ext cx="5577840" cy="4297680"/>
          </a:xfrm>
          <a:prstGeom prst="rect">
            <a:avLst/>
          </a:prstGeom>
          <a:noFill/>
        </p:spPr>
        <p:txBody>
          <a:bodyPr wrap="square" lIns="36576" rIns="36576" tIns="18288" bIns="18288">
            <a:spAutoFit/>
          </a:bodyPr>
          <a:lstStyle/>
          <a:p>
            <a:pPr algn="l">
              <a:lnSpc>
                <a:spcPct val="118000"/>
              </a:lnSpc>
              <a:spcAft>
                <a:spcPts val="1600"/>
              </a:spcAft>
            </a:pPr>
            <a:r>
              <a:rPr sz="1450" b="0" i="0">
                <a:solidFill>
                  <a:srgbClr val="2B2B2B"/>
                </a:solidFill>
                <a:latin typeface="Calibri"/>
              </a:rPr>
              <a:t>Es la evaluación y verificación externa, a cargo de la Comisión Nacional de Acreditación (CNA), del cumplimiento de un conjunto de criterios y estándares de calidad por parte de una institución de educación superior.</a:t>
            </a:r>
          </a:p>
          <a:p>
            <a:pPr algn="l">
              <a:lnSpc>
                <a:spcPct val="118000"/>
              </a:lnSpc>
              <a:spcAft>
                <a:spcPts val="1600"/>
              </a:spcAft>
            </a:pPr>
            <a:r>
              <a:rPr sz="1450" b="0" i="0">
                <a:solidFill>
                  <a:srgbClr val="2B2B2B"/>
                </a:solidFill>
                <a:latin typeface="Calibri"/>
              </a:rPr>
              <a:t>Es obligatoria para todas las instituciones de educación superior autónomas desde el 1 de enero de 2020, en virtud de la Ley N°20.129.</a:t>
            </a:r>
          </a:p>
          <a:p>
            <a:pPr algn="l">
              <a:lnSpc>
                <a:spcPct val="118000"/>
              </a:lnSpc>
              <a:spcAft>
                <a:spcPts val="1600"/>
              </a:spcAft>
            </a:pPr>
            <a:r>
              <a:rPr sz="1450" b="0" i="0">
                <a:solidFill>
                  <a:srgbClr val="2B2B2B"/>
                </a:solidFill>
                <a:latin typeface="Calibri"/>
              </a:rPr>
              <a:t>No certifica programas aislados: evalúa a la universidad como un todo, en su gestión, su docencia y los resultados de su quehacer institucional.</a:t>
            </a:r>
          </a:p>
        </p:txBody>
      </p:sp>
      <p:sp>
        <p:nvSpPr>
          <p:cNvPr id="5" name="Rounded Rectangle 4"/>
          <p:cNvSpPr/>
          <p:nvPr/>
        </p:nvSpPr>
        <p:spPr>
          <a:xfrm>
            <a:off x="6400800" y="1554480"/>
            <a:ext cx="5166360" cy="1298448"/>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682495"/>
            <a:ext cx="4663440" cy="365760"/>
          </a:xfrm>
          <a:prstGeom prst="rect">
            <a:avLst/>
          </a:prstGeom>
          <a:noFill/>
        </p:spPr>
        <p:txBody>
          <a:bodyPr wrap="square" lIns="36576" rIns="36576" tIns="18288" bIns="18288">
            <a:spAutoFit/>
          </a:bodyPr>
          <a:lstStyle/>
          <a:p>
            <a:pPr algn="l"/>
            <a:r>
              <a:rPr sz="1400" b="1" i="0">
                <a:solidFill>
                  <a:srgbClr val="7A1F2B"/>
                </a:solidFill>
                <a:latin typeface="Cambria"/>
              </a:rPr>
              <a:t>Garantiza calidad</a:t>
            </a:r>
          </a:p>
        </p:txBody>
      </p:sp>
      <p:sp>
        <p:nvSpPr>
          <p:cNvPr id="7" name="TextBox 6"/>
          <p:cNvSpPr txBox="1"/>
          <p:nvPr/>
        </p:nvSpPr>
        <p:spPr>
          <a:xfrm>
            <a:off x="6675120" y="2066543"/>
            <a:ext cx="4663440" cy="73152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Verifica externamente que la institución cumple estándares definidos por ley.</a:t>
            </a:r>
          </a:p>
        </p:txBody>
      </p:sp>
      <p:sp>
        <p:nvSpPr>
          <p:cNvPr id="8" name="Rounded Rectangle 7"/>
          <p:cNvSpPr/>
          <p:nvPr/>
        </p:nvSpPr>
        <p:spPr>
          <a:xfrm>
            <a:off x="6400800" y="3035808"/>
            <a:ext cx="5166360" cy="1298448"/>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63824"/>
            <a:ext cx="4663440" cy="365760"/>
          </a:xfrm>
          <a:prstGeom prst="rect">
            <a:avLst/>
          </a:prstGeom>
          <a:noFill/>
        </p:spPr>
        <p:txBody>
          <a:bodyPr wrap="square" lIns="36576" rIns="36576" tIns="18288" bIns="18288">
            <a:spAutoFit/>
          </a:bodyPr>
          <a:lstStyle/>
          <a:p>
            <a:pPr algn="l"/>
            <a:r>
              <a:rPr sz="1400" b="1" i="0">
                <a:solidFill>
                  <a:srgbClr val="7A1F2B"/>
                </a:solidFill>
                <a:latin typeface="Cambria"/>
              </a:rPr>
              <a:t>Habilita financiamiento y beneficios</a:t>
            </a:r>
          </a:p>
        </p:txBody>
      </p:sp>
      <p:sp>
        <p:nvSpPr>
          <p:cNvPr id="10" name="TextBox 9"/>
          <p:cNvSpPr txBox="1"/>
          <p:nvPr/>
        </p:nvSpPr>
        <p:spPr>
          <a:xfrm>
            <a:off x="6675120" y="3547872"/>
            <a:ext cx="4663440" cy="73152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Es requisito para acceder a financiamiento público y beneficios estudiantiles del Estado.</a:t>
            </a:r>
          </a:p>
        </p:txBody>
      </p:sp>
      <p:sp>
        <p:nvSpPr>
          <p:cNvPr id="11" name="Rounded Rectangle 10"/>
          <p:cNvSpPr/>
          <p:nvPr/>
        </p:nvSpPr>
        <p:spPr>
          <a:xfrm>
            <a:off x="6400800" y="4517136"/>
            <a:ext cx="5166360" cy="1298448"/>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4645152"/>
            <a:ext cx="4663440" cy="365760"/>
          </a:xfrm>
          <a:prstGeom prst="rect">
            <a:avLst/>
          </a:prstGeom>
          <a:noFill/>
        </p:spPr>
        <p:txBody>
          <a:bodyPr wrap="square" lIns="36576" rIns="36576" tIns="18288" bIns="18288">
            <a:spAutoFit/>
          </a:bodyPr>
          <a:lstStyle/>
          <a:p>
            <a:pPr algn="l"/>
            <a:r>
              <a:rPr sz="1400" b="1" i="0">
                <a:solidFill>
                  <a:srgbClr val="7A1F2B"/>
                </a:solidFill>
                <a:latin typeface="Cambria"/>
              </a:rPr>
              <a:t>Da reconocimiento público</a:t>
            </a:r>
          </a:p>
        </p:txBody>
      </p:sp>
      <p:sp>
        <p:nvSpPr>
          <p:cNvPr id="13" name="TextBox 12"/>
          <p:cNvSpPr txBox="1"/>
          <p:nvPr/>
        </p:nvSpPr>
        <p:spPr>
          <a:xfrm>
            <a:off x="6675120" y="5029200"/>
            <a:ext cx="4663440" cy="73152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Comunica a la comunidad y a la sociedad el nivel de desarrollo institucional alcanzado.</a:t>
            </a:r>
          </a:p>
        </p:txBody>
      </p:sp>
      <p:sp>
        <p:nvSpPr>
          <p:cNvPr id="14" name="TextBox 13"/>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MARCO LEGAL</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Las leyes que sostienen el sistema</a:t>
            </a:r>
          </a:p>
        </p:txBody>
      </p:sp>
      <p:sp>
        <p:nvSpPr>
          <p:cNvPr id="4" name="TextBox 3"/>
          <p:cNvSpPr txBox="1"/>
          <p:nvPr/>
        </p:nvSpPr>
        <p:spPr>
          <a:xfrm>
            <a:off x="594360" y="1371600"/>
            <a:ext cx="10972800" cy="457200"/>
          </a:xfrm>
          <a:prstGeom prst="rect">
            <a:avLst/>
          </a:prstGeom>
          <a:noFill/>
        </p:spPr>
        <p:txBody>
          <a:bodyPr wrap="square" lIns="36576" rIns="36576" tIns="18288" bIns="18288">
            <a:spAutoFit/>
          </a:bodyPr>
          <a:lstStyle/>
          <a:p>
            <a:pPr algn="l"/>
            <a:r>
              <a:rPr sz="1400" b="0" i="0">
                <a:solidFill>
                  <a:srgbClr val="797371"/>
                </a:solidFill>
                <a:latin typeface="Calibri"/>
              </a:rPr>
              <a:t>El sistema de acreditación institucional chileno se construye sobre tres hitos legales:</a:t>
            </a:r>
          </a:p>
        </p:txBody>
      </p:sp>
      <p:cxnSp>
        <p:nvCxnSpPr>
          <p:cNvPr id="5" name="Connector 4"/>
          <p:cNvCxnSpPr/>
          <p:nvPr/>
        </p:nvCxnSpPr>
        <p:spPr>
          <a:xfrm>
            <a:off x="1417320" y="2788920"/>
            <a:ext cx="9372600" cy="0"/>
          </a:xfrm>
          <a:prstGeom prst="line">
            <a:avLst/>
          </a:prstGeom>
          <a:ln w="19050">
            <a:solidFill>
              <a:srgbClr val="DED9D7"/>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914400" y="2514600"/>
            <a:ext cx="1005840" cy="10058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1005840" cy="1005840"/>
          </a:xfrm>
          <a:prstGeom prst="rect">
            <a:avLst/>
          </a:prstGeom>
          <a:noFill/>
        </p:spPr>
        <p:txBody>
          <a:bodyPr wrap="square" lIns="36576" rIns="36576" tIns="18288" bIns="18288" anchor="ctr">
            <a:spAutoFit/>
          </a:bodyPr>
          <a:lstStyle/>
          <a:p>
            <a:pPr algn="ctr"/>
            <a:r>
              <a:rPr sz="1800" b="1" i="0">
                <a:solidFill>
                  <a:srgbClr val="FFFFFF"/>
                </a:solidFill>
                <a:latin typeface="Cambria"/>
              </a:rPr>
              <a:t>2006</a:t>
            </a:r>
          </a:p>
        </p:txBody>
      </p:sp>
      <p:sp>
        <p:nvSpPr>
          <p:cNvPr id="8" name="TextBox 7"/>
          <p:cNvSpPr txBox="1"/>
          <p:nvPr/>
        </p:nvSpPr>
        <p:spPr>
          <a:xfrm>
            <a:off x="411479" y="3703320"/>
            <a:ext cx="2011680" cy="411480"/>
          </a:xfrm>
          <a:prstGeom prst="rect">
            <a:avLst/>
          </a:prstGeom>
          <a:noFill/>
        </p:spPr>
        <p:txBody>
          <a:bodyPr wrap="square" lIns="36576" rIns="36576" tIns="18288" bIns="18288">
            <a:spAutoFit/>
          </a:bodyPr>
          <a:lstStyle/>
          <a:p>
            <a:pPr algn="ctr"/>
            <a:r>
              <a:rPr sz="1500" b="1" i="0">
                <a:solidFill>
                  <a:srgbClr val="491017"/>
                </a:solidFill>
                <a:latin typeface="Cambria"/>
              </a:rPr>
              <a:t>Ley N°20.129</a:t>
            </a:r>
          </a:p>
        </p:txBody>
      </p:sp>
      <p:sp>
        <p:nvSpPr>
          <p:cNvPr id="9" name="TextBox 8"/>
          <p:cNvSpPr txBox="1"/>
          <p:nvPr/>
        </p:nvSpPr>
        <p:spPr>
          <a:xfrm>
            <a:off x="45720" y="4160520"/>
            <a:ext cx="2743200" cy="2011680"/>
          </a:xfrm>
          <a:prstGeom prst="rect">
            <a:avLst/>
          </a:prstGeom>
          <a:noFill/>
        </p:spPr>
        <p:txBody>
          <a:bodyPr wrap="square" lIns="36576" rIns="36576" tIns="18288" bIns="18288">
            <a:spAutoFit/>
          </a:bodyPr>
          <a:lstStyle/>
          <a:p>
            <a:pPr algn="ctr">
              <a:lnSpc>
                <a:spcPct val="112000"/>
              </a:lnSpc>
            </a:pPr>
            <a:r>
              <a:rPr sz="1200" b="0" i="0">
                <a:solidFill>
                  <a:srgbClr val="2B2B2B"/>
                </a:solidFill>
                <a:latin typeface="Calibri"/>
              </a:rPr>
              <a:t>Crea el Sistema Nacional de Aseguramiento de la Calidad de la Educación Superior y la CNA. Su artículo 15 y siguientes regulan la acreditación institucional.</a:t>
            </a:r>
          </a:p>
        </p:txBody>
      </p:sp>
      <p:sp>
        <p:nvSpPr>
          <p:cNvPr id="10" name="Oval 9"/>
          <p:cNvSpPr/>
          <p:nvPr/>
        </p:nvSpPr>
        <p:spPr>
          <a:xfrm>
            <a:off x="4937760" y="2514600"/>
            <a:ext cx="1005840" cy="10058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514600"/>
            <a:ext cx="1005840" cy="1005840"/>
          </a:xfrm>
          <a:prstGeom prst="rect">
            <a:avLst/>
          </a:prstGeom>
          <a:noFill/>
        </p:spPr>
        <p:txBody>
          <a:bodyPr wrap="square" lIns="36576" rIns="36576" tIns="18288" bIns="18288" anchor="ctr">
            <a:spAutoFit/>
          </a:bodyPr>
          <a:lstStyle/>
          <a:p>
            <a:pPr algn="ctr"/>
            <a:r>
              <a:rPr sz="1800" b="1" i="0">
                <a:solidFill>
                  <a:srgbClr val="FFFFFF"/>
                </a:solidFill>
                <a:latin typeface="Cambria"/>
              </a:rPr>
              <a:t>2018</a:t>
            </a:r>
          </a:p>
        </p:txBody>
      </p:sp>
      <p:sp>
        <p:nvSpPr>
          <p:cNvPr id="12" name="TextBox 11"/>
          <p:cNvSpPr txBox="1"/>
          <p:nvPr/>
        </p:nvSpPr>
        <p:spPr>
          <a:xfrm>
            <a:off x="4434840" y="3703320"/>
            <a:ext cx="2011680" cy="411480"/>
          </a:xfrm>
          <a:prstGeom prst="rect">
            <a:avLst/>
          </a:prstGeom>
          <a:noFill/>
        </p:spPr>
        <p:txBody>
          <a:bodyPr wrap="square" lIns="36576" rIns="36576" tIns="18288" bIns="18288">
            <a:spAutoFit/>
          </a:bodyPr>
          <a:lstStyle/>
          <a:p>
            <a:pPr algn="ctr"/>
            <a:r>
              <a:rPr sz="1500" b="1" i="0">
                <a:solidFill>
                  <a:srgbClr val="491017"/>
                </a:solidFill>
                <a:latin typeface="Cambria"/>
              </a:rPr>
              <a:t>Ley N°21.091</a:t>
            </a:r>
          </a:p>
        </p:txBody>
      </p:sp>
      <p:sp>
        <p:nvSpPr>
          <p:cNvPr id="13" name="TextBox 12"/>
          <p:cNvSpPr txBox="1"/>
          <p:nvPr/>
        </p:nvSpPr>
        <p:spPr>
          <a:xfrm>
            <a:off x="4069080" y="4160520"/>
            <a:ext cx="2743200" cy="2011680"/>
          </a:xfrm>
          <a:prstGeom prst="rect">
            <a:avLst/>
          </a:prstGeom>
          <a:noFill/>
        </p:spPr>
        <p:txBody>
          <a:bodyPr wrap="square" lIns="36576" rIns="36576" tIns="18288" bIns="18288">
            <a:spAutoFit/>
          </a:bodyPr>
          <a:lstStyle/>
          <a:p>
            <a:pPr algn="ctr">
              <a:lnSpc>
                <a:spcPct val="112000"/>
              </a:lnSpc>
            </a:pPr>
            <a:r>
              <a:rPr sz="1200" b="0" i="0">
                <a:solidFill>
                  <a:srgbClr val="2B2B2B"/>
                </a:solidFill>
                <a:latin typeface="Calibri"/>
              </a:rPr>
              <a:t>Ley sobre Educación Superior; su artículo 81 refuerza el carácter obligatorio de la acreditación institucional dentro del nuevo marco del sistema.</a:t>
            </a:r>
          </a:p>
        </p:txBody>
      </p:sp>
      <p:sp>
        <p:nvSpPr>
          <p:cNvPr id="14" name="Oval 13"/>
          <p:cNvSpPr/>
          <p:nvPr/>
        </p:nvSpPr>
        <p:spPr>
          <a:xfrm>
            <a:off x="8961120" y="2514600"/>
            <a:ext cx="1005840" cy="10058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2514600"/>
            <a:ext cx="1005840" cy="1005840"/>
          </a:xfrm>
          <a:prstGeom prst="rect">
            <a:avLst/>
          </a:prstGeom>
          <a:noFill/>
        </p:spPr>
        <p:txBody>
          <a:bodyPr wrap="square" lIns="36576" rIns="36576" tIns="18288" bIns="18288" anchor="ctr">
            <a:spAutoFit/>
          </a:bodyPr>
          <a:lstStyle/>
          <a:p>
            <a:pPr algn="ctr"/>
            <a:r>
              <a:rPr sz="1800" b="1" i="0">
                <a:solidFill>
                  <a:srgbClr val="FFFFFF"/>
                </a:solidFill>
                <a:latin typeface="Cambria"/>
              </a:rPr>
              <a:t>2020</a:t>
            </a:r>
          </a:p>
        </p:txBody>
      </p:sp>
      <p:sp>
        <p:nvSpPr>
          <p:cNvPr id="16" name="TextBox 15"/>
          <p:cNvSpPr txBox="1"/>
          <p:nvPr/>
        </p:nvSpPr>
        <p:spPr>
          <a:xfrm>
            <a:off x="8458200" y="3703320"/>
            <a:ext cx="2011680" cy="411480"/>
          </a:xfrm>
          <a:prstGeom prst="rect">
            <a:avLst/>
          </a:prstGeom>
          <a:noFill/>
        </p:spPr>
        <p:txBody>
          <a:bodyPr wrap="square" lIns="36576" rIns="36576" tIns="18288" bIns="18288">
            <a:spAutoFit/>
          </a:bodyPr>
          <a:lstStyle/>
          <a:p>
            <a:pPr algn="ctr"/>
            <a:r>
              <a:rPr sz="1500" b="1" i="0">
                <a:solidFill>
                  <a:srgbClr val="491017"/>
                </a:solidFill>
                <a:latin typeface="Cambria"/>
              </a:rPr>
              <a:t>Entrada en vigor</a:t>
            </a:r>
          </a:p>
        </p:txBody>
      </p:sp>
      <p:sp>
        <p:nvSpPr>
          <p:cNvPr id="17" name="TextBox 16"/>
          <p:cNvSpPr txBox="1"/>
          <p:nvPr/>
        </p:nvSpPr>
        <p:spPr>
          <a:xfrm>
            <a:off x="8092440" y="4160520"/>
            <a:ext cx="2743200" cy="2011680"/>
          </a:xfrm>
          <a:prstGeom prst="rect">
            <a:avLst/>
          </a:prstGeom>
          <a:noFill/>
        </p:spPr>
        <p:txBody>
          <a:bodyPr wrap="square" lIns="36576" rIns="36576" tIns="18288" bIns="18288">
            <a:spAutoFit/>
          </a:bodyPr>
          <a:lstStyle/>
          <a:p>
            <a:pPr algn="ctr">
              <a:lnSpc>
                <a:spcPct val="112000"/>
              </a:lnSpc>
            </a:pPr>
            <a:r>
              <a:rPr sz="1200" b="0" i="0">
                <a:solidFill>
                  <a:srgbClr val="2B2B2B"/>
                </a:solidFill>
                <a:latin typeface="Calibri"/>
              </a:rPr>
              <a:t>Desde el 1 de enero de 2020 la acreditación institucional es obligatoria para todas las instituciones de educación superior autónomas del país.</a:t>
            </a:r>
          </a:p>
        </p:txBody>
      </p:sp>
      <p:sp>
        <p:nvSpPr>
          <p:cNvPr id="18" name="TextBox 17"/>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LA INSTITUCIONALIDAD</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¿Qué es y qué hace la CNA?</a:t>
            </a:r>
          </a:p>
        </p:txBody>
      </p:sp>
      <p:sp>
        <p:nvSpPr>
          <p:cNvPr id="4" name="TextBox 3"/>
          <p:cNvSpPr txBox="1"/>
          <p:nvPr/>
        </p:nvSpPr>
        <p:spPr>
          <a:xfrm>
            <a:off x="594360" y="1325880"/>
            <a:ext cx="10972800" cy="731520"/>
          </a:xfrm>
          <a:prstGeom prst="rect">
            <a:avLst/>
          </a:prstGeom>
          <a:noFill/>
        </p:spPr>
        <p:txBody>
          <a:bodyPr wrap="square" lIns="36576" rIns="36576" tIns="18288" bIns="18288">
            <a:spAutoFit/>
          </a:bodyPr>
          <a:lstStyle/>
          <a:p>
            <a:pPr algn="l">
              <a:lnSpc>
                <a:spcPct val="115000"/>
              </a:lnSpc>
            </a:pPr>
            <a:r>
              <a:rPr sz="1350" b="0" i="0">
                <a:solidFill>
                  <a:srgbClr val="797371"/>
                </a:solidFill>
                <a:latin typeface="Calibri"/>
              </a:rPr>
              <a:t>La Comisión Nacional de Acreditación (CNA) es el organismo público autónomo, creado por la Ley N°20.129, encargado de verificar la calidad de las instituciones de educación superior chilenas.</a:t>
            </a:r>
          </a:p>
        </p:txBody>
      </p:sp>
      <p:sp>
        <p:nvSpPr>
          <p:cNvPr id="5" name="Rounded Rectangle 4"/>
          <p:cNvSpPr/>
          <p:nvPr/>
        </p:nvSpPr>
        <p:spPr>
          <a:xfrm>
            <a:off x="640080" y="2331720"/>
            <a:ext cx="5303520" cy="1417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7" y="2532888"/>
            <a:ext cx="420624" cy="420624"/>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532888"/>
            <a:ext cx="420624" cy="420624"/>
          </a:xfrm>
          <a:prstGeom prst="rect">
            <a:avLst/>
          </a:prstGeom>
          <a:noFill/>
        </p:spPr>
        <p:txBody>
          <a:bodyPr wrap="square" lIns="36576" rIns="36576" tIns="18288" bIns="18288" anchor="ctr">
            <a:spAutoFit/>
          </a:bodyPr>
          <a:lstStyle/>
          <a:p>
            <a:pPr algn="ctr"/>
            <a:r>
              <a:rPr sz="1400" b="1" i="0">
                <a:solidFill>
                  <a:srgbClr val="FFFFFF"/>
                </a:solidFill>
                <a:latin typeface="Cambria"/>
              </a:rPr>
              <a:t>1</a:t>
            </a:r>
          </a:p>
        </p:txBody>
      </p:sp>
      <p:sp>
        <p:nvSpPr>
          <p:cNvPr id="8" name="TextBox 7"/>
          <p:cNvSpPr txBox="1"/>
          <p:nvPr/>
        </p:nvSpPr>
        <p:spPr>
          <a:xfrm>
            <a:off x="1417319" y="2478024"/>
            <a:ext cx="4343400" cy="502920"/>
          </a:xfrm>
          <a:prstGeom prst="rect">
            <a:avLst/>
          </a:prstGeom>
          <a:noFill/>
        </p:spPr>
        <p:txBody>
          <a:bodyPr wrap="square" lIns="36576" rIns="36576" tIns="18288" bIns="18288">
            <a:spAutoFit/>
          </a:bodyPr>
          <a:lstStyle/>
          <a:p>
            <a:pPr algn="l"/>
            <a:r>
              <a:rPr sz="1350" b="1" i="0">
                <a:solidFill>
                  <a:srgbClr val="7A1F2B"/>
                </a:solidFill>
                <a:latin typeface="Cambria"/>
              </a:rPr>
              <a:t>Dicta los criterios y estándares</a:t>
            </a:r>
          </a:p>
        </p:txBody>
      </p:sp>
      <p:sp>
        <p:nvSpPr>
          <p:cNvPr id="9" name="TextBox 8"/>
          <p:cNvSpPr txBox="1"/>
          <p:nvPr/>
        </p:nvSpPr>
        <p:spPr>
          <a:xfrm>
            <a:off x="1417319" y="2935224"/>
            <a:ext cx="4343400" cy="731520"/>
          </a:xfrm>
          <a:prstGeom prst="rect">
            <a:avLst/>
          </a:prstGeom>
          <a:noFill/>
        </p:spPr>
        <p:txBody>
          <a:bodyPr wrap="square" lIns="36576" rIns="36576" tIns="18288" bIns="18288">
            <a:spAutoFit/>
          </a:bodyPr>
          <a:lstStyle/>
          <a:p>
            <a:pPr algn="l">
              <a:lnSpc>
                <a:spcPct val="110000"/>
              </a:lnSpc>
            </a:pPr>
            <a:r>
              <a:rPr sz="1150" b="0" i="0">
                <a:solidFill>
                  <a:srgbClr val="2B2B2B"/>
                </a:solidFill>
                <a:latin typeface="Calibri"/>
              </a:rPr>
              <a:t>Define la rúbrica de catorce criterios con la que se evalúa a cada institución.</a:t>
            </a:r>
          </a:p>
        </p:txBody>
      </p:sp>
      <p:sp>
        <p:nvSpPr>
          <p:cNvPr id="10" name="Rounded Rectangle 9"/>
          <p:cNvSpPr/>
          <p:nvPr/>
        </p:nvSpPr>
        <p:spPr>
          <a:xfrm>
            <a:off x="6263640" y="2331720"/>
            <a:ext cx="5303520" cy="1417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64807" y="2532888"/>
            <a:ext cx="420624" cy="420624"/>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2532888"/>
            <a:ext cx="420624" cy="420624"/>
          </a:xfrm>
          <a:prstGeom prst="rect">
            <a:avLst/>
          </a:prstGeom>
          <a:noFill/>
        </p:spPr>
        <p:txBody>
          <a:bodyPr wrap="square" lIns="36576" rIns="36576" tIns="18288" bIns="18288" anchor="ctr">
            <a:spAutoFit/>
          </a:bodyPr>
          <a:lstStyle/>
          <a:p>
            <a:pPr algn="ctr"/>
            <a:r>
              <a:rPr sz="1400" b="1" i="0">
                <a:solidFill>
                  <a:srgbClr val="FFFFFF"/>
                </a:solidFill>
                <a:latin typeface="Cambria"/>
              </a:rPr>
              <a:t>2</a:t>
            </a:r>
          </a:p>
        </p:txBody>
      </p:sp>
      <p:sp>
        <p:nvSpPr>
          <p:cNvPr id="13" name="TextBox 12"/>
          <p:cNvSpPr txBox="1"/>
          <p:nvPr/>
        </p:nvSpPr>
        <p:spPr>
          <a:xfrm>
            <a:off x="7040879" y="2478024"/>
            <a:ext cx="4343400" cy="502920"/>
          </a:xfrm>
          <a:prstGeom prst="rect">
            <a:avLst/>
          </a:prstGeom>
          <a:noFill/>
        </p:spPr>
        <p:txBody>
          <a:bodyPr wrap="square" lIns="36576" rIns="36576" tIns="18288" bIns="18288">
            <a:spAutoFit/>
          </a:bodyPr>
          <a:lstStyle/>
          <a:p>
            <a:pPr algn="l"/>
            <a:r>
              <a:rPr sz="1350" b="1" i="0">
                <a:solidFill>
                  <a:srgbClr val="7A1F2B"/>
                </a:solidFill>
                <a:latin typeface="Cambria"/>
              </a:rPr>
              <a:t>Designa al Comité de Pares Evaluadores</a:t>
            </a:r>
          </a:p>
        </p:txBody>
      </p:sp>
      <p:sp>
        <p:nvSpPr>
          <p:cNvPr id="14" name="TextBox 13"/>
          <p:cNvSpPr txBox="1"/>
          <p:nvPr/>
        </p:nvSpPr>
        <p:spPr>
          <a:xfrm>
            <a:off x="7040879" y="2935224"/>
            <a:ext cx="4343400" cy="731520"/>
          </a:xfrm>
          <a:prstGeom prst="rect">
            <a:avLst/>
          </a:prstGeom>
          <a:noFill/>
        </p:spPr>
        <p:txBody>
          <a:bodyPr wrap="square" lIns="36576" rIns="36576" tIns="18288" bIns="18288">
            <a:spAutoFit/>
          </a:bodyPr>
          <a:lstStyle/>
          <a:p>
            <a:pPr algn="l">
              <a:lnSpc>
                <a:spcPct val="110000"/>
              </a:lnSpc>
            </a:pPr>
            <a:r>
              <a:rPr sz="1150" b="0" i="0">
                <a:solidFill>
                  <a:srgbClr val="2B2B2B"/>
                </a:solidFill>
                <a:latin typeface="Calibri"/>
              </a:rPr>
              <a:t>Conforma el equipo de evaluadores externos para cada proceso de acreditación.</a:t>
            </a:r>
          </a:p>
        </p:txBody>
      </p:sp>
      <p:sp>
        <p:nvSpPr>
          <p:cNvPr id="15" name="Rounded Rectangle 14"/>
          <p:cNvSpPr/>
          <p:nvPr/>
        </p:nvSpPr>
        <p:spPr>
          <a:xfrm>
            <a:off x="640080" y="3977639"/>
            <a:ext cx="5303520" cy="1417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247" y="4178807"/>
            <a:ext cx="420624" cy="420624"/>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4178807"/>
            <a:ext cx="420624" cy="420624"/>
          </a:xfrm>
          <a:prstGeom prst="rect">
            <a:avLst/>
          </a:prstGeom>
          <a:noFill/>
        </p:spPr>
        <p:txBody>
          <a:bodyPr wrap="square" lIns="36576" rIns="36576" tIns="18288" bIns="18288" anchor="ctr">
            <a:spAutoFit/>
          </a:bodyPr>
          <a:lstStyle/>
          <a:p>
            <a:pPr algn="ctr"/>
            <a:r>
              <a:rPr sz="1400" b="1" i="0">
                <a:solidFill>
                  <a:srgbClr val="FFFFFF"/>
                </a:solidFill>
                <a:latin typeface="Cambria"/>
              </a:rPr>
              <a:t>3</a:t>
            </a:r>
          </a:p>
        </p:txBody>
      </p:sp>
      <p:sp>
        <p:nvSpPr>
          <p:cNvPr id="18" name="TextBox 17"/>
          <p:cNvSpPr txBox="1"/>
          <p:nvPr/>
        </p:nvSpPr>
        <p:spPr>
          <a:xfrm>
            <a:off x="1417319" y="4123944"/>
            <a:ext cx="4343400" cy="502920"/>
          </a:xfrm>
          <a:prstGeom prst="rect">
            <a:avLst/>
          </a:prstGeom>
          <a:noFill/>
        </p:spPr>
        <p:txBody>
          <a:bodyPr wrap="square" lIns="36576" rIns="36576" tIns="18288" bIns="18288">
            <a:spAutoFit/>
          </a:bodyPr>
          <a:lstStyle/>
          <a:p>
            <a:pPr algn="l"/>
            <a:r>
              <a:rPr sz="1350" b="1" i="0">
                <a:solidFill>
                  <a:srgbClr val="7A1F2B"/>
                </a:solidFill>
                <a:latin typeface="Cambria"/>
              </a:rPr>
              <a:t>Conduce la evaluación externa</a:t>
            </a:r>
          </a:p>
        </p:txBody>
      </p:sp>
      <p:sp>
        <p:nvSpPr>
          <p:cNvPr id="19" name="TextBox 18"/>
          <p:cNvSpPr txBox="1"/>
          <p:nvPr/>
        </p:nvSpPr>
        <p:spPr>
          <a:xfrm>
            <a:off x="1417319" y="4581144"/>
            <a:ext cx="4343400" cy="731520"/>
          </a:xfrm>
          <a:prstGeom prst="rect">
            <a:avLst/>
          </a:prstGeom>
          <a:noFill/>
        </p:spPr>
        <p:txBody>
          <a:bodyPr wrap="square" lIns="36576" rIns="36576" tIns="18288" bIns="18288">
            <a:spAutoFit/>
          </a:bodyPr>
          <a:lstStyle/>
          <a:p>
            <a:pPr algn="l">
              <a:lnSpc>
                <a:spcPct val="110000"/>
              </a:lnSpc>
            </a:pPr>
            <a:r>
              <a:rPr sz="1150" b="0" i="0">
                <a:solidFill>
                  <a:srgbClr val="2B2B2B"/>
                </a:solidFill>
                <a:latin typeface="Calibri"/>
              </a:rPr>
              <a:t>Selecciona la muestra intencionada de programas y coordina la visita de pares.</a:t>
            </a:r>
          </a:p>
        </p:txBody>
      </p:sp>
      <p:sp>
        <p:nvSpPr>
          <p:cNvPr id="20" name="Rounded Rectangle 19"/>
          <p:cNvSpPr/>
          <p:nvPr/>
        </p:nvSpPr>
        <p:spPr>
          <a:xfrm>
            <a:off x="6263640" y="3977639"/>
            <a:ext cx="5303520" cy="1417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4807" y="4178807"/>
            <a:ext cx="420624" cy="420624"/>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7" y="4178807"/>
            <a:ext cx="420624" cy="420624"/>
          </a:xfrm>
          <a:prstGeom prst="rect">
            <a:avLst/>
          </a:prstGeom>
          <a:noFill/>
        </p:spPr>
        <p:txBody>
          <a:bodyPr wrap="square" lIns="36576" rIns="36576" tIns="18288" bIns="18288" anchor="ctr">
            <a:spAutoFit/>
          </a:bodyPr>
          <a:lstStyle/>
          <a:p>
            <a:pPr algn="ctr"/>
            <a:r>
              <a:rPr sz="1400" b="1" i="0">
                <a:solidFill>
                  <a:srgbClr val="FFFFFF"/>
                </a:solidFill>
                <a:latin typeface="Cambria"/>
              </a:rPr>
              <a:t>4</a:t>
            </a:r>
          </a:p>
        </p:txBody>
      </p:sp>
      <p:sp>
        <p:nvSpPr>
          <p:cNvPr id="23" name="TextBox 22"/>
          <p:cNvSpPr txBox="1"/>
          <p:nvPr/>
        </p:nvSpPr>
        <p:spPr>
          <a:xfrm>
            <a:off x="7040879" y="4123944"/>
            <a:ext cx="4343400" cy="502920"/>
          </a:xfrm>
          <a:prstGeom prst="rect">
            <a:avLst/>
          </a:prstGeom>
          <a:noFill/>
        </p:spPr>
        <p:txBody>
          <a:bodyPr wrap="square" lIns="36576" rIns="36576" tIns="18288" bIns="18288">
            <a:spAutoFit/>
          </a:bodyPr>
          <a:lstStyle/>
          <a:p>
            <a:pPr algn="l"/>
            <a:r>
              <a:rPr sz="1350" b="1" i="0">
                <a:solidFill>
                  <a:srgbClr val="7A1F2B"/>
                </a:solidFill>
                <a:latin typeface="Cambria"/>
              </a:rPr>
              <a:t>Se pronuncia sobre la acreditación</a:t>
            </a:r>
          </a:p>
        </p:txBody>
      </p:sp>
      <p:sp>
        <p:nvSpPr>
          <p:cNvPr id="24" name="TextBox 23"/>
          <p:cNvSpPr txBox="1"/>
          <p:nvPr/>
        </p:nvSpPr>
        <p:spPr>
          <a:xfrm>
            <a:off x="7040879" y="4581144"/>
            <a:ext cx="4343400" cy="731520"/>
          </a:xfrm>
          <a:prstGeom prst="rect">
            <a:avLst/>
          </a:prstGeom>
          <a:noFill/>
        </p:spPr>
        <p:txBody>
          <a:bodyPr wrap="square" lIns="36576" rIns="36576" tIns="18288" bIns="18288">
            <a:spAutoFit/>
          </a:bodyPr>
          <a:lstStyle/>
          <a:p>
            <a:pPr algn="l">
              <a:lnSpc>
                <a:spcPct val="110000"/>
              </a:lnSpc>
            </a:pPr>
            <a:r>
              <a:rPr sz="1150" b="0" i="0">
                <a:solidFill>
                  <a:srgbClr val="2B2B2B"/>
                </a:solidFill>
                <a:latin typeface="Calibri"/>
              </a:rPr>
              <a:t>Resuelve el nivel, el plazo, o la no acreditación, mediante resolución fundada.</a:t>
            </a:r>
          </a:p>
        </p:txBody>
      </p:sp>
      <p:sp>
        <p:nvSpPr>
          <p:cNvPr id="25" name="TextBox 24"/>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EL PROCEDIMIENTO</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El proceso de acreditación institucional</a:t>
            </a:r>
          </a:p>
        </p:txBody>
      </p:sp>
      <p:sp>
        <p:nvSpPr>
          <p:cNvPr id="4" name="TextBox 3"/>
          <p:cNvSpPr txBox="1"/>
          <p:nvPr/>
        </p:nvSpPr>
        <p:spPr>
          <a:xfrm>
            <a:off x="594360" y="1298448"/>
            <a:ext cx="10972800" cy="457200"/>
          </a:xfrm>
          <a:prstGeom prst="rect">
            <a:avLst/>
          </a:prstGeom>
          <a:noFill/>
        </p:spPr>
        <p:txBody>
          <a:bodyPr wrap="square" lIns="36576" rIns="36576" tIns="18288" bIns="18288">
            <a:spAutoFit/>
          </a:bodyPr>
          <a:lstStyle/>
          <a:p>
            <a:pPr algn="l"/>
            <a:r>
              <a:rPr sz="1350" b="0" i="0">
                <a:solidFill>
                  <a:srgbClr val="797371"/>
                </a:solidFill>
                <a:latin typeface="Calibri"/>
              </a:rPr>
              <a:t>Se desarrolla en tres etapas sucesivas, con una duración total estimada de nueve meses (sin contar febrero).</a:t>
            </a:r>
          </a:p>
        </p:txBody>
      </p:sp>
      <p:cxnSp>
        <p:nvCxnSpPr>
          <p:cNvPr id="5" name="Connector 4"/>
          <p:cNvCxnSpPr/>
          <p:nvPr/>
        </p:nvCxnSpPr>
        <p:spPr>
          <a:xfrm>
            <a:off x="1691640" y="2331720"/>
            <a:ext cx="2468880" cy="0"/>
          </a:xfrm>
          <a:prstGeom prst="line">
            <a:avLst/>
          </a:prstGeom>
          <a:ln w="25400">
            <a:solidFill>
              <a:srgbClr val="DED9D7"/>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532120" y="2331720"/>
            <a:ext cx="2468880" cy="0"/>
          </a:xfrm>
          <a:prstGeom prst="line">
            <a:avLst/>
          </a:prstGeom>
          <a:ln w="25400">
            <a:solidFill>
              <a:srgbClr val="DED9D7"/>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88720" y="1965960"/>
            <a:ext cx="1005840" cy="10058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965960"/>
            <a:ext cx="1005840" cy="1005840"/>
          </a:xfrm>
          <a:prstGeom prst="rect">
            <a:avLst/>
          </a:prstGeom>
          <a:noFill/>
        </p:spPr>
        <p:txBody>
          <a:bodyPr wrap="square" lIns="36576" rIns="36576" tIns="18288" bIns="18288" anchor="ctr">
            <a:spAutoFit/>
          </a:bodyPr>
          <a:lstStyle/>
          <a:p>
            <a:pPr algn="ctr"/>
            <a:r>
              <a:rPr sz="2800" b="1" i="0">
                <a:solidFill>
                  <a:srgbClr val="FFFFFF"/>
                </a:solidFill>
                <a:latin typeface="Cambria"/>
              </a:rPr>
              <a:t>1</a:t>
            </a:r>
          </a:p>
        </p:txBody>
      </p:sp>
      <p:sp>
        <p:nvSpPr>
          <p:cNvPr id="9" name="TextBox 8"/>
          <p:cNvSpPr txBox="1"/>
          <p:nvPr/>
        </p:nvSpPr>
        <p:spPr>
          <a:xfrm>
            <a:off x="411480" y="3154680"/>
            <a:ext cx="2560320" cy="685800"/>
          </a:xfrm>
          <a:prstGeom prst="rect">
            <a:avLst/>
          </a:prstGeom>
          <a:noFill/>
        </p:spPr>
        <p:txBody>
          <a:bodyPr wrap="square" lIns="36576" rIns="36576" tIns="18288" bIns="18288">
            <a:spAutoFit/>
          </a:bodyPr>
          <a:lstStyle/>
          <a:p>
            <a:pPr algn="ctr">
              <a:lnSpc>
                <a:spcPct val="100000"/>
              </a:lnSpc>
            </a:pPr>
            <a:r>
              <a:rPr sz="1500" b="1" i="0">
                <a:solidFill>
                  <a:srgbClr val="491017"/>
                </a:solidFill>
                <a:latin typeface="Cambria"/>
              </a:rPr>
              <a:t>Autoevaluación institucional</a:t>
            </a:r>
          </a:p>
        </p:txBody>
      </p:sp>
      <p:sp>
        <p:nvSpPr>
          <p:cNvPr id="10" name="TextBox 9"/>
          <p:cNvSpPr txBox="1"/>
          <p:nvPr/>
        </p:nvSpPr>
        <p:spPr>
          <a:xfrm>
            <a:off x="320040" y="3886200"/>
            <a:ext cx="2743200" cy="2011680"/>
          </a:xfrm>
          <a:prstGeom prst="rect">
            <a:avLst/>
          </a:prstGeom>
          <a:noFill/>
        </p:spPr>
        <p:txBody>
          <a:bodyPr wrap="square" lIns="36576" rIns="36576" tIns="18288" bIns="18288">
            <a:spAutoFit/>
          </a:bodyPr>
          <a:lstStyle/>
          <a:p>
            <a:pPr algn="ctr">
              <a:lnSpc>
                <a:spcPct val="115000"/>
              </a:lnSpc>
            </a:pPr>
            <a:r>
              <a:rPr sz="1150" b="0" i="0">
                <a:solidFill>
                  <a:srgbClr val="2B2B2B"/>
                </a:solidFill>
                <a:latin typeface="Calibri"/>
              </a:rPr>
              <a:t>La universidad elabora su informe de autoevaluación junto a un Plan de Mejora verificable, y presenta su solicitud de incorporación al proceso.</a:t>
            </a:r>
          </a:p>
        </p:txBody>
      </p:sp>
      <p:sp>
        <p:nvSpPr>
          <p:cNvPr id="11" name="Oval 10"/>
          <p:cNvSpPr/>
          <p:nvPr/>
        </p:nvSpPr>
        <p:spPr>
          <a:xfrm>
            <a:off x="5029200" y="1965960"/>
            <a:ext cx="1005840" cy="10058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1965960"/>
            <a:ext cx="1005840" cy="1005840"/>
          </a:xfrm>
          <a:prstGeom prst="rect">
            <a:avLst/>
          </a:prstGeom>
          <a:noFill/>
        </p:spPr>
        <p:txBody>
          <a:bodyPr wrap="square" lIns="36576" rIns="36576" tIns="18288" bIns="18288" anchor="ctr">
            <a:spAutoFit/>
          </a:bodyPr>
          <a:lstStyle/>
          <a:p>
            <a:pPr algn="ctr"/>
            <a:r>
              <a:rPr sz="2800" b="1" i="0">
                <a:solidFill>
                  <a:srgbClr val="FFFFFF"/>
                </a:solidFill>
                <a:latin typeface="Cambria"/>
              </a:rPr>
              <a:t>2</a:t>
            </a:r>
          </a:p>
        </p:txBody>
      </p:sp>
      <p:sp>
        <p:nvSpPr>
          <p:cNvPr id="13" name="TextBox 12"/>
          <p:cNvSpPr txBox="1"/>
          <p:nvPr/>
        </p:nvSpPr>
        <p:spPr>
          <a:xfrm>
            <a:off x="4251960" y="3154680"/>
            <a:ext cx="2560320" cy="685800"/>
          </a:xfrm>
          <a:prstGeom prst="rect">
            <a:avLst/>
          </a:prstGeom>
          <a:noFill/>
        </p:spPr>
        <p:txBody>
          <a:bodyPr wrap="square" lIns="36576" rIns="36576" tIns="18288" bIns="18288">
            <a:spAutoFit/>
          </a:bodyPr>
          <a:lstStyle/>
          <a:p>
            <a:pPr algn="ctr">
              <a:lnSpc>
                <a:spcPct val="100000"/>
              </a:lnSpc>
            </a:pPr>
            <a:r>
              <a:rPr sz="1500" b="1" i="0">
                <a:solidFill>
                  <a:srgbClr val="491017"/>
                </a:solidFill>
                <a:latin typeface="Cambria"/>
              </a:rPr>
              <a:t>Evaluación externa</a:t>
            </a:r>
          </a:p>
        </p:txBody>
      </p:sp>
      <p:sp>
        <p:nvSpPr>
          <p:cNvPr id="14" name="TextBox 13"/>
          <p:cNvSpPr txBox="1"/>
          <p:nvPr/>
        </p:nvSpPr>
        <p:spPr>
          <a:xfrm>
            <a:off x="4160520" y="3886200"/>
            <a:ext cx="2743200" cy="2011680"/>
          </a:xfrm>
          <a:prstGeom prst="rect">
            <a:avLst/>
          </a:prstGeom>
          <a:noFill/>
        </p:spPr>
        <p:txBody>
          <a:bodyPr wrap="square" lIns="36576" rIns="36576" tIns="18288" bIns="18288">
            <a:spAutoFit/>
          </a:bodyPr>
          <a:lstStyle/>
          <a:p>
            <a:pPr algn="ctr">
              <a:lnSpc>
                <a:spcPct val="115000"/>
              </a:lnSpc>
            </a:pPr>
            <a:r>
              <a:rPr sz="1150" b="0" i="0">
                <a:solidFill>
                  <a:srgbClr val="2B2B2B"/>
                </a:solidFill>
                <a:latin typeface="Calibri"/>
              </a:rPr>
              <a:t>La CNA designa al Comité de Pares Evaluadores y selecciona la muestra intencionada de carreras y programas; se realiza la visita de evaluación.</a:t>
            </a:r>
          </a:p>
        </p:txBody>
      </p:sp>
      <p:sp>
        <p:nvSpPr>
          <p:cNvPr id="15" name="Oval 14"/>
          <p:cNvSpPr/>
          <p:nvPr/>
        </p:nvSpPr>
        <p:spPr>
          <a:xfrm>
            <a:off x="8869680" y="1965960"/>
            <a:ext cx="1005840" cy="100584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1965960"/>
            <a:ext cx="1005840" cy="1005840"/>
          </a:xfrm>
          <a:prstGeom prst="rect">
            <a:avLst/>
          </a:prstGeom>
          <a:noFill/>
        </p:spPr>
        <p:txBody>
          <a:bodyPr wrap="square" lIns="36576" rIns="36576" tIns="18288" bIns="18288" anchor="ctr">
            <a:spAutoFit/>
          </a:bodyPr>
          <a:lstStyle/>
          <a:p>
            <a:pPr algn="ctr"/>
            <a:r>
              <a:rPr sz="2800" b="1" i="0">
                <a:solidFill>
                  <a:srgbClr val="FFFFFF"/>
                </a:solidFill>
                <a:latin typeface="Cambria"/>
              </a:rPr>
              <a:t>3</a:t>
            </a:r>
          </a:p>
        </p:txBody>
      </p:sp>
      <p:sp>
        <p:nvSpPr>
          <p:cNvPr id="17" name="TextBox 16"/>
          <p:cNvSpPr txBox="1"/>
          <p:nvPr/>
        </p:nvSpPr>
        <p:spPr>
          <a:xfrm>
            <a:off x="8092440" y="3154680"/>
            <a:ext cx="2560320" cy="685800"/>
          </a:xfrm>
          <a:prstGeom prst="rect">
            <a:avLst/>
          </a:prstGeom>
          <a:noFill/>
        </p:spPr>
        <p:txBody>
          <a:bodyPr wrap="square" lIns="36576" rIns="36576" tIns="18288" bIns="18288">
            <a:spAutoFit/>
          </a:bodyPr>
          <a:lstStyle/>
          <a:p>
            <a:pPr algn="ctr">
              <a:lnSpc>
                <a:spcPct val="100000"/>
              </a:lnSpc>
            </a:pPr>
            <a:r>
              <a:rPr sz="1500" b="1" i="0">
                <a:solidFill>
                  <a:srgbClr val="491017"/>
                </a:solidFill>
                <a:latin typeface="Cambria"/>
              </a:rPr>
              <a:t>Pronunciamiento de la Comisión</a:t>
            </a:r>
          </a:p>
        </p:txBody>
      </p:sp>
      <p:sp>
        <p:nvSpPr>
          <p:cNvPr id="18" name="TextBox 17"/>
          <p:cNvSpPr txBox="1"/>
          <p:nvPr/>
        </p:nvSpPr>
        <p:spPr>
          <a:xfrm>
            <a:off x="8001000" y="3886200"/>
            <a:ext cx="2743200" cy="2011680"/>
          </a:xfrm>
          <a:prstGeom prst="rect">
            <a:avLst/>
          </a:prstGeom>
          <a:noFill/>
        </p:spPr>
        <p:txBody>
          <a:bodyPr wrap="square" lIns="36576" rIns="36576" tIns="18288" bIns="18288">
            <a:spAutoFit/>
          </a:bodyPr>
          <a:lstStyle/>
          <a:p>
            <a:pPr algn="ctr">
              <a:lnSpc>
                <a:spcPct val="115000"/>
              </a:lnSpc>
            </a:pPr>
            <a:r>
              <a:rPr sz="1150" b="0" i="0">
                <a:solidFill>
                  <a:srgbClr val="2B2B2B"/>
                </a:solidFill>
                <a:latin typeface="Calibri"/>
              </a:rPr>
              <a:t>La CNA resuelve: nivel de acreditación alcanzado (o no acreditación), plazo en años, y observaciones para el período siguiente.</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PLAZOS</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Línea de tiempo del proceso</a:t>
            </a:r>
          </a:p>
        </p:txBody>
      </p:sp>
      <p:graphicFrame>
        <p:nvGraphicFramePr>
          <p:cNvPr id="4" name="Table 3"/>
          <p:cNvGraphicFramePr>
            <a:graphicFrameLocks noGrp="1"/>
          </p:cNvGraphicFramePr>
          <p:nvPr/>
        </p:nvGraphicFramePr>
        <p:xfrm>
          <a:off x="594360" y="1417320"/>
          <a:ext cx="10972800" cy="4800600"/>
        </p:xfrm>
        <a:graphic>
          <a:graphicData uri="http://schemas.openxmlformats.org/drawingml/2006/table">
            <a:tbl>
              <a:tblPr firstRow="1">
                <a:tableStyleId>{5C22544A-7EE6-4342-B048-85BDC9FD1C3A}</a:tableStyleId>
              </a:tblPr>
              <a:tblGrid>
                <a:gridCol w="6949440"/>
                <a:gridCol w="4023360"/>
              </a:tblGrid>
              <a:tr h="436418">
                <a:tc>
                  <a:txBody>
                    <a:bodyPr wrap="square"/>
                    <a:lstStyle/>
                    <a:p>
                      <a:r>
                        <a:rPr sz="1300" b="1" i="0">
                          <a:solidFill>
                            <a:srgbClr val="FFFFFF"/>
                          </a:solidFill>
                          <a:latin typeface="Calibri"/>
                        </a:rPr>
                        <a:t>Hito</a:t>
                      </a:r>
                    </a:p>
                  </a:txBody>
                  <a:tcPr anchor="ctr">
                    <a:solidFill>
                      <a:srgbClr val="7A1F2B"/>
                    </a:solidFill>
                  </a:tcPr>
                </a:tc>
                <a:tc>
                  <a:txBody>
                    <a:bodyPr wrap="square"/>
                    <a:lstStyle/>
                    <a:p>
                      <a:r>
                        <a:rPr sz="1300" b="1" i="0">
                          <a:solidFill>
                            <a:srgbClr val="FFFFFF"/>
                          </a:solidFill>
                          <a:latin typeface="Calibri"/>
                        </a:rPr>
                        <a:t>Plazo</a:t>
                      </a:r>
                    </a:p>
                  </a:txBody>
                  <a:tcPr anchor="ctr">
                    <a:solidFill>
                      <a:srgbClr val="7A1F2B"/>
                    </a:solidFill>
                  </a:tcPr>
                </a:tc>
              </a:tr>
              <a:tr h="436418">
                <a:tc>
                  <a:txBody>
                    <a:bodyPr wrap="square"/>
                    <a:lstStyle/>
                    <a:p>
                      <a:r>
                        <a:rPr sz="1250" b="0" i="0">
                          <a:solidFill>
                            <a:srgbClr val="2B2B2B"/>
                          </a:solidFill>
                          <a:latin typeface="Calibri"/>
                        </a:rPr>
                        <a:t>Resolución de inicio del proceso</a:t>
                      </a:r>
                    </a:p>
                  </a:txBody>
                  <a:tcPr anchor="ctr">
                    <a:solidFill>
                      <a:srgbClr val="FFFFFF"/>
                    </a:solidFill>
                  </a:tcPr>
                </a:tc>
                <a:tc>
                  <a:txBody>
                    <a:bodyPr wrap="square"/>
                    <a:lstStyle/>
                    <a:p>
                      <a:r>
                        <a:rPr sz="1250" b="0" i="0">
                          <a:solidFill>
                            <a:srgbClr val="2B2B2B"/>
                          </a:solidFill>
                          <a:latin typeface="Calibri"/>
                        </a:rPr>
                        <a:t>Día 0</a:t>
                      </a:r>
                    </a:p>
                  </a:txBody>
                  <a:tcPr anchor="ctr">
                    <a:solidFill>
                      <a:srgbClr val="FFFFFF"/>
                    </a:solidFill>
                  </a:tcPr>
                </a:tc>
              </a:tr>
              <a:tr h="436418">
                <a:tc>
                  <a:txBody>
                    <a:bodyPr wrap="square"/>
                    <a:lstStyle/>
                    <a:p>
                      <a:r>
                        <a:rPr sz="1250" b="0" i="0">
                          <a:solidFill>
                            <a:srgbClr val="2B2B2B"/>
                          </a:solidFill>
                          <a:latin typeface="Calibri"/>
                        </a:rPr>
                        <a:t>Comunicación de la muestra intencionada</a:t>
                      </a:r>
                    </a:p>
                  </a:txBody>
                  <a:tcPr anchor="ctr">
                    <a:solidFill>
                      <a:srgbClr val="F8F3F2"/>
                    </a:solidFill>
                  </a:tcPr>
                </a:tc>
                <a:tc>
                  <a:txBody>
                    <a:bodyPr wrap="square"/>
                    <a:lstStyle/>
                    <a:p>
                      <a:r>
                        <a:rPr sz="1250" b="0" i="0">
                          <a:solidFill>
                            <a:srgbClr val="2B2B2B"/>
                          </a:solidFill>
                          <a:latin typeface="Calibri"/>
                        </a:rPr>
                        <a:t>5 días hábiles desde el inicio</a:t>
                      </a:r>
                    </a:p>
                  </a:txBody>
                  <a:tcPr anchor="ctr">
                    <a:solidFill>
                      <a:srgbClr val="F8F3F2"/>
                    </a:solidFill>
                  </a:tcPr>
                </a:tc>
              </a:tr>
              <a:tr h="436418">
                <a:tc>
                  <a:txBody>
                    <a:bodyPr wrap="square"/>
                    <a:lstStyle/>
                    <a:p>
                      <a:r>
                        <a:rPr sz="1250" b="0" i="0">
                          <a:solidFill>
                            <a:srgbClr val="2B2B2B"/>
                          </a:solidFill>
                          <a:latin typeface="Calibri"/>
                        </a:rPr>
                        <a:t>Observaciones de la institución a la muestra</a:t>
                      </a:r>
                    </a:p>
                  </a:txBody>
                  <a:tcPr anchor="ctr">
                    <a:solidFill>
                      <a:srgbClr val="FFFFFF"/>
                    </a:solidFill>
                  </a:tcPr>
                </a:tc>
                <a:tc>
                  <a:txBody>
                    <a:bodyPr wrap="square"/>
                    <a:lstStyle/>
                    <a:p>
                      <a:r>
                        <a:rPr sz="1250" b="0" i="0">
                          <a:solidFill>
                            <a:srgbClr val="2B2B2B"/>
                          </a:solidFill>
                          <a:latin typeface="Calibri"/>
                        </a:rPr>
                        <a:t>3 días hábiles</a:t>
                      </a:r>
                    </a:p>
                  </a:txBody>
                  <a:tcPr anchor="ctr">
                    <a:solidFill>
                      <a:srgbClr val="FFFFFF"/>
                    </a:solidFill>
                  </a:tcPr>
                </a:tc>
              </a:tr>
              <a:tr h="436418">
                <a:tc>
                  <a:txBody>
                    <a:bodyPr wrap="square"/>
                    <a:lstStyle/>
                    <a:p>
                      <a:r>
                        <a:rPr sz="1250" b="0" i="0">
                          <a:solidFill>
                            <a:srgbClr val="2B2B2B"/>
                          </a:solidFill>
                          <a:latin typeface="Calibri"/>
                        </a:rPr>
                        <a:t>Adición voluntaria de un programa a la muestra</a:t>
                      </a:r>
                    </a:p>
                  </a:txBody>
                  <a:tcPr anchor="ctr">
                    <a:solidFill>
                      <a:srgbClr val="F8F3F2"/>
                    </a:solidFill>
                  </a:tcPr>
                </a:tc>
                <a:tc>
                  <a:txBody>
                    <a:bodyPr wrap="square"/>
                    <a:lstStyle/>
                    <a:p>
                      <a:r>
                        <a:rPr sz="1250" b="0" i="0">
                          <a:solidFill>
                            <a:srgbClr val="2B2B2B"/>
                          </a:solidFill>
                          <a:latin typeface="Calibri"/>
                        </a:rPr>
                        <a:t>3 días hábiles</a:t>
                      </a:r>
                    </a:p>
                  </a:txBody>
                  <a:tcPr anchor="ctr">
                    <a:solidFill>
                      <a:srgbClr val="F8F3F2"/>
                    </a:solidFill>
                  </a:tcPr>
                </a:tc>
              </a:tr>
              <a:tr h="436418">
                <a:tc>
                  <a:txBody>
                    <a:bodyPr wrap="square"/>
                    <a:lstStyle/>
                    <a:p>
                      <a:r>
                        <a:rPr sz="1250" b="0" i="0">
                          <a:solidFill>
                            <a:srgbClr val="2B2B2B"/>
                          </a:solidFill>
                          <a:latin typeface="Calibri"/>
                        </a:rPr>
                        <a:t>Informe de la muestra intencionada</a:t>
                      </a:r>
                    </a:p>
                  </a:txBody>
                  <a:tcPr anchor="ctr">
                    <a:solidFill>
                      <a:srgbClr val="FFFFFF"/>
                    </a:solidFill>
                  </a:tcPr>
                </a:tc>
                <a:tc>
                  <a:txBody>
                    <a:bodyPr wrap="square"/>
                    <a:lstStyle/>
                    <a:p>
                      <a:r>
                        <a:rPr sz="1250" b="0" i="0">
                          <a:solidFill>
                            <a:srgbClr val="2B2B2B"/>
                          </a:solidFill>
                          <a:latin typeface="Calibri"/>
                        </a:rPr>
                        <a:t>60 días corridos</a:t>
                      </a:r>
                    </a:p>
                  </a:txBody>
                  <a:tcPr anchor="ctr">
                    <a:solidFill>
                      <a:srgbClr val="FFFFFF"/>
                    </a:solidFill>
                  </a:tcPr>
                </a:tc>
              </a:tr>
              <a:tr h="436418">
                <a:tc>
                  <a:txBody>
                    <a:bodyPr wrap="square"/>
                    <a:lstStyle/>
                    <a:p>
                      <a:r>
                        <a:rPr sz="1250" b="0" i="0">
                          <a:solidFill>
                            <a:srgbClr val="2B2B2B"/>
                          </a:solidFill>
                          <a:latin typeface="Calibri"/>
                        </a:rPr>
                        <a:t>Visita del Comité de Pares Evaluadores</a:t>
                      </a:r>
                    </a:p>
                  </a:txBody>
                  <a:tcPr anchor="ctr">
                    <a:solidFill>
                      <a:srgbClr val="F8F3F2"/>
                    </a:solidFill>
                  </a:tcPr>
                </a:tc>
                <a:tc>
                  <a:txBody>
                    <a:bodyPr wrap="square"/>
                    <a:lstStyle/>
                    <a:p>
                      <a:r>
                        <a:rPr sz="1250" b="0" i="0">
                          <a:solidFill>
                            <a:srgbClr val="2B2B2B"/>
                          </a:solidFill>
                          <a:latin typeface="Calibri"/>
                        </a:rPr>
                        <a:t>Entre 30 y 90 días hábiles desde el inicio</a:t>
                      </a:r>
                    </a:p>
                  </a:txBody>
                  <a:tcPr anchor="ctr">
                    <a:solidFill>
                      <a:srgbClr val="F8F3F2"/>
                    </a:solidFill>
                  </a:tcPr>
                </a:tc>
              </a:tr>
              <a:tr h="436418">
                <a:tc>
                  <a:txBody>
                    <a:bodyPr wrap="square"/>
                    <a:lstStyle/>
                    <a:p>
                      <a:r>
                        <a:rPr sz="1250" b="0" i="0">
                          <a:solidFill>
                            <a:srgbClr val="2B2B2B"/>
                          </a:solidFill>
                          <a:latin typeface="Calibri"/>
                        </a:rPr>
                        <a:t>Informe del Comité de Pares</a:t>
                      </a:r>
                    </a:p>
                  </a:txBody>
                  <a:tcPr anchor="ctr">
                    <a:solidFill>
                      <a:srgbClr val="FFFFFF"/>
                    </a:solidFill>
                  </a:tcPr>
                </a:tc>
                <a:tc>
                  <a:txBody>
                    <a:bodyPr wrap="square"/>
                    <a:lstStyle/>
                    <a:p>
                      <a:r>
                        <a:rPr sz="1250" b="0" i="0">
                          <a:solidFill>
                            <a:srgbClr val="2B2B2B"/>
                          </a:solidFill>
                          <a:latin typeface="Calibri"/>
                        </a:rPr>
                        <a:t>20 días hábiles tras la visita</a:t>
                      </a:r>
                    </a:p>
                  </a:txBody>
                  <a:tcPr anchor="ctr">
                    <a:solidFill>
                      <a:srgbClr val="FFFFFF"/>
                    </a:solidFill>
                  </a:tcPr>
                </a:tc>
              </a:tr>
              <a:tr h="436418">
                <a:tc>
                  <a:txBody>
                    <a:bodyPr wrap="square"/>
                    <a:lstStyle/>
                    <a:p>
                      <a:r>
                        <a:rPr sz="1250" b="0" i="0">
                          <a:solidFill>
                            <a:srgbClr val="2B2B2B"/>
                          </a:solidFill>
                          <a:latin typeface="Calibri"/>
                        </a:rPr>
                        <a:t>Observaciones de la institución al informe</a:t>
                      </a:r>
                    </a:p>
                  </a:txBody>
                  <a:tcPr anchor="ctr">
                    <a:solidFill>
                      <a:srgbClr val="F8F3F2"/>
                    </a:solidFill>
                  </a:tcPr>
                </a:tc>
                <a:tc>
                  <a:txBody>
                    <a:bodyPr wrap="square"/>
                    <a:lstStyle/>
                    <a:p>
                      <a:r>
                        <a:rPr sz="1250" b="0" i="0">
                          <a:solidFill>
                            <a:srgbClr val="2B2B2B"/>
                          </a:solidFill>
                          <a:latin typeface="Calibri"/>
                        </a:rPr>
                        <a:t>10 días hábiles</a:t>
                      </a:r>
                    </a:p>
                  </a:txBody>
                  <a:tcPr anchor="ctr">
                    <a:solidFill>
                      <a:srgbClr val="F8F3F2"/>
                    </a:solidFill>
                  </a:tcPr>
                </a:tc>
              </a:tr>
              <a:tr h="436418">
                <a:tc>
                  <a:txBody>
                    <a:bodyPr wrap="square"/>
                    <a:lstStyle/>
                    <a:p>
                      <a:r>
                        <a:rPr sz="1250" b="0" i="0">
                          <a:solidFill>
                            <a:srgbClr val="2B2B2B"/>
                          </a:solidFill>
                          <a:latin typeface="Calibri"/>
                        </a:rPr>
                        <a:t>Resolución final de acreditación</a:t>
                      </a:r>
                    </a:p>
                  </a:txBody>
                  <a:tcPr anchor="ctr">
                    <a:solidFill>
                      <a:srgbClr val="FFFFFF"/>
                    </a:solidFill>
                  </a:tcPr>
                </a:tc>
                <a:tc>
                  <a:txBody>
                    <a:bodyPr wrap="square"/>
                    <a:lstStyle/>
                    <a:p>
                      <a:r>
                        <a:rPr sz="1250" b="0" i="0">
                          <a:solidFill>
                            <a:srgbClr val="2B2B2B"/>
                          </a:solidFill>
                          <a:latin typeface="Calibri"/>
                        </a:rPr>
                        <a:t>30 días hábiles</a:t>
                      </a:r>
                    </a:p>
                  </a:txBody>
                  <a:tcPr anchor="ctr">
                    <a:solidFill>
                      <a:srgbClr val="FFFFFF"/>
                    </a:solidFill>
                  </a:tcPr>
                </a:tc>
              </a:tr>
              <a:tr h="436420">
                <a:tc>
                  <a:txBody>
                    <a:bodyPr wrap="square"/>
                    <a:lstStyle/>
                    <a:p>
                      <a:r>
                        <a:rPr sz="1250" b="0" i="0">
                          <a:solidFill>
                            <a:srgbClr val="2B2B2B"/>
                          </a:solidFill>
                          <a:latin typeface="Calibri"/>
                        </a:rPr>
                        <a:t>Duración total estimada del proceso</a:t>
                      </a:r>
                    </a:p>
                  </a:txBody>
                  <a:tcPr anchor="ctr">
                    <a:solidFill>
                      <a:srgbClr val="F8F3F2"/>
                    </a:solidFill>
                  </a:tcPr>
                </a:tc>
                <a:tc>
                  <a:txBody>
                    <a:bodyPr wrap="square"/>
                    <a:lstStyle/>
                    <a:p>
                      <a:r>
                        <a:rPr sz="1250" b="0" i="0">
                          <a:solidFill>
                            <a:srgbClr val="2B2B2B"/>
                          </a:solidFill>
                          <a:latin typeface="Calibri"/>
                        </a:rPr>
                        <a:t>~9 meses (sin contar febrero)</a:t>
                      </a:r>
                    </a:p>
                  </a:txBody>
                  <a:tcPr anchor="ctr">
                    <a:solidFill>
                      <a:srgbClr val="F8F3F2"/>
                    </a:solidFill>
                  </a:tcPr>
                </a:tc>
              </a:tr>
            </a:tbl>
          </a:graphicData>
        </a:graphic>
      </p:graphicFrame>
      <p:sp>
        <p:nvSpPr>
          <p:cNvPr id="5" name="TextBox 4"/>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QUIÉN EVALÚA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El Comité de Pares Evaluadores</a:t>
            </a:r>
          </a:p>
        </p:txBody>
      </p:sp>
      <p:sp>
        <p:nvSpPr>
          <p:cNvPr id="4" name="Rounded Rectangle 3"/>
          <p:cNvSpPr/>
          <p:nvPr/>
        </p:nvSpPr>
        <p:spPr>
          <a:xfrm>
            <a:off x="594360" y="1554480"/>
            <a:ext cx="3611880" cy="42062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783080"/>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502920" cy="502920"/>
          </a:xfrm>
          <a:prstGeom prst="rect">
            <a:avLst/>
          </a:prstGeom>
          <a:noFill/>
        </p:spPr>
        <p:txBody>
          <a:bodyPr wrap="square" lIns="36576" rIns="36576" tIns="18288" bIns="18288" anchor="ctr">
            <a:spAutoFit/>
          </a:bodyPr>
          <a:lstStyle/>
          <a:p>
            <a:pPr algn="ctr"/>
            <a:r>
              <a:rPr sz="2000" b="1" i="0">
                <a:solidFill>
                  <a:srgbClr val="FFFFFF"/>
                </a:solidFill>
                <a:latin typeface="Cambria"/>
              </a:rPr>
              <a:t>•</a:t>
            </a:r>
          </a:p>
        </p:txBody>
      </p:sp>
      <p:sp>
        <p:nvSpPr>
          <p:cNvPr id="7" name="TextBox 6"/>
          <p:cNvSpPr txBox="1"/>
          <p:nvPr/>
        </p:nvSpPr>
        <p:spPr>
          <a:xfrm>
            <a:off x="868680" y="2468880"/>
            <a:ext cx="3108960" cy="640080"/>
          </a:xfrm>
          <a:prstGeom prst="rect">
            <a:avLst/>
          </a:prstGeom>
          <a:noFill/>
        </p:spPr>
        <p:txBody>
          <a:bodyPr wrap="square" lIns="36576" rIns="36576" tIns="18288" bIns="18288">
            <a:spAutoFit/>
          </a:bodyPr>
          <a:lstStyle/>
          <a:p>
            <a:pPr algn="l">
              <a:lnSpc>
                <a:spcPct val="100000"/>
              </a:lnSpc>
            </a:pPr>
            <a:r>
              <a:rPr sz="1600" b="1" i="0">
                <a:solidFill>
                  <a:srgbClr val="7A1F2B"/>
                </a:solidFill>
                <a:latin typeface="Cambria"/>
              </a:rPr>
              <a:t>¿Quiénes son?</a:t>
            </a:r>
          </a:p>
        </p:txBody>
      </p:sp>
      <p:sp>
        <p:nvSpPr>
          <p:cNvPr id="8" name="TextBox 7"/>
          <p:cNvSpPr txBox="1"/>
          <p:nvPr/>
        </p:nvSpPr>
        <p:spPr>
          <a:xfrm>
            <a:off x="868680" y="3154680"/>
            <a:ext cx="3108960" cy="246888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Mínimo tres evaluadores, nacionales o extranjeros, designados por la CNA desde su Registro Público de Pares Evaluadores.</a:t>
            </a:r>
          </a:p>
        </p:txBody>
      </p:sp>
      <p:sp>
        <p:nvSpPr>
          <p:cNvPr id="9" name="Rounded Rectangle 8"/>
          <p:cNvSpPr/>
          <p:nvPr/>
        </p:nvSpPr>
        <p:spPr>
          <a:xfrm>
            <a:off x="4507992" y="1554480"/>
            <a:ext cx="3611880" cy="42062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82312" y="1783080"/>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2312" y="1783080"/>
            <a:ext cx="502920" cy="502920"/>
          </a:xfrm>
          <a:prstGeom prst="rect">
            <a:avLst/>
          </a:prstGeom>
          <a:noFill/>
        </p:spPr>
        <p:txBody>
          <a:bodyPr wrap="square" lIns="36576" rIns="36576" tIns="18288" bIns="18288" anchor="ctr">
            <a:spAutoFit/>
          </a:bodyPr>
          <a:lstStyle/>
          <a:p>
            <a:pPr algn="ctr"/>
            <a:r>
              <a:rPr sz="2000" b="1" i="0">
                <a:solidFill>
                  <a:srgbClr val="FFFFFF"/>
                </a:solidFill>
                <a:latin typeface="Cambria"/>
              </a:rPr>
              <a:t>•</a:t>
            </a:r>
          </a:p>
        </p:txBody>
      </p:sp>
      <p:sp>
        <p:nvSpPr>
          <p:cNvPr id="12" name="TextBox 11"/>
          <p:cNvSpPr txBox="1"/>
          <p:nvPr/>
        </p:nvSpPr>
        <p:spPr>
          <a:xfrm>
            <a:off x="4782312" y="2468880"/>
            <a:ext cx="3108960" cy="640080"/>
          </a:xfrm>
          <a:prstGeom prst="rect">
            <a:avLst/>
          </a:prstGeom>
          <a:noFill/>
        </p:spPr>
        <p:txBody>
          <a:bodyPr wrap="square" lIns="36576" rIns="36576" tIns="18288" bIns="18288">
            <a:spAutoFit/>
          </a:bodyPr>
          <a:lstStyle/>
          <a:p>
            <a:pPr algn="l">
              <a:lnSpc>
                <a:spcPct val="100000"/>
              </a:lnSpc>
            </a:pPr>
            <a:r>
              <a:rPr sz="1600" b="1" i="0">
                <a:solidFill>
                  <a:srgbClr val="7A1F2B"/>
                </a:solidFill>
                <a:latin typeface="Cambria"/>
              </a:rPr>
              <a:t>Causales de inhabilidad</a:t>
            </a:r>
          </a:p>
        </p:txBody>
      </p:sp>
      <p:sp>
        <p:nvSpPr>
          <p:cNvPr id="13" name="TextBox 12"/>
          <p:cNvSpPr txBox="1"/>
          <p:nvPr/>
        </p:nvSpPr>
        <p:spPr>
          <a:xfrm>
            <a:off x="4782312" y="3154680"/>
            <a:ext cx="3108960" cy="246888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No pueden integrar el comité quienes tuvieron contrato con la institución en los últimos dos años, tienen parentesco hasta segundo grado con sus autoridades, o registran condena penal.</a:t>
            </a:r>
          </a:p>
        </p:txBody>
      </p:sp>
      <p:sp>
        <p:nvSpPr>
          <p:cNvPr id="14" name="Rounded Rectangle 13"/>
          <p:cNvSpPr/>
          <p:nvPr/>
        </p:nvSpPr>
        <p:spPr>
          <a:xfrm>
            <a:off x="8421624" y="1554480"/>
            <a:ext cx="3611880" cy="42062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95944" y="1783080"/>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95944" y="1783080"/>
            <a:ext cx="502920" cy="502920"/>
          </a:xfrm>
          <a:prstGeom prst="rect">
            <a:avLst/>
          </a:prstGeom>
          <a:noFill/>
        </p:spPr>
        <p:txBody>
          <a:bodyPr wrap="square" lIns="36576" rIns="36576" tIns="18288" bIns="18288" anchor="ctr">
            <a:spAutoFit/>
          </a:bodyPr>
          <a:lstStyle/>
          <a:p>
            <a:pPr algn="ctr"/>
            <a:r>
              <a:rPr sz="2000" b="1" i="0">
                <a:solidFill>
                  <a:srgbClr val="FFFFFF"/>
                </a:solidFill>
                <a:latin typeface="Cambria"/>
              </a:rPr>
              <a:t>•</a:t>
            </a:r>
          </a:p>
        </p:txBody>
      </p:sp>
      <p:sp>
        <p:nvSpPr>
          <p:cNvPr id="17" name="TextBox 16"/>
          <p:cNvSpPr txBox="1"/>
          <p:nvPr/>
        </p:nvSpPr>
        <p:spPr>
          <a:xfrm>
            <a:off x="8695944" y="2468880"/>
            <a:ext cx="3108960" cy="640080"/>
          </a:xfrm>
          <a:prstGeom prst="rect">
            <a:avLst/>
          </a:prstGeom>
          <a:noFill/>
        </p:spPr>
        <p:txBody>
          <a:bodyPr wrap="square" lIns="36576" rIns="36576" tIns="18288" bIns="18288">
            <a:spAutoFit/>
          </a:bodyPr>
          <a:lstStyle/>
          <a:p>
            <a:pPr algn="l">
              <a:lnSpc>
                <a:spcPct val="100000"/>
              </a:lnSpc>
            </a:pPr>
            <a:r>
              <a:rPr sz="1600" b="1" i="0">
                <a:solidFill>
                  <a:srgbClr val="7A1F2B"/>
                </a:solidFill>
                <a:latin typeface="Cambria"/>
              </a:rPr>
              <a:t>Restricción posterior</a:t>
            </a:r>
          </a:p>
        </p:txBody>
      </p:sp>
      <p:sp>
        <p:nvSpPr>
          <p:cNvPr id="18" name="TextBox 17"/>
          <p:cNvSpPr txBox="1"/>
          <p:nvPr/>
        </p:nvSpPr>
        <p:spPr>
          <a:xfrm>
            <a:off x="8695944" y="3154680"/>
            <a:ext cx="3108960" cy="246888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Quien integra un comité evaluador no puede vincularse contractualmente con la institución evaluada hasta doce meses después de evaluarla.</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RESULTADOS POSIBLES</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Niveles y plazos de acreditación</a:t>
            </a:r>
          </a:p>
        </p:txBody>
      </p:sp>
      <p:sp>
        <p:nvSpPr>
          <p:cNvPr id="4" name="Rounded Rectangle 3"/>
          <p:cNvSpPr/>
          <p:nvPr/>
        </p:nvSpPr>
        <p:spPr>
          <a:xfrm>
            <a:off x="594360" y="1600200"/>
            <a:ext cx="3520440" cy="411480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0"/>
            <a:ext cx="3520440" cy="457200"/>
          </a:xfrm>
          <a:prstGeom prst="rect">
            <a:avLst/>
          </a:prstGeom>
          <a:noFill/>
        </p:spPr>
        <p:txBody>
          <a:bodyPr wrap="square" lIns="36576" rIns="36576" tIns="18288" bIns="18288">
            <a:spAutoFit/>
          </a:bodyPr>
          <a:lstStyle/>
          <a:p>
            <a:pPr algn="ctr"/>
            <a:r>
              <a:rPr sz="1800" b="1" i="0">
                <a:solidFill>
                  <a:srgbClr val="491017"/>
                </a:solidFill>
                <a:latin typeface="Cambria"/>
              </a:rPr>
              <a:t>Básica</a:t>
            </a:r>
          </a:p>
        </p:txBody>
      </p:sp>
      <p:sp>
        <p:nvSpPr>
          <p:cNvPr id="6" name="TextBox 5"/>
          <p:cNvSpPr txBox="1"/>
          <p:nvPr/>
        </p:nvSpPr>
        <p:spPr>
          <a:xfrm>
            <a:off x="594360" y="2331720"/>
            <a:ext cx="3520440" cy="1188720"/>
          </a:xfrm>
          <a:prstGeom prst="rect">
            <a:avLst/>
          </a:prstGeom>
          <a:noFill/>
        </p:spPr>
        <p:txBody>
          <a:bodyPr wrap="square" lIns="36576" rIns="36576" tIns="18288" bIns="18288">
            <a:spAutoFit/>
          </a:bodyPr>
          <a:lstStyle/>
          <a:p>
            <a:pPr algn="ctr"/>
            <a:r>
              <a:rPr sz="6400" b="1" i="0">
                <a:solidFill>
                  <a:srgbClr val="7A1F2B"/>
                </a:solidFill>
                <a:latin typeface="Cambria"/>
              </a:rPr>
              <a:t>3</a:t>
            </a:r>
          </a:p>
        </p:txBody>
      </p:sp>
      <p:sp>
        <p:nvSpPr>
          <p:cNvPr id="7" name="TextBox 6"/>
          <p:cNvSpPr txBox="1"/>
          <p:nvPr/>
        </p:nvSpPr>
        <p:spPr>
          <a:xfrm>
            <a:off x="594360" y="3429000"/>
            <a:ext cx="3520440" cy="411480"/>
          </a:xfrm>
          <a:prstGeom prst="rect">
            <a:avLst/>
          </a:prstGeom>
          <a:noFill/>
        </p:spPr>
        <p:txBody>
          <a:bodyPr wrap="square" lIns="36576" rIns="36576" tIns="18288" bIns="18288">
            <a:spAutoFit/>
          </a:bodyPr>
          <a:lstStyle/>
          <a:p>
            <a:pPr algn="ctr"/>
            <a:r>
              <a:rPr sz="1500" b="0" i="0">
                <a:solidFill>
                  <a:srgbClr val="797371"/>
                </a:solidFill>
                <a:latin typeface="Calibri"/>
              </a:rPr>
              <a:t>años</a:t>
            </a:r>
          </a:p>
        </p:txBody>
      </p:sp>
      <p:sp>
        <p:nvSpPr>
          <p:cNvPr id="8" name="TextBox 7"/>
          <p:cNvSpPr txBox="1"/>
          <p:nvPr/>
        </p:nvSpPr>
        <p:spPr>
          <a:xfrm>
            <a:off x="868680" y="4023360"/>
            <a:ext cx="2971800" cy="1554480"/>
          </a:xfrm>
          <a:prstGeom prst="rect">
            <a:avLst/>
          </a:prstGeom>
          <a:noFill/>
        </p:spPr>
        <p:txBody>
          <a:bodyPr wrap="square" lIns="36576" rIns="36576" tIns="18288" bIns="18288">
            <a:spAutoFit/>
          </a:bodyPr>
          <a:lstStyle/>
          <a:p>
            <a:pPr algn="ctr">
              <a:lnSpc>
                <a:spcPct val="115000"/>
              </a:lnSpc>
            </a:pPr>
            <a:r>
              <a:rPr sz="1200" b="0" i="0">
                <a:solidFill>
                  <a:srgbClr val="2B2B2B"/>
                </a:solidFill>
                <a:latin typeface="Calibri"/>
              </a:rPr>
              <a:t>Se otorga solo una vez de forma consecutiva.</a:t>
            </a:r>
          </a:p>
        </p:txBody>
      </p:sp>
      <p:sp>
        <p:nvSpPr>
          <p:cNvPr id="9" name="Rounded Rectangle 8"/>
          <p:cNvSpPr/>
          <p:nvPr/>
        </p:nvSpPr>
        <p:spPr>
          <a:xfrm>
            <a:off x="4416552" y="1600200"/>
            <a:ext cx="3520440" cy="411480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16552" y="1828800"/>
            <a:ext cx="3520440" cy="457200"/>
          </a:xfrm>
          <a:prstGeom prst="rect">
            <a:avLst/>
          </a:prstGeom>
          <a:noFill/>
        </p:spPr>
        <p:txBody>
          <a:bodyPr wrap="square" lIns="36576" rIns="36576" tIns="18288" bIns="18288">
            <a:spAutoFit/>
          </a:bodyPr>
          <a:lstStyle/>
          <a:p>
            <a:pPr algn="ctr"/>
            <a:r>
              <a:rPr sz="1800" b="1" i="0">
                <a:solidFill>
                  <a:srgbClr val="491017"/>
                </a:solidFill>
                <a:latin typeface="Cambria"/>
              </a:rPr>
              <a:t>Avanzada</a:t>
            </a:r>
          </a:p>
        </p:txBody>
      </p:sp>
      <p:sp>
        <p:nvSpPr>
          <p:cNvPr id="11" name="TextBox 10"/>
          <p:cNvSpPr txBox="1"/>
          <p:nvPr/>
        </p:nvSpPr>
        <p:spPr>
          <a:xfrm>
            <a:off x="4416552" y="2331720"/>
            <a:ext cx="3520440" cy="1188720"/>
          </a:xfrm>
          <a:prstGeom prst="rect">
            <a:avLst/>
          </a:prstGeom>
          <a:noFill/>
        </p:spPr>
        <p:txBody>
          <a:bodyPr wrap="square" lIns="36576" rIns="36576" tIns="18288" bIns="18288">
            <a:spAutoFit/>
          </a:bodyPr>
          <a:lstStyle/>
          <a:p>
            <a:pPr algn="ctr"/>
            <a:r>
              <a:rPr sz="6400" b="1" i="0">
                <a:solidFill>
                  <a:srgbClr val="7A1F2B"/>
                </a:solidFill>
                <a:latin typeface="Cambria"/>
              </a:rPr>
              <a:t>4–5</a:t>
            </a:r>
          </a:p>
        </p:txBody>
      </p:sp>
      <p:sp>
        <p:nvSpPr>
          <p:cNvPr id="12" name="TextBox 11"/>
          <p:cNvSpPr txBox="1"/>
          <p:nvPr/>
        </p:nvSpPr>
        <p:spPr>
          <a:xfrm>
            <a:off x="4416552" y="3429000"/>
            <a:ext cx="3520440" cy="411480"/>
          </a:xfrm>
          <a:prstGeom prst="rect">
            <a:avLst/>
          </a:prstGeom>
          <a:noFill/>
        </p:spPr>
        <p:txBody>
          <a:bodyPr wrap="square" lIns="36576" rIns="36576" tIns="18288" bIns="18288">
            <a:spAutoFit/>
          </a:bodyPr>
          <a:lstStyle/>
          <a:p>
            <a:pPr algn="ctr"/>
            <a:r>
              <a:rPr sz="1500" b="0" i="0">
                <a:solidFill>
                  <a:srgbClr val="797371"/>
                </a:solidFill>
                <a:latin typeface="Calibri"/>
              </a:rPr>
              <a:t>años</a:t>
            </a:r>
          </a:p>
        </p:txBody>
      </p:sp>
      <p:sp>
        <p:nvSpPr>
          <p:cNvPr id="13" name="TextBox 12"/>
          <p:cNvSpPr txBox="1"/>
          <p:nvPr/>
        </p:nvSpPr>
        <p:spPr>
          <a:xfrm>
            <a:off x="4690872" y="4023360"/>
            <a:ext cx="2971800" cy="1554480"/>
          </a:xfrm>
          <a:prstGeom prst="rect">
            <a:avLst/>
          </a:prstGeom>
          <a:noFill/>
        </p:spPr>
        <p:txBody>
          <a:bodyPr wrap="square" lIns="36576" rIns="36576" tIns="18288" bIns="18288">
            <a:spAutoFit/>
          </a:bodyPr>
          <a:lstStyle/>
          <a:p>
            <a:pPr algn="ctr">
              <a:lnSpc>
                <a:spcPct val="115000"/>
              </a:lnSpc>
            </a:pPr>
            <a:r>
              <a:rPr sz="1200" b="0" i="0">
                <a:solidFill>
                  <a:srgbClr val="2B2B2B"/>
                </a:solidFill>
                <a:latin typeface="Calibri"/>
              </a:rPr>
              <a:t>Plazo intermedio entre dos nuevos procesos de acreditación.</a:t>
            </a:r>
          </a:p>
        </p:txBody>
      </p:sp>
      <p:sp>
        <p:nvSpPr>
          <p:cNvPr id="14" name="Rounded Rectangle 13"/>
          <p:cNvSpPr/>
          <p:nvPr/>
        </p:nvSpPr>
        <p:spPr>
          <a:xfrm>
            <a:off x="8229600" y="1600200"/>
            <a:ext cx="3520440" cy="411480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828800"/>
            <a:ext cx="3520440" cy="457200"/>
          </a:xfrm>
          <a:prstGeom prst="rect">
            <a:avLst/>
          </a:prstGeom>
          <a:noFill/>
        </p:spPr>
        <p:txBody>
          <a:bodyPr wrap="square" lIns="36576" rIns="36576" tIns="18288" bIns="18288">
            <a:spAutoFit/>
          </a:bodyPr>
          <a:lstStyle/>
          <a:p>
            <a:pPr algn="ctr"/>
            <a:r>
              <a:rPr sz="1800" b="1" i="0">
                <a:solidFill>
                  <a:srgbClr val="491017"/>
                </a:solidFill>
                <a:latin typeface="Cambria"/>
              </a:rPr>
              <a:t>Excelencia</a:t>
            </a:r>
          </a:p>
        </p:txBody>
      </p:sp>
      <p:sp>
        <p:nvSpPr>
          <p:cNvPr id="16" name="TextBox 15"/>
          <p:cNvSpPr txBox="1"/>
          <p:nvPr/>
        </p:nvSpPr>
        <p:spPr>
          <a:xfrm>
            <a:off x="8229600" y="2331720"/>
            <a:ext cx="3520440" cy="1188720"/>
          </a:xfrm>
          <a:prstGeom prst="rect">
            <a:avLst/>
          </a:prstGeom>
          <a:noFill/>
        </p:spPr>
        <p:txBody>
          <a:bodyPr wrap="square" lIns="36576" rIns="36576" tIns="18288" bIns="18288">
            <a:spAutoFit/>
          </a:bodyPr>
          <a:lstStyle/>
          <a:p>
            <a:pPr algn="ctr"/>
            <a:r>
              <a:rPr sz="6400" b="1" i="0">
                <a:solidFill>
                  <a:srgbClr val="7A1F2B"/>
                </a:solidFill>
                <a:latin typeface="Cambria"/>
              </a:rPr>
              <a:t>6–7</a:t>
            </a:r>
          </a:p>
        </p:txBody>
      </p:sp>
      <p:sp>
        <p:nvSpPr>
          <p:cNvPr id="17" name="TextBox 16"/>
          <p:cNvSpPr txBox="1"/>
          <p:nvPr/>
        </p:nvSpPr>
        <p:spPr>
          <a:xfrm>
            <a:off x="8229600" y="3429000"/>
            <a:ext cx="3520440" cy="411480"/>
          </a:xfrm>
          <a:prstGeom prst="rect">
            <a:avLst/>
          </a:prstGeom>
          <a:noFill/>
        </p:spPr>
        <p:txBody>
          <a:bodyPr wrap="square" lIns="36576" rIns="36576" tIns="18288" bIns="18288">
            <a:spAutoFit/>
          </a:bodyPr>
          <a:lstStyle/>
          <a:p>
            <a:pPr algn="ctr"/>
            <a:r>
              <a:rPr sz="1500" b="0" i="0">
                <a:solidFill>
                  <a:srgbClr val="797371"/>
                </a:solidFill>
                <a:latin typeface="Calibri"/>
              </a:rPr>
              <a:t>años</a:t>
            </a:r>
          </a:p>
        </p:txBody>
      </p:sp>
      <p:sp>
        <p:nvSpPr>
          <p:cNvPr id="18" name="TextBox 17"/>
          <p:cNvSpPr txBox="1"/>
          <p:nvPr/>
        </p:nvSpPr>
        <p:spPr>
          <a:xfrm>
            <a:off x="8503920" y="4023360"/>
            <a:ext cx="2971800" cy="1554480"/>
          </a:xfrm>
          <a:prstGeom prst="rect">
            <a:avLst/>
          </a:prstGeom>
          <a:noFill/>
        </p:spPr>
        <p:txBody>
          <a:bodyPr wrap="square" lIns="36576" rIns="36576" tIns="18288" bIns="18288">
            <a:spAutoFit/>
          </a:bodyPr>
          <a:lstStyle/>
          <a:p>
            <a:pPr algn="ctr">
              <a:lnSpc>
                <a:spcPct val="115000"/>
              </a:lnSpc>
            </a:pPr>
            <a:r>
              <a:rPr sz="1200" b="0" i="0">
                <a:solidFill>
                  <a:srgbClr val="2B2B2B"/>
                </a:solidFill>
                <a:latin typeface="Calibri"/>
              </a:rPr>
              <a:t>El plazo de 7 años exige acreditar también la dimensión voluntaria de Investigación, Creación y/o Innovación.</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RIESGOS INSTITUCIONALES</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Lo que está en juego</a:t>
            </a:r>
          </a:p>
        </p:txBody>
      </p:sp>
      <p:sp>
        <p:nvSpPr>
          <p:cNvPr id="4" name="Rounded Rectangle 3"/>
          <p:cNvSpPr/>
          <p:nvPr/>
        </p:nvSpPr>
        <p:spPr>
          <a:xfrm>
            <a:off x="594360" y="1600200"/>
            <a:ext cx="544068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914400"/>
          </a:xfrm>
          <a:prstGeom prst="rect">
            <a:avLst/>
          </a:prstGeom>
          <a:noFill/>
        </p:spPr>
        <p:txBody>
          <a:bodyPr wrap="square" lIns="36576" rIns="36576" tIns="18288" bIns="18288">
            <a:spAutoFit/>
          </a:bodyPr>
          <a:lstStyle/>
          <a:p>
            <a:pPr algn="l">
              <a:lnSpc>
                <a:spcPct val="105000"/>
              </a:lnSpc>
            </a:pPr>
            <a:r>
              <a:rPr sz="1650" b="1" i="0">
                <a:solidFill>
                  <a:srgbClr val="7A1F2B"/>
                </a:solidFill>
                <a:latin typeface="Cambria"/>
              </a:rPr>
              <a:t>Plan de Tutoría (Ley N°21.094, Art. 33)</a:t>
            </a:r>
          </a:p>
        </p:txBody>
      </p:sp>
      <p:sp>
        <p:nvSpPr>
          <p:cNvPr id="6" name="TextBox 5"/>
          <p:cNvSpPr txBox="1"/>
          <p:nvPr/>
        </p:nvSpPr>
        <p:spPr>
          <a:xfrm>
            <a:off x="914400" y="2788920"/>
            <a:ext cx="4846320" cy="2834640"/>
          </a:xfrm>
          <a:prstGeom prst="rect">
            <a:avLst/>
          </a:prstGeom>
          <a:noFill/>
        </p:spPr>
        <p:txBody>
          <a:bodyPr wrap="square" lIns="36576" rIns="36576" tIns="18288" bIns="18288">
            <a:spAutoFit/>
          </a:bodyPr>
          <a:lstStyle/>
          <a:p>
            <a:pPr algn="l">
              <a:lnSpc>
                <a:spcPct val="120000"/>
              </a:lnSpc>
            </a:pPr>
            <a:r>
              <a:rPr sz="1300" b="0" i="0">
                <a:solidFill>
                  <a:srgbClr val="2B2B2B"/>
                </a:solidFill>
                <a:latin typeface="Calibri"/>
              </a:rPr>
              <a:t>Para universidades del Estado: se activa no solo ante la pérdida total de la acreditación, sino también al obtener una acreditación inferior a cuatro años, es decir, el nivel básico.</a:t>
            </a:r>
          </a:p>
        </p:txBody>
      </p:sp>
      <p:sp>
        <p:nvSpPr>
          <p:cNvPr id="7" name="Rounded Rectangle 6"/>
          <p:cNvSpPr/>
          <p:nvPr/>
        </p:nvSpPr>
        <p:spPr>
          <a:xfrm>
            <a:off x="6153912" y="1600200"/>
            <a:ext cx="544068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828800"/>
            <a:ext cx="4846320" cy="914400"/>
          </a:xfrm>
          <a:prstGeom prst="rect">
            <a:avLst/>
          </a:prstGeom>
          <a:noFill/>
        </p:spPr>
        <p:txBody>
          <a:bodyPr wrap="square" lIns="36576" rIns="36576" tIns="18288" bIns="18288">
            <a:spAutoFit/>
          </a:bodyPr>
          <a:lstStyle/>
          <a:p>
            <a:pPr algn="l">
              <a:lnSpc>
                <a:spcPct val="105000"/>
              </a:lnSpc>
            </a:pPr>
            <a:r>
              <a:rPr sz="1650" b="1" i="0">
                <a:solidFill>
                  <a:srgbClr val="7A1F2B"/>
                </a:solidFill>
                <a:latin typeface="Cambria"/>
              </a:rPr>
              <a:t>Cláusula de exclusión absoluta (Art. 22)</a:t>
            </a:r>
          </a:p>
        </p:txBody>
      </p:sp>
      <p:sp>
        <p:nvSpPr>
          <p:cNvPr id="9" name="TextBox 8"/>
          <p:cNvSpPr txBox="1"/>
          <p:nvPr/>
        </p:nvSpPr>
        <p:spPr>
          <a:xfrm>
            <a:off x="6473952" y="2788920"/>
            <a:ext cx="4846320" cy="2834640"/>
          </a:xfrm>
          <a:prstGeom prst="rect">
            <a:avLst/>
          </a:prstGeom>
          <a:noFill/>
        </p:spPr>
        <p:txBody>
          <a:bodyPr wrap="square" lIns="36576" rIns="36576" tIns="18288" bIns="18288">
            <a:spAutoFit/>
          </a:bodyPr>
          <a:lstStyle/>
          <a:p>
            <a:pPr algn="l">
              <a:lnSpc>
                <a:spcPct val="120000"/>
              </a:lnSpc>
            </a:pPr>
            <a:r>
              <a:rPr sz="1300" b="0" i="0">
                <a:solidFill>
                  <a:srgbClr val="2B2B2B"/>
                </a:solidFill>
                <a:latin typeface="Calibri"/>
              </a:rPr>
              <a:t>Ninguna institución puede obtener la acreditación si no adopta una política integral contra el acoso sexual, la violencia y la discriminación de género (Ley N°21.369) — cualquiera sea su desempeño en las demás dimensiones.</a:t>
            </a:r>
          </a:p>
        </p:txBody>
      </p:sp>
      <p:sp>
        <p:nvSpPr>
          <p:cNvPr id="10" name="TextBox 9"/>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LA RÚBRICA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5 dimensiones, 14 criterios, 3 niveles</a:t>
            </a:r>
          </a:p>
        </p:txBody>
      </p:sp>
      <p:sp>
        <p:nvSpPr>
          <p:cNvPr id="4" name="Rounded Rectangle 3"/>
          <p:cNvSpPr/>
          <p:nvPr/>
        </p:nvSpPr>
        <p:spPr>
          <a:xfrm>
            <a:off x="868680" y="1463040"/>
            <a:ext cx="3291840" cy="16916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00200"/>
            <a:ext cx="1828800" cy="320040"/>
          </a:xfrm>
          <a:prstGeom prst="rect">
            <a:avLst/>
          </a:prstGeom>
          <a:noFill/>
        </p:spPr>
        <p:txBody>
          <a:bodyPr wrap="square" lIns="36576" rIns="36576" tIns="18288" bIns="18288">
            <a:spAutoFit/>
          </a:bodyPr>
          <a:lstStyle/>
          <a:p>
            <a:pPr algn="l"/>
            <a:r>
              <a:rPr sz="1150" b="1" i="0">
                <a:solidFill>
                  <a:srgbClr val="7A1F2B"/>
                </a:solidFill>
                <a:latin typeface="Calibri"/>
              </a:rPr>
              <a:t>DIM. I</a:t>
            </a:r>
          </a:p>
        </p:txBody>
      </p:sp>
      <p:sp>
        <p:nvSpPr>
          <p:cNvPr id="6" name="TextBox 5"/>
          <p:cNvSpPr txBox="1"/>
          <p:nvPr/>
        </p:nvSpPr>
        <p:spPr>
          <a:xfrm>
            <a:off x="1097280" y="1901952"/>
            <a:ext cx="2194560" cy="1005840"/>
          </a:xfrm>
          <a:prstGeom prst="rect">
            <a:avLst/>
          </a:prstGeom>
          <a:noFill/>
        </p:spPr>
        <p:txBody>
          <a:bodyPr wrap="square" lIns="36576" rIns="36576" tIns="18288" bIns="18288">
            <a:spAutoFit/>
          </a:bodyPr>
          <a:lstStyle/>
          <a:p>
            <a:pPr algn="l">
              <a:lnSpc>
                <a:spcPct val="105000"/>
              </a:lnSpc>
            </a:pPr>
            <a:r>
              <a:rPr sz="1300" b="1" i="0">
                <a:solidFill>
                  <a:srgbClr val="491017"/>
                </a:solidFill>
                <a:latin typeface="Cambria"/>
              </a:rPr>
              <a:t>Docencia y Resultados
del Proceso Formativo</a:t>
            </a:r>
          </a:p>
        </p:txBody>
      </p:sp>
      <p:sp>
        <p:nvSpPr>
          <p:cNvPr id="7" name="Oval 6"/>
          <p:cNvSpPr/>
          <p:nvPr/>
        </p:nvSpPr>
        <p:spPr>
          <a:xfrm>
            <a:off x="3474720" y="1874519"/>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874519"/>
            <a:ext cx="502920" cy="502920"/>
          </a:xfrm>
          <a:prstGeom prst="rect">
            <a:avLst/>
          </a:prstGeom>
          <a:noFill/>
        </p:spPr>
        <p:txBody>
          <a:bodyPr wrap="square" lIns="36576" rIns="36576" tIns="18288" bIns="18288" anchor="ctr">
            <a:spAutoFit/>
          </a:bodyPr>
          <a:lstStyle/>
          <a:p>
            <a:pPr algn="ctr"/>
            <a:r>
              <a:rPr sz="1600" b="1" i="0">
                <a:solidFill>
                  <a:srgbClr val="FFFFFF"/>
                </a:solidFill>
                <a:latin typeface="Cambria"/>
              </a:rPr>
              <a:t>4</a:t>
            </a:r>
          </a:p>
        </p:txBody>
      </p:sp>
      <p:sp>
        <p:nvSpPr>
          <p:cNvPr id="9" name="Rounded Rectangle 8"/>
          <p:cNvSpPr/>
          <p:nvPr/>
        </p:nvSpPr>
        <p:spPr>
          <a:xfrm>
            <a:off x="4663440" y="1463040"/>
            <a:ext cx="3291840" cy="16916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1600200"/>
            <a:ext cx="1828800" cy="320040"/>
          </a:xfrm>
          <a:prstGeom prst="rect">
            <a:avLst/>
          </a:prstGeom>
          <a:noFill/>
        </p:spPr>
        <p:txBody>
          <a:bodyPr wrap="square" lIns="36576" rIns="36576" tIns="18288" bIns="18288">
            <a:spAutoFit/>
          </a:bodyPr>
          <a:lstStyle/>
          <a:p>
            <a:pPr algn="l"/>
            <a:r>
              <a:rPr sz="1150" b="1" i="0">
                <a:solidFill>
                  <a:srgbClr val="7A1F2B"/>
                </a:solidFill>
                <a:latin typeface="Calibri"/>
              </a:rPr>
              <a:t>DIM. II</a:t>
            </a:r>
          </a:p>
        </p:txBody>
      </p:sp>
      <p:sp>
        <p:nvSpPr>
          <p:cNvPr id="11" name="TextBox 10"/>
          <p:cNvSpPr txBox="1"/>
          <p:nvPr/>
        </p:nvSpPr>
        <p:spPr>
          <a:xfrm>
            <a:off x="4892040" y="1901952"/>
            <a:ext cx="2194560" cy="1005840"/>
          </a:xfrm>
          <a:prstGeom prst="rect">
            <a:avLst/>
          </a:prstGeom>
          <a:noFill/>
        </p:spPr>
        <p:txBody>
          <a:bodyPr wrap="square" lIns="36576" rIns="36576" tIns="18288" bIns="18288">
            <a:spAutoFit/>
          </a:bodyPr>
          <a:lstStyle/>
          <a:p>
            <a:pPr algn="l">
              <a:lnSpc>
                <a:spcPct val="105000"/>
              </a:lnSpc>
            </a:pPr>
            <a:r>
              <a:rPr sz="1300" b="1" i="0">
                <a:solidFill>
                  <a:srgbClr val="491017"/>
                </a:solidFill>
                <a:latin typeface="Cambria"/>
              </a:rPr>
              <a:t>Gestión Estratégica y
Recursos Institucionales</a:t>
            </a:r>
          </a:p>
        </p:txBody>
      </p:sp>
      <p:sp>
        <p:nvSpPr>
          <p:cNvPr id="12" name="Oval 11"/>
          <p:cNvSpPr/>
          <p:nvPr/>
        </p:nvSpPr>
        <p:spPr>
          <a:xfrm>
            <a:off x="7269479" y="1874519"/>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79" y="1874519"/>
            <a:ext cx="502920" cy="502920"/>
          </a:xfrm>
          <a:prstGeom prst="rect">
            <a:avLst/>
          </a:prstGeom>
          <a:noFill/>
        </p:spPr>
        <p:txBody>
          <a:bodyPr wrap="square" lIns="36576" rIns="36576" tIns="18288" bIns="18288" anchor="ctr">
            <a:spAutoFit/>
          </a:bodyPr>
          <a:lstStyle/>
          <a:p>
            <a:pPr algn="ctr"/>
            <a:r>
              <a:rPr sz="1600" b="1" i="0">
                <a:solidFill>
                  <a:srgbClr val="FFFFFF"/>
                </a:solidFill>
                <a:latin typeface="Cambria"/>
              </a:rPr>
              <a:t>4</a:t>
            </a:r>
          </a:p>
        </p:txBody>
      </p:sp>
      <p:sp>
        <p:nvSpPr>
          <p:cNvPr id="14" name="Rounded Rectangle 13"/>
          <p:cNvSpPr/>
          <p:nvPr/>
        </p:nvSpPr>
        <p:spPr>
          <a:xfrm>
            <a:off x="8458200" y="1463040"/>
            <a:ext cx="3291840" cy="16916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1600200"/>
            <a:ext cx="1828800" cy="320040"/>
          </a:xfrm>
          <a:prstGeom prst="rect">
            <a:avLst/>
          </a:prstGeom>
          <a:noFill/>
        </p:spPr>
        <p:txBody>
          <a:bodyPr wrap="square" lIns="36576" rIns="36576" tIns="18288" bIns="18288">
            <a:spAutoFit/>
          </a:bodyPr>
          <a:lstStyle/>
          <a:p>
            <a:pPr algn="l"/>
            <a:r>
              <a:rPr sz="1150" b="1" i="0">
                <a:solidFill>
                  <a:srgbClr val="7A1F2B"/>
                </a:solidFill>
                <a:latin typeface="Calibri"/>
              </a:rPr>
              <a:t>DIM. III</a:t>
            </a:r>
          </a:p>
        </p:txBody>
      </p:sp>
      <p:sp>
        <p:nvSpPr>
          <p:cNvPr id="16" name="TextBox 15"/>
          <p:cNvSpPr txBox="1"/>
          <p:nvPr/>
        </p:nvSpPr>
        <p:spPr>
          <a:xfrm>
            <a:off x="8686800" y="1901952"/>
            <a:ext cx="2194560" cy="1005840"/>
          </a:xfrm>
          <a:prstGeom prst="rect">
            <a:avLst/>
          </a:prstGeom>
          <a:noFill/>
        </p:spPr>
        <p:txBody>
          <a:bodyPr wrap="square" lIns="36576" rIns="36576" tIns="18288" bIns="18288">
            <a:spAutoFit/>
          </a:bodyPr>
          <a:lstStyle/>
          <a:p>
            <a:pPr algn="l">
              <a:lnSpc>
                <a:spcPct val="105000"/>
              </a:lnSpc>
            </a:pPr>
            <a:r>
              <a:rPr sz="1300" b="1" i="0">
                <a:solidFill>
                  <a:srgbClr val="491017"/>
                </a:solidFill>
                <a:latin typeface="Cambria"/>
              </a:rPr>
              <a:t>Aseguramiento Interno
de la Calidad</a:t>
            </a:r>
          </a:p>
        </p:txBody>
      </p:sp>
      <p:sp>
        <p:nvSpPr>
          <p:cNvPr id="17" name="Oval 16"/>
          <p:cNvSpPr/>
          <p:nvPr/>
        </p:nvSpPr>
        <p:spPr>
          <a:xfrm>
            <a:off x="11064240" y="1874519"/>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0" y="1874519"/>
            <a:ext cx="502920" cy="502920"/>
          </a:xfrm>
          <a:prstGeom prst="rect">
            <a:avLst/>
          </a:prstGeom>
          <a:noFill/>
        </p:spPr>
        <p:txBody>
          <a:bodyPr wrap="square" lIns="36576" rIns="36576" tIns="18288" bIns="18288" anchor="ctr">
            <a:spAutoFit/>
          </a:bodyPr>
          <a:lstStyle/>
          <a:p>
            <a:pPr algn="ctr"/>
            <a:r>
              <a:rPr sz="1600" b="1" i="0">
                <a:solidFill>
                  <a:srgbClr val="FFFFFF"/>
                </a:solidFill>
                <a:latin typeface="Cambria"/>
              </a:rPr>
              <a:t>2</a:t>
            </a:r>
          </a:p>
        </p:txBody>
      </p:sp>
      <p:sp>
        <p:nvSpPr>
          <p:cNvPr id="19" name="Rounded Rectangle 18"/>
          <p:cNvSpPr/>
          <p:nvPr/>
        </p:nvSpPr>
        <p:spPr>
          <a:xfrm>
            <a:off x="2743200" y="3383280"/>
            <a:ext cx="3291840" cy="16916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520440"/>
            <a:ext cx="1828800" cy="320040"/>
          </a:xfrm>
          <a:prstGeom prst="rect">
            <a:avLst/>
          </a:prstGeom>
          <a:noFill/>
        </p:spPr>
        <p:txBody>
          <a:bodyPr wrap="square" lIns="36576" rIns="36576" tIns="18288" bIns="18288">
            <a:spAutoFit/>
          </a:bodyPr>
          <a:lstStyle/>
          <a:p>
            <a:pPr algn="l"/>
            <a:r>
              <a:rPr sz="1150" b="1" i="0">
                <a:solidFill>
                  <a:srgbClr val="7A1F2B"/>
                </a:solidFill>
                <a:latin typeface="Calibri"/>
              </a:rPr>
              <a:t>DIM. IV</a:t>
            </a:r>
          </a:p>
        </p:txBody>
      </p:sp>
      <p:sp>
        <p:nvSpPr>
          <p:cNvPr id="21" name="TextBox 20"/>
          <p:cNvSpPr txBox="1"/>
          <p:nvPr/>
        </p:nvSpPr>
        <p:spPr>
          <a:xfrm>
            <a:off x="2971800" y="3822191"/>
            <a:ext cx="2331720" cy="1005840"/>
          </a:xfrm>
          <a:prstGeom prst="rect">
            <a:avLst/>
          </a:prstGeom>
          <a:noFill/>
        </p:spPr>
        <p:txBody>
          <a:bodyPr wrap="square" lIns="36576" rIns="36576" tIns="18288" bIns="18288">
            <a:spAutoFit/>
          </a:bodyPr>
          <a:lstStyle/>
          <a:p>
            <a:pPr algn="l">
              <a:lnSpc>
                <a:spcPct val="105000"/>
              </a:lnSpc>
            </a:pPr>
            <a:r>
              <a:rPr sz="1300" b="1" i="0">
                <a:solidFill>
                  <a:srgbClr val="491017"/>
                </a:solidFill>
                <a:latin typeface="Cambria"/>
              </a:rPr>
              <a:t>Vinculación
con el Medio</a:t>
            </a:r>
          </a:p>
        </p:txBody>
      </p:sp>
      <p:sp>
        <p:nvSpPr>
          <p:cNvPr id="22" name="Oval 21"/>
          <p:cNvSpPr/>
          <p:nvPr/>
        </p:nvSpPr>
        <p:spPr>
          <a:xfrm>
            <a:off x="5349240" y="3794760"/>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40" y="3794760"/>
            <a:ext cx="502920" cy="502920"/>
          </a:xfrm>
          <a:prstGeom prst="rect">
            <a:avLst/>
          </a:prstGeom>
          <a:noFill/>
        </p:spPr>
        <p:txBody>
          <a:bodyPr wrap="square" lIns="36576" rIns="36576" tIns="18288" bIns="18288" anchor="ctr">
            <a:spAutoFit/>
          </a:bodyPr>
          <a:lstStyle/>
          <a:p>
            <a:pPr algn="ctr"/>
            <a:r>
              <a:rPr sz="1600" b="1" i="0">
                <a:solidFill>
                  <a:srgbClr val="FFFFFF"/>
                </a:solidFill>
                <a:latin typeface="Cambria"/>
              </a:rPr>
              <a:t>2</a:t>
            </a:r>
          </a:p>
        </p:txBody>
      </p:sp>
      <p:sp>
        <p:nvSpPr>
          <p:cNvPr id="24" name="Rounded Rectangle 23"/>
          <p:cNvSpPr/>
          <p:nvPr/>
        </p:nvSpPr>
        <p:spPr>
          <a:xfrm>
            <a:off x="6537960" y="3383280"/>
            <a:ext cx="3291840" cy="16916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0" y="3520440"/>
            <a:ext cx="1828800" cy="320040"/>
          </a:xfrm>
          <a:prstGeom prst="rect">
            <a:avLst/>
          </a:prstGeom>
          <a:noFill/>
        </p:spPr>
        <p:txBody>
          <a:bodyPr wrap="square" lIns="36576" rIns="36576" tIns="18288" bIns="18288">
            <a:spAutoFit/>
          </a:bodyPr>
          <a:lstStyle/>
          <a:p>
            <a:pPr algn="l"/>
            <a:r>
              <a:rPr sz="1150" b="1" i="0">
                <a:solidFill>
                  <a:srgbClr val="7A1F2B"/>
                </a:solidFill>
                <a:latin typeface="Calibri"/>
              </a:rPr>
              <a:t>DIM. V</a:t>
            </a:r>
          </a:p>
        </p:txBody>
      </p:sp>
      <p:sp>
        <p:nvSpPr>
          <p:cNvPr id="26" name="TextBox 25"/>
          <p:cNvSpPr txBox="1"/>
          <p:nvPr/>
        </p:nvSpPr>
        <p:spPr>
          <a:xfrm>
            <a:off x="6766560" y="3822191"/>
            <a:ext cx="2331720" cy="1005840"/>
          </a:xfrm>
          <a:prstGeom prst="rect">
            <a:avLst/>
          </a:prstGeom>
          <a:noFill/>
        </p:spPr>
        <p:txBody>
          <a:bodyPr wrap="square" lIns="36576" rIns="36576" tIns="18288" bIns="18288">
            <a:spAutoFit/>
          </a:bodyPr>
          <a:lstStyle/>
          <a:p>
            <a:pPr algn="l">
              <a:lnSpc>
                <a:spcPct val="105000"/>
              </a:lnSpc>
            </a:pPr>
            <a:r>
              <a:rPr sz="1300" b="1" i="0">
                <a:solidFill>
                  <a:srgbClr val="491017"/>
                </a:solidFill>
                <a:latin typeface="Cambria"/>
              </a:rPr>
              <a:t>Investigación, Creación
y/o Innovación</a:t>
            </a:r>
          </a:p>
        </p:txBody>
      </p:sp>
      <p:sp>
        <p:nvSpPr>
          <p:cNvPr id="27" name="Oval 26"/>
          <p:cNvSpPr/>
          <p:nvPr/>
        </p:nvSpPr>
        <p:spPr>
          <a:xfrm>
            <a:off x="9144000" y="3794760"/>
            <a:ext cx="502920" cy="5029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0" y="3794760"/>
            <a:ext cx="502920" cy="502920"/>
          </a:xfrm>
          <a:prstGeom prst="rect">
            <a:avLst/>
          </a:prstGeom>
          <a:noFill/>
        </p:spPr>
        <p:txBody>
          <a:bodyPr wrap="square" lIns="36576" rIns="36576" tIns="18288" bIns="18288" anchor="ctr">
            <a:spAutoFit/>
          </a:bodyPr>
          <a:lstStyle/>
          <a:p>
            <a:pPr algn="ctr"/>
            <a:r>
              <a:rPr sz="1600" b="1" i="0">
                <a:solidFill>
                  <a:srgbClr val="FFFFFF"/>
                </a:solidFill>
                <a:latin typeface="Cambria"/>
              </a:rPr>
              <a:t>2</a:t>
            </a:r>
          </a:p>
        </p:txBody>
      </p:sp>
      <p:sp>
        <p:nvSpPr>
          <p:cNvPr id="29" name="TextBox 28"/>
          <p:cNvSpPr txBox="1"/>
          <p:nvPr/>
        </p:nvSpPr>
        <p:spPr>
          <a:xfrm>
            <a:off x="594360" y="5349240"/>
            <a:ext cx="10789920" cy="365760"/>
          </a:xfrm>
          <a:prstGeom prst="rect">
            <a:avLst/>
          </a:prstGeom>
          <a:noFill/>
        </p:spPr>
        <p:txBody>
          <a:bodyPr wrap="square" lIns="36576" rIns="36576" tIns="18288" bIns="18288">
            <a:spAutoFit/>
          </a:bodyPr>
          <a:lstStyle/>
          <a:p>
            <a:pPr algn="l"/>
            <a:r>
              <a:rPr sz="1300" b="1" i="0">
                <a:solidFill>
                  <a:srgbClr val="797371"/>
                </a:solidFill>
                <a:latin typeface="Calibri"/>
              </a:rPr>
              <a:t>Cada criterio se evalúa en tres niveles de logro progresivo:</a:t>
            </a:r>
          </a:p>
        </p:txBody>
      </p:sp>
      <p:sp>
        <p:nvSpPr>
          <p:cNvPr id="30" name="Oval 29"/>
          <p:cNvSpPr/>
          <p:nvPr/>
        </p:nvSpPr>
        <p:spPr>
          <a:xfrm>
            <a:off x="594360" y="5760720"/>
            <a:ext cx="365760" cy="36576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5760720"/>
            <a:ext cx="365760" cy="365760"/>
          </a:xfrm>
          <a:prstGeom prst="rect">
            <a:avLst/>
          </a:prstGeom>
          <a:noFill/>
        </p:spPr>
        <p:txBody>
          <a:bodyPr wrap="square" lIns="36576" rIns="36576" tIns="18288" bIns="18288" anchor="ctr">
            <a:spAutoFit/>
          </a:bodyPr>
          <a:lstStyle/>
          <a:p>
            <a:pPr algn="ctr"/>
            <a:r>
              <a:rPr sz="1100" b="1" i="0">
                <a:solidFill>
                  <a:srgbClr val="491017"/>
                </a:solidFill>
                <a:latin typeface="Cambria"/>
              </a:rPr>
              <a:t>N1</a:t>
            </a:r>
          </a:p>
        </p:txBody>
      </p:sp>
      <p:sp>
        <p:nvSpPr>
          <p:cNvPr id="32" name="TextBox 31"/>
          <p:cNvSpPr txBox="1"/>
          <p:nvPr/>
        </p:nvSpPr>
        <p:spPr>
          <a:xfrm>
            <a:off x="1097280" y="5733288"/>
            <a:ext cx="3154680" cy="457200"/>
          </a:xfrm>
          <a:prstGeom prst="rect">
            <a:avLst/>
          </a:prstGeom>
          <a:noFill/>
        </p:spPr>
        <p:txBody>
          <a:bodyPr wrap="square" lIns="36576" rIns="36576" tIns="18288" bIns="18288">
            <a:spAutoFit/>
          </a:bodyPr>
          <a:lstStyle/>
          <a:p>
            <a:pPr algn="l">
              <a:lnSpc>
                <a:spcPct val="100000"/>
              </a:lnSpc>
            </a:pPr>
            <a:r>
              <a:rPr sz="1150" b="0" i="0">
                <a:solidFill>
                  <a:srgbClr val="2B2B2B"/>
                </a:solidFill>
                <a:latin typeface="Calibri"/>
              </a:rPr>
              <a:t>Existencia y formulación explícita de la política.</a:t>
            </a:r>
          </a:p>
        </p:txBody>
      </p:sp>
      <p:sp>
        <p:nvSpPr>
          <p:cNvPr id="33" name="Oval 32"/>
          <p:cNvSpPr/>
          <p:nvPr/>
        </p:nvSpPr>
        <p:spPr>
          <a:xfrm>
            <a:off x="4434840" y="5760720"/>
            <a:ext cx="365760" cy="36576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4840" y="5760720"/>
            <a:ext cx="365760" cy="365760"/>
          </a:xfrm>
          <a:prstGeom prst="rect">
            <a:avLst/>
          </a:prstGeom>
          <a:noFill/>
        </p:spPr>
        <p:txBody>
          <a:bodyPr wrap="square" lIns="36576" rIns="36576" tIns="18288" bIns="18288" anchor="ctr">
            <a:spAutoFit/>
          </a:bodyPr>
          <a:lstStyle/>
          <a:p>
            <a:pPr algn="ctr"/>
            <a:r>
              <a:rPr sz="1100" b="1" i="0">
                <a:solidFill>
                  <a:srgbClr val="491017"/>
                </a:solidFill>
                <a:latin typeface="Cambria"/>
              </a:rPr>
              <a:t>N2</a:t>
            </a:r>
          </a:p>
        </p:txBody>
      </p:sp>
      <p:sp>
        <p:nvSpPr>
          <p:cNvPr id="35" name="TextBox 34"/>
          <p:cNvSpPr txBox="1"/>
          <p:nvPr/>
        </p:nvSpPr>
        <p:spPr>
          <a:xfrm>
            <a:off x="4937759" y="5733288"/>
            <a:ext cx="3154680" cy="457200"/>
          </a:xfrm>
          <a:prstGeom prst="rect">
            <a:avLst/>
          </a:prstGeom>
          <a:noFill/>
        </p:spPr>
        <p:txBody>
          <a:bodyPr wrap="square" lIns="36576" rIns="36576" tIns="18288" bIns="18288">
            <a:spAutoFit/>
          </a:bodyPr>
          <a:lstStyle/>
          <a:p>
            <a:pPr algn="l">
              <a:lnSpc>
                <a:spcPct val="100000"/>
              </a:lnSpc>
            </a:pPr>
            <a:r>
              <a:rPr sz="1150" b="0" i="0">
                <a:solidFill>
                  <a:srgbClr val="2B2B2B"/>
                </a:solidFill>
                <a:latin typeface="Calibri"/>
              </a:rPr>
              <a:t>Implementación y monitoreo sistemático.</a:t>
            </a:r>
          </a:p>
        </p:txBody>
      </p:sp>
      <p:sp>
        <p:nvSpPr>
          <p:cNvPr id="36" name="Oval 35"/>
          <p:cNvSpPr/>
          <p:nvPr/>
        </p:nvSpPr>
        <p:spPr>
          <a:xfrm>
            <a:off x="8275320" y="5760720"/>
            <a:ext cx="365760" cy="36576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5760720"/>
            <a:ext cx="365760" cy="365760"/>
          </a:xfrm>
          <a:prstGeom prst="rect">
            <a:avLst/>
          </a:prstGeom>
          <a:noFill/>
        </p:spPr>
        <p:txBody>
          <a:bodyPr wrap="square" lIns="36576" rIns="36576" tIns="18288" bIns="18288" anchor="ctr">
            <a:spAutoFit/>
          </a:bodyPr>
          <a:lstStyle/>
          <a:p>
            <a:pPr algn="ctr"/>
            <a:r>
              <a:rPr sz="1100" b="1" i="0">
                <a:solidFill>
                  <a:srgbClr val="491017"/>
                </a:solidFill>
                <a:latin typeface="Cambria"/>
              </a:rPr>
              <a:t>N3</a:t>
            </a:r>
          </a:p>
        </p:txBody>
      </p:sp>
      <p:sp>
        <p:nvSpPr>
          <p:cNvPr id="38" name="TextBox 37"/>
          <p:cNvSpPr txBox="1"/>
          <p:nvPr/>
        </p:nvSpPr>
        <p:spPr>
          <a:xfrm>
            <a:off x="8778240" y="5733288"/>
            <a:ext cx="3154680" cy="457200"/>
          </a:xfrm>
          <a:prstGeom prst="rect">
            <a:avLst/>
          </a:prstGeom>
          <a:noFill/>
        </p:spPr>
        <p:txBody>
          <a:bodyPr wrap="square" lIns="36576" rIns="36576" tIns="18288" bIns="18288">
            <a:spAutoFit/>
          </a:bodyPr>
          <a:lstStyle/>
          <a:p>
            <a:pPr algn="l">
              <a:lnSpc>
                <a:spcPct val="100000"/>
              </a:lnSpc>
            </a:pPr>
            <a:r>
              <a:rPr sz="1150" b="0" i="0">
                <a:solidFill>
                  <a:srgbClr val="2B2B2B"/>
                </a:solidFill>
                <a:latin typeface="Calibri"/>
              </a:rPr>
              <a:t>Resultados, consistencia y mejora continua.</a:t>
            </a:r>
          </a:p>
        </p:txBody>
      </p:sp>
      <p:sp>
        <p:nvSpPr>
          <p:cNvPr id="39" name="TextBox 3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CALENDARIO</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¿Desde cuándo es exigible cada dimensión?</a:t>
            </a:r>
          </a:p>
        </p:txBody>
      </p:sp>
      <p:graphicFrame>
        <p:nvGraphicFramePr>
          <p:cNvPr id="4" name="Table 3"/>
          <p:cNvGraphicFramePr>
            <a:graphicFrameLocks noGrp="1"/>
          </p:cNvGraphicFramePr>
          <p:nvPr/>
        </p:nvGraphicFramePr>
        <p:xfrm>
          <a:off x="594360" y="1554480"/>
          <a:ext cx="10972800" cy="4297680"/>
        </p:xfrm>
        <a:graphic>
          <a:graphicData uri="http://schemas.openxmlformats.org/drawingml/2006/table">
            <a:tbl>
              <a:tblPr firstRow="1">
                <a:tableStyleId>{5C22544A-7EE6-4342-B048-85BDC9FD1C3A}</a:tableStyleId>
              </a:tblPr>
              <a:tblGrid>
                <a:gridCol w="6035040"/>
                <a:gridCol w="4937760"/>
              </a:tblGrid>
              <a:tr h="716280">
                <a:tc>
                  <a:txBody>
                    <a:bodyPr wrap="square"/>
                    <a:lstStyle/>
                    <a:p>
                      <a:r>
                        <a:rPr sz="1300" b="1" i="0">
                          <a:solidFill>
                            <a:srgbClr val="FFFFFF"/>
                          </a:solidFill>
                          <a:latin typeface="Calibri"/>
                        </a:rPr>
                        <a:t>Dimensión</a:t>
                      </a:r>
                    </a:p>
                  </a:txBody>
                  <a:tcPr anchor="ctr">
                    <a:solidFill>
                      <a:srgbClr val="7A1F2B"/>
                    </a:solidFill>
                  </a:tcPr>
                </a:tc>
                <a:tc>
                  <a:txBody>
                    <a:bodyPr wrap="square"/>
                    <a:lstStyle/>
                    <a:p>
                      <a:r>
                        <a:rPr sz="1300" b="1" i="0">
                          <a:solidFill>
                            <a:srgbClr val="FFFFFF"/>
                          </a:solidFill>
                          <a:latin typeface="Calibri"/>
                        </a:rPr>
                        <a:t>Vigencia</a:t>
                      </a:r>
                    </a:p>
                  </a:txBody>
                  <a:tcPr anchor="ctr">
                    <a:solidFill>
                      <a:srgbClr val="7A1F2B"/>
                    </a:solidFill>
                  </a:tcPr>
                </a:tc>
              </a:tr>
              <a:tr h="716280">
                <a:tc>
                  <a:txBody>
                    <a:bodyPr wrap="square"/>
                    <a:lstStyle/>
                    <a:p>
                      <a:r>
                        <a:rPr sz="1300" b="0" i="0">
                          <a:solidFill>
                            <a:srgbClr val="2B2B2B"/>
                          </a:solidFill>
                          <a:latin typeface="Calibri"/>
                        </a:rPr>
                        <a:t>I. Docencia y Resultados del Proceso Formativo</a:t>
                      </a:r>
                    </a:p>
                  </a:txBody>
                  <a:tcPr anchor="ctr">
                    <a:solidFill>
                      <a:srgbClr val="FFFFFF"/>
                    </a:solidFill>
                  </a:tcPr>
                </a:tc>
                <a:tc>
                  <a:txBody>
                    <a:bodyPr wrap="square"/>
                    <a:lstStyle/>
                    <a:p>
                      <a:r>
                        <a:rPr sz="1300" b="0" i="0">
                          <a:solidFill>
                            <a:srgbClr val="2B2B2B"/>
                          </a:solidFill>
                          <a:latin typeface="Calibri"/>
                        </a:rPr>
                        <a:t>Obligatoria desde la entrada en vigencia de los criterios</a:t>
                      </a:r>
                    </a:p>
                  </a:txBody>
                  <a:tcPr anchor="ctr">
                    <a:solidFill>
                      <a:srgbClr val="FFFFFF"/>
                    </a:solidFill>
                  </a:tcPr>
                </a:tc>
              </a:tr>
              <a:tr h="716280">
                <a:tc>
                  <a:txBody>
                    <a:bodyPr wrap="square"/>
                    <a:lstStyle/>
                    <a:p>
                      <a:r>
                        <a:rPr sz="1300" b="0" i="0">
                          <a:solidFill>
                            <a:srgbClr val="2B2B2B"/>
                          </a:solidFill>
                          <a:latin typeface="Calibri"/>
                        </a:rPr>
                        <a:t>II. Gestión Estratégica y Recursos Institucionales</a:t>
                      </a:r>
                    </a:p>
                  </a:txBody>
                  <a:tcPr anchor="ctr">
                    <a:solidFill>
                      <a:srgbClr val="F8F3F2"/>
                    </a:solidFill>
                  </a:tcPr>
                </a:tc>
                <a:tc>
                  <a:txBody>
                    <a:bodyPr wrap="square"/>
                    <a:lstStyle/>
                    <a:p>
                      <a:r>
                        <a:rPr sz="1300" b="0" i="0">
                          <a:solidFill>
                            <a:srgbClr val="2B2B2B"/>
                          </a:solidFill>
                          <a:latin typeface="Calibri"/>
                        </a:rPr>
                        <a:t>Obligatoria desde la entrada en vigencia de los criterios</a:t>
                      </a:r>
                    </a:p>
                  </a:txBody>
                  <a:tcPr anchor="ctr">
                    <a:solidFill>
                      <a:srgbClr val="F8F3F2"/>
                    </a:solidFill>
                  </a:tcPr>
                </a:tc>
              </a:tr>
              <a:tr h="716280">
                <a:tc>
                  <a:txBody>
                    <a:bodyPr wrap="square"/>
                    <a:lstStyle/>
                    <a:p>
                      <a:r>
                        <a:rPr sz="1300" b="0" i="0">
                          <a:solidFill>
                            <a:srgbClr val="2B2B2B"/>
                          </a:solidFill>
                          <a:latin typeface="Calibri"/>
                        </a:rPr>
                        <a:t>III. Aseguramiento Interno de la Calidad</a:t>
                      </a:r>
                    </a:p>
                  </a:txBody>
                  <a:tcPr anchor="ctr">
                    <a:solidFill>
                      <a:srgbClr val="FFFFFF"/>
                    </a:solidFill>
                  </a:tcPr>
                </a:tc>
                <a:tc>
                  <a:txBody>
                    <a:bodyPr wrap="square"/>
                    <a:lstStyle/>
                    <a:p>
                      <a:r>
                        <a:rPr sz="1300" b="0" i="0">
                          <a:solidFill>
                            <a:srgbClr val="2B2B2B"/>
                          </a:solidFill>
                          <a:latin typeface="Calibri"/>
                        </a:rPr>
                        <a:t>Obligatoria desde la entrada en vigencia de los criterios</a:t>
                      </a:r>
                    </a:p>
                  </a:txBody>
                  <a:tcPr anchor="ctr">
                    <a:solidFill>
                      <a:srgbClr val="FFFFFF"/>
                    </a:solidFill>
                  </a:tcPr>
                </a:tc>
              </a:tr>
              <a:tr h="716280">
                <a:tc>
                  <a:txBody>
                    <a:bodyPr wrap="square"/>
                    <a:lstStyle/>
                    <a:p>
                      <a:r>
                        <a:rPr sz="1300" b="0" i="0">
                          <a:solidFill>
                            <a:srgbClr val="2B2B2B"/>
                          </a:solidFill>
                          <a:latin typeface="Calibri"/>
                        </a:rPr>
                        <a:t>IV. Vinculación con el Medio</a:t>
                      </a:r>
                    </a:p>
                  </a:txBody>
                  <a:tcPr anchor="ctr">
                    <a:solidFill>
                      <a:srgbClr val="F8F3F2"/>
                    </a:solidFill>
                  </a:tcPr>
                </a:tc>
                <a:tc>
                  <a:txBody>
                    <a:bodyPr wrap="square"/>
                    <a:lstStyle/>
                    <a:p>
                      <a:r>
                        <a:rPr sz="1300" b="0" i="0">
                          <a:solidFill>
                            <a:srgbClr val="2B2B2B"/>
                          </a:solidFill>
                          <a:latin typeface="Calibri"/>
                        </a:rPr>
                        <a:t>Obligatoria desde el 30 de mayo de 2025</a:t>
                      </a:r>
                    </a:p>
                  </a:txBody>
                  <a:tcPr anchor="ctr">
                    <a:solidFill>
                      <a:srgbClr val="F8F3F2"/>
                    </a:solidFill>
                  </a:tcPr>
                </a:tc>
              </a:tr>
              <a:tr h="716280">
                <a:tc>
                  <a:txBody>
                    <a:bodyPr wrap="square"/>
                    <a:lstStyle/>
                    <a:p>
                      <a:r>
                        <a:rPr sz="1300" b="0" i="0">
                          <a:solidFill>
                            <a:srgbClr val="2B2B2B"/>
                          </a:solidFill>
                          <a:latin typeface="Calibri"/>
                        </a:rPr>
                        <a:t>V. Investigación, Creación y/o Innovación</a:t>
                      </a:r>
                    </a:p>
                  </a:txBody>
                  <a:tcPr anchor="ctr">
                    <a:solidFill>
                      <a:srgbClr val="FFFFFF"/>
                    </a:solidFill>
                  </a:tcPr>
                </a:tc>
                <a:tc>
                  <a:txBody>
                    <a:bodyPr wrap="square"/>
                    <a:lstStyle/>
                    <a:p>
                      <a:r>
                        <a:rPr sz="1300" b="0" i="0">
                          <a:solidFill>
                            <a:srgbClr val="2B2B2B"/>
                          </a:solidFill>
                          <a:latin typeface="Calibri"/>
                        </a:rPr>
                        <a:t>Voluntaria — necesaria solo para excelencia de 7 años</a:t>
                      </a:r>
                    </a:p>
                  </a:txBody>
                  <a:tcPr anchor="ctr">
                    <a:solidFill>
                      <a:srgbClr val="FFFFFF"/>
                    </a:solidFill>
                  </a:tcPr>
                </a:tc>
              </a:tr>
            </a:tbl>
          </a:graphicData>
        </a:graphic>
      </p:graphicFrame>
      <p:sp>
        <p:nvSpPr>
          <p:cNvPr id="5" name="TextBox 4"/>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DIMENSIÓN I · OBLIGATORIA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Docencia y Resultados del Proceso Formativo</a:t>
            </a:r>
          </a:p>
        </p:txBody>
      </p:sp>
      <p:sp>
        <p:nvSpPr>
          <p:cNvPr id="4" name="Rounded Rectangle 3"/>
          <p:cNvSpPr/>
          <p:nvPr/>
        </p:nvSpPr>
        <p:spPr>
          <a:xfrm>
            <a:off x="8869680" y="384048"/>
            <a:ext cx="2743200" cy="384048"/>
          </a:xfrm>
          <a:prstGeom prst="roundRect">
            <a:avLst>
              <a:gd name="adj" fmla="val 50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0" y="384048"/>
            <a:ext cx="2743200" cy="384048"/>
          </a:xfrm>
          <a:prstGeom prst="rect">
            <a:avLst/>
          </a:prstGeom>
          <a:noFill/>
        </p:spPr>
        <p:txBody>
          <a:bodyPr wrap="square" lIns="36576" rIns="36576" tIns="18288" bIns="18288" anchor="ctr">
            <a:spAutoFit/>
          </a:bodyPr>
          <a:lstStyle/>
          <a:p>
            <a:pPr algn="ctr"/>
            <a:r>
              <a:rPr sz="1150" b="1" i="0">
                <a:solidFill>
                  <a:srgbClr val="FFFFFF"/>
                </a:solidFill>
                <a:latin typeface="Calibri"/>
              </a:rPr>
              <a:t>4 CRITERIOS</a:t>
            </a:r>
          </a:p>
        </p:txBody>
      </p:sp>
      <p:sp>
        <p:nvSpPr>
          <p:cNvPr id="6" name="TextBox 5"/>
          <p:cNvSpPr txBox="1"/>
          <p:nvPr/>
        </p:nvSpPr>
        <p:spPr>
          <a:xfrm>
            <a:off x="594360" y="1298448"/>
            <a:ext cx="10972800" cy="777240"/>
          </a:xfrm>
          <a:prstGeom prst="rect">
            <a:avLst/>
          </a:prstGeom>
          <a:noFill/>
        </p:spPr>
        <p:txBody>
          <a:bodyPr wrap="square" lIns="36576" rIns="36576" tIns="18288" bIns="18288">
            <a:spAutoFit/>
          </a:bodyPr>
          <a:lstStyle/>
          <a:p>
            <a:pPr algn="l">
              <a:lnSpc>
                <a:spcPct val="110000"/>
              </a:lnSpc>
            </a:pPr>
            <a:r>
              <a:rPr sz="1300" b="0" i="0">
                <a:solidFill>
                  <a:srgbClr val="797371"/>
                </a:solidFill>
                <a:latin typeface="Calibri"/>
              </a:rPr>
              <a:t>Evalúa la función formativa esencial: asegura la calidad de la formación de las y los estudiantes a través de políticas y mecanismos institucionales acordes al modelo educativo, y de un cuerpo académico dedicado y calificado.</a:t>
            </a:r>
          </a:p>
        </p:txBody>
      </p:sp>
      <p:sp>
        <p:nvSpPr>
          <p:cNvPr id="7" name="Oval 6"/>
          <p:cNvSpPr/>
          <p:nvPr/>
        </p:nvSpPr>
        <p:spPr>
          <a:xfrm>
            <a:off x="685800" y="2377440"/>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1</a:t>
            </a:r>
          </a:p>
        </p:txBody>
      </p:sp>
      <p:sp>
        <p:nvSpPr>
          <p:cNvPr id="9" name="TextBox 8"/>
          <p:cNvSpPr txBox="1"/>
          <p:nvPr/>
        </p:nvSpPr>
        <p:spPr>
          <a:xfrm>
            <a:off x="1325880" y="2414016"/>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Modelo educativo y diseño curricular</a:t>
            </a:r>
          </a:p>
        </p:txBody>
      </p:sp>
      <p:sp>
        <p:nvSpPr>
          <p:cNvPr id="10" name="Oval 9"/>
          <p:cNvSpPr/>
          <p:nvPr/>
        </p:nvSpPr>
        <p:spPr>
          <a:xfrm>
            <a:off x="685800" y="3218688"/>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218688"/>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2</a:t>
            </a:r>
          </a:p>
        </p:txBody>
      </p:sp>
      <p:sp>
        <p:nvSpPr>
          <p:cNvPr id="12" name="TextBox 11"/>
          <p:cNvSpPr txBox="1"/>
          <p:nvPr/>
        </p:nvSpPr>
        <p:spPr>
          <a:xfrm>
            <a:off x="1325880" y="3255264"/>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Procesos y resultados de enseñanza y aprendizaje</a:t>
            </a:r>
          </a:p>
        </p:txBody>
      </p:sp>
      <p:sp>
        <p:nvSpPr>
          <p:cNvPr id="13" name="Oval 12"/>
          <p:cNvSpPr/>
          <p:nvPr/>
        </p:nvSpPr>
        <p:spPr>
          <a:xfrm>
            <a:off x="685800" y="4059936"/>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59936"/>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3</a:t>
            </a:r>
          </a:p>
        </p:txBody>
      </p:sp>
      <p:sp>
        <p:nvSpPr>
          <p:cNvPr id="15" name="TextBox 14"/>
          <p:cNvSpPr txBox="1"/>
          <p:nvPr/>
        </p:nvSpPr>
        <p:spPr>
          <a:xfrm>
            <a:off x="1325880" y="4096512"/>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Cuerpo académico</a:t>
            </a:r>
          </a:p>
        </p:txBody>
      </p:sp>
      <p:sp>
        <p:nvSpPr>
          <p:cNvPr id="16" name="Oval 15"/>
          <p:cNvSpPr/>
          <p:nvPr/>
        </p:nvSpPr>
        <p:spPr>
          <a:xfrm>
            <a:off x="685800" y="4901184"/>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901184"/>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4</a:t>
            </a:r>
          </a:p>
        </p:txBody>
      </p:sp>
      <p:sp>
        <p:nvSpPr>
          <p:cNvPr id="18" name="TextBox 17"/>
          <p:cNvSpPr txBox="1"/>
          <p:nvPr/>
        </p:nvSpPr>
        <p:spPr>
          <a:xfrm>
            <a:off x="1325880" y="4937760"/>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Investigación, innovación docente y mejora del proceso formativo</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CRITERIO 1 · DIMENSIÓN I</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Modelo educativo y diseño curricular</a:t>
            </a:r>
          </a:p>
        </p:txBody>
      </p:sp>
      <p:sp>
        <p:nvSpPr>
          <p:cNvPr id="4" name="TextBox 3"/>
          <p:cNvSpPr txBox="1"/>
          <p:nvPr/>
        </p:nvSpPr>
        <p:spPr>
          <a:xfrm>
            <a:off x="594360" y="1298448"/>
            <a:ext cx="10972800" cy="640080"/>
          </a:xfrm>
          <a:prstGeom prst="rect">
            <a:avLst/>
          </a:prstGeom>
          <a:noFill/>
        </p:spPr>
        <p:txBody>
          <a:bodyPr wrap="square" lIns="36576" rIns="36576" tIns="18288" bIns="18288">
            <a:spAutoFit/>
          </a:bodyPr>
          <a:lstStyle/>
          <a:p>
            <a:pPr algn="l">
              <a:lnSpc>
                <a:spcPct val="115000"/>
              </a:lnSpc>
            </a:pPr>
            <a:r>
              <a:rPr sz="1300" b="0" i="0">
                <a:solidFill>
                  <a:srgbClr val="797371"/>
                </a:solidFill>
                <a:latin typeface="Calibri"/>
              </a:rPr>
              <a:t>La formulación del modelo educativo define las características y objetivos de los programas; el diseño curricular guía su implementación y actualización.</a:t>
            </a:r>
          </a:p>
        </p:txBody>
      </p:sp>
      <p:sp>
        <p:nvSpPr>
          <p:cNvPr id="5" name="Rounded Rectangle 4"/>
          <p:cNvSpPr/>
          <p:nvPr/>
        </p:nvSpPr>
        <p:spPr>
          <a:xfrm>
            <a:off x="594360" y="2148840"/>
            <a:ext cx="3520440" cy="3703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98548" y="2331720"/>
            <a:ext cx="512064" cy="512064"/>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98548" y="2331720"/>
            <a:ext cx="512064" cy="512064"/>
          </a:xfrm>
          <a:prstGeom prst="rect">
            <a:avLst/>
          </a:prstGeom>
          <a:noFill/>
        </p:spPr>
        <p:txBody>
          <a:bodyPr wrap="square" lIns="36576" rIns="36576" tIns="18288" bIns="18288" anchor="ctr">
            <a:spAutoFit/>
          </a:bodyPr>
          <a:lstStyle/>
          <a:p>
            <a:pPr algn="ctr"/>
            <a:r>
              <a:rPr sz="1400" b="1" i="0">
                <a:solidFill>
                  <a:srgbClr val="491017"/>
                </a:solidFill>
                <a:latin typeface="Cambria"/>
              </a:rPr>
              <a:t>N1</a:t>
            </a:r>
          </a:p>
        </p:txBody>
      </p:sp>
      <p:sp>
        <p:nvSpPr>
          <p:cNvPr id="8" name="TextBox 7"/>
          <p:cNvSpPr txBox="1"/>
          <p:nvPr/>
        </p:nvSpPr>
        <p:spPr>
          <a:xfrm>
            <a:off x="594360" y="3017520"/>
            <a:ext cx="3520440" cy="292608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
            </a:r>
          </a:p>
        </p:txBody>
      </p:sp>
      <p:sp>
        <p:nvSpPr>
          <p:cNvPr id="9" name="TextBox 8"/>
          <p:cNvSpPr txBox="1"/>
          <p:nvPr/>
        </p:nvSpPr>
        <p:spPr>
          <a:xfrm>
            <a:off x="868680" y="3063240"/>
            <a:ext cx="2971800" cy="2697480"/>
          </a:xfrm>
          <a:prstGeom prst="rect">
            <a:avLst/>
          </a:prstGeom>
          <a:noFill/>
        </p:spPr>
        <p:txBody>
          <a:bodyPr wrap="square" lIns="36576" rIns="36576" tIns="18288" bIns="18288">
            <a:spAutoFit/>
          </a:bodyPr>
          <a:lstStyle/>
          <a:p>
            <a:pPr algn="l">
              <a:lnSpc>
                <a:spcPct val="115000"/>
              </a:lnSpc>
            </a:pPr>
            <a:r>
              <a:rPr sz="1200" b="0" i="0">
                <a:solidFill>
                  <a:srgbClr val="2B2B2B"/>
                </a:solidFill>
                <a:latin typeface="Calibri"/>
              </a:rPr>
              <a:t>El modelo educativo está explícitamente formulado y es coherente con el proyecto institucional. El diseño curricular considera el perfil de ingreso y la oferta académica responde al proyecto institucional.</a:t>
            </a:r>
          </a:p>
        </p:txBody>
      </p:sp>
      <p:sp>
        <p:nvSpPr>
          <p:cNvPr id="10" name="Rounded Rectangle 9"/>
          <p:cNvSpPr/>
          <p:nvPr/>
        </p:nvSpPr>
        <p:spPr>
          <a:xfrm>
            <a:off x="4434840" y="2148840"/>
            <a:ext cx="3520440" cy="3703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939027" y="2331720"/>
            <a:ext cx="512064" cy="512064"/>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39027" y="2331720"/>
            <a:ext cx="512064" cy="512064"/>
          </a:xfrm>
          <a:prstGeom prst="rect">
            <a:avLst/>
          </a:prstGeom>
          <a:noFill/>
        </p:spPr>
        <p:txBody>
          <a:bodyPr wrap="square" lIns="36576" rIns="36576" tIns="18288" bIns="18288" anchor="ctr">
            <a:spAutoFit/>
          </a:bodyPr>
          <a:lstStyle/>
          <a:p>
            <a:pPr algn="ctr"/>
            <a:r>
              <a:rPr sz="1400" b="1" i="0">
                <a:solidFill>
                  <a:srgbClr val="491017"/>
                </a:solidFill>
                <a:latin typeface="Cambria"/>
              </a:rPr>
              <a:t>N2</a:t>
            </a:r>
          </a:p>
        </p:txBody>
      </p:sp>
      <p:sp>
        <p:nvSpPr>
          <p:cNvPr id="13" name="TextBox 12"/>
          <p:cNvSpPr txBox="1"/>
          <p:nvPr/>
        </p:nvSpPr>
        <p:spPr>
          <a:xfrm>
            <a:off x="4434840" y="3017520"/>
            <a:ext cx="3520440" cy="292608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
            </a:r>
          </a:p>
        </p:txBody>
      </p:sp>
      <p:sp>
        <p:nvSpPr>
          <p:cNvPr id="14" name="TextBox 13"/>
          <p:cNvSpPr txBox="1"/>
          <p:nvPr/>
        </p:nvSpPr>
        <p:spPr>
          <a:xfrm>
            <a:off x="4709159" y="3063240"/>
            <a:ext cx="2971800" cy="2697480"/>
          </a:xfrm>
          <a:prstGeom prst="rect">
            <a:avLst/>
          </a:prstGeom>
          <a:noFill/>
        </p:spPr>
        <p:txBody>
          <a:bodyPr wrap="square" lIns="36576" rIns="36576" tIns="18288" bIns="18288">
            <a:spAutoFit/>
          </a:bodyPr>
          <a:lstStyle/>
          <a:p>
            <a:pPr algn="l">
              <a:lnSpc>
                <a:spcPct val="115000"/>
              </a:lnSpc>
            </a:pPr>
            <a:r>
              <a:rPr sz="1200" b="0" i="0">
                <a:solidFill>
                  <a:srgbClr val="2B2B2B"/>
                </a:solidFill>
                <a:latin typeface="Calibri"/>
              </a:rPr>
              <a:t>La implementación del modelo educativo se monitorea sistemáticamente. Se revisa y actualiza en concordancia con las necesidades y los resultados obtenidos por las y los estudiantes.</a:t>
            </a:r>
          </a:p>
        </p:txBody>
      </p:sp>
      <p:sp>
        <p:nvSpPr>
          <p:cNvPr id="15" name="Rounded Rectangle 14"/>
          <p:cNvSpPr/>
          <p:nvPr/>
        </p:nvSpPr>
        <p:spPr>
          <a:xfrm>
            <a:off x="8275320" y="2148840"/>
            <a:ext cx="3520440" cy="3703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779508" y="2331720"/>
            <a:ext cx="512064" cy="512064"/>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79508" y="2331720"/>
            <a:ext cx="512064" cy="512064"/>
          </a:xfrm>
          <a:prstGeom prst="rect">
            <a:avLst/>
          </a:prstGeom>
          <a:noFill/>
        </p:spPr>
        <p:txBody>
          <a:bodyPr wrap="square" lIns="36576" rIns="36576" tIns="18288" bIns="18288" anchor="ctr">
            <a:spAutoFit/>
          </a:bodyPr>
          <a:lstStyle/>
          <a:p>
            <a:pPr algn="ctr"/>
            <a:r>
              <a:rPr sz="1400" b="1" i="0">
                <a:solidFill>
                  <a:srgbClr val="491017"/>
                </a:solidFill>
                <a:latin typeface="Cambria"/>
              </a:rPr>
              <a:t>N3</a:t>
            </a:r>
          </a:p>
        </p:txBody>
      </p:sp>
      <p:sp>
        <p:nvSpPr>
          <p:cNvPr id="18" name="TextBox 17"/>
          <p:cNvSpPr txBox="1"/>
          <p:nvPr/>
        </p:nvSpPr>
        <p:spPr>
          <a:xfrm>
            <a:off x="8275320" y="3017520"/>
            <a:ext cx="3520440" cy="292608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
            </a:r>
          </a:p>
        </p:txBody>
      </p:sp>
      <p:sp>
        <p:nvSpPr>
          <p:cNvPr id="19" name="TextBox 18"/>
          <p:cNvSpPr txBox="1"/>
          <p:nvPr/>
        </p:nvSpPr>
        <p:spPr>
          <a:xfrm>
            <a:off x="8549640" y="3063240"/>
            <a:ext cx="2971800" cy="2697480"/>
          </a:xfrm>
          <a:prstGeom prst="rect">
            <a:avLst/>
          </a:prstGeom>
          <a:noFill/>
        </p:spPr>
        <p:txBody>
          <a:bodyPr wrap="square" lIns="36576" rIns="36576" tIns="18288" bIns="18288">
            <a:spAutoFit/>
          </a:bodyPr>
          <a:lstStyle/>
          <a:p>
            <a:pPr algn="l">
              <a:lnSpc>
                <a:spcPct val="115000"/>
              </a:lnSpc>
            </a:pPr>
            <a:r>
              <a:rPr sz="1200" b="0" i="0">
                <a:solidFill>
                  <a:srgbClr val="2B2B2B"/>
                </a:solidFill>
                <a:latin typeface="Calibri"/>
              </a:rPr>
              <a:t>El diseño curricular se ajusta y actualiza en base al modelo educativo y al logro del perfil de egreso, considerando el medio laboral y la retroalimentación de titulados y graduados.</a:t>
            </a:r>
          </a:p>
        </p:txBody>
      </p:sp>
      <p:sp>
        <p:nvSpPr>
          <p:cNvPr id="20" name="TextBox 19"/>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DIMENSIÓN I · CONTINUACIÓN</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Criterios 2, 3 y 4</a:t>
            </a:r>
          </a:p>
        </p:txBody>
      </p:sp>
      <p:sp>
        <p:nvSpPr>
          <p:cNvPr id="4" name="Rounded Rectangle 3"/>
          <p:cNvSpPr/>
          <p:nvPr/>
        </p:nvSpPr>
        <p:spPr>
          <a:xfrm>
            <a:off x="594360" y="1600200"/>
            <a:ext cx="352044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58952" y="1764792"/>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64792"/>
            <a:ext cx="457200" cy="457200"/>
          </a:xfrm>
          <a:prstGeom prst="rect">
            <a:avLst/>
          </a:prstGeom>
          <a:noFill/>
        </p:spPr>
        <p:txBody>
          <a:bodyPr wrap="square" lIns="36576" rIns="36576" tIns="18288" bIns="18288" anchor="ctr">
            <a:spAutoFit/>
          </a:bodyPr>
          <a:lstStyle/>
          <a:p>
            <a:pPr algn="ctr"/>
            <a:r>
              <a:rPr sz="1500" b="1" i="0">
                <a:solidFill>
                  <a:srgbClr val="FFFFFF"/>
                </a:solidFill>
                <a:latin typeface="Cambria"/>
              </a:rPr>
              <a:t>2</a:t>
            </a:r>
          </a:p>
        </p:txBody>
      </p:sp>
      <p:sp>
        <p:nvSpPr>
          <p:cNvPr id="7" name="TextBox 6"/>
          <p:cNvSpPr txBox="1"/>
          <p:nvPr/>
        </p:nvSpPr>
        <p:spPr>
          <a:xfrm>
            <a:off x="1371600" y="1746504"/>
            <a:ext cx="2560320" cy="960120"/>
          </a:xfrm>
          <a:prstGeom prst="rect">
            <a:avLst/>
          </a:prstGeom>
          <a:noFill/>
        </p:spPr>
        <p:txBody>
          <a:bodyPr wrap="square" lIns="36576" rIns="36576" tIns="18288" bIns="18288">
            <a:spAutoFit/>
          </a:bodyPr>
          <a:lstStyle/>
          <a:p>
            <a:pPr algn="l">
              <a:lnSpc>
                <a:spcPct val="105000"/>
              </a:lnSpc>
            </a:pPr>
            <a:r>
              <a:rPr sz="1350" b="1" i="0">
                <a:solidFill>
                  <a:srgbClr val="7A1F2B"/>
                </a:solidFill>
                <a:latin typeface="Cambria"/>
              </a:rPr>
              <a:t>Procesos y resultados de enseñanza y aprendizaje</a:t>
            </a:r>
          </a:p>
        </p:txBody>
      </p:sp>
      <p:sp>
        <p:nvSpPr>
          <p:cNvPr id="8" name="TextBox 7"/>
          <p:cNvSpPr txBox="1"/>
          <p:nvPr/>
        </p:nvSpPr>
        <p:spPr>
          <a:xfrm>
            <a:off x="868680" y="2834640"/>
            <a:ext cx="2971800" cy="2743200"/>
          </a:xfrm>
          <a:prstGeom prst="rect">
            <a:avLst/>
          </a:prstGeom>
          <a:noFill/>
        </p:spPr>
        <p:txBody>
          <a:bodyPr wrap="square" lIns="36576" rIns="36576" tIns="18288" bIns="18288">
            <a:spAutoFit/>
          </a:bodyPr>
          <a:lstStyle/>
          <a:p>
            <a:pPr algn="l">
              <a:lnSpc>
                <a:spcPct val="108000"/>
              </a:lnSpc>
            </a:pPr>
            <a:r>
              <a:rPr sz="1200" b="0" i="0">
                <a:solidFill>
                  <a:srgbClr val="2B2B2B"/>
                </a:solidFill>
                <a:latin typeface="Calibri"/>
              </a:rPr>
              <a:t>El diseño e implementación de los procesos formativos provee las condiciones para que cada estudiante logre el perfil de egreso, con apoyo a la progresión y al bienestar estudiantil.</a:t>
            </a:r>
          </a:p>
        </p:txBody>
      </p:sp>
      <p:sp>
        <p:nvSpPr>
          <p:cNvPr id="9" name="Rounded Rectangle 8"/>
          <p:cNvSpPr/>
          <p:nvPr/>
        </p:nvSpPr>
        <p:spPr>
          <a:xfrm>
            <a:off x="4434840" y="1600200"/>
            <a:ext cx="352044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9431" y="1764792"/>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1" y="1764792"/>
            <a:ext cx="457200" cy="457200"/>
          </a:xfrm>
          <a:prstGeom prst="rect">
            <a:avLst/>
          </a:prstGeom>
          <a:noFill/>
        </p:spPr>
        <p:txBody>
          <a:bodyPr wrap="square" lIns="36576" rIns="36576" tIns="18288" bIns="18288" anchor="ctr">
            <a:spAutoFit/>
          </a:bodyPr>
          <a:lstStyle/>
          <a:p>
            <a:pPr algn="ctr"/>
            <a:r>
              <a:rPr sz="1500" b="1" i="0">
                <a:solidFill>
                  <a:srgbClr val="FFFFFF"/>
                </a:solidFill>
                <a:latin typeface="Cambria"/>
              </a:rPr>
              <a:t>3</a:t>
            </a:r>
          </a:p>
        </p:txBody>
      </p:sp>
      <p:sp>
        <p:nvSpPr>
          <p:cNvPr id="12" name="TextBox 11"/>
          <p:cNvSpPr txBox="1"/>
          <p:nvPr/>
        </p:nvSpPr>
        <p:spPr>
          <a:xfrm>
            <a:off x="5212079" y="1746504"/>
            <a:ext cx="2560320" cy="960120"/>
          </a:xfrm>
          <a:prstGeom prst="rect">
            <a:avLst/>
          </a:prstGeom>
          <a:noFill/>
        </p:spPr>
        <p:txBody>
          <a:bodyPr wrap="square" lIns="36576" rIns="36576" tIns="18288" bIns="18288">
            <a:spAutoFit/>
          </a:bodyPr>
          <a:lstStyle/>
          <a:p>
            <a:pPr algn="l">
              <a:lnSpc>
                <a:spcPct val="105000"/>
              </a:lnSpc>
            </a:pPr>
            <a:r>
              <a:rPr sz="1350" b="1" i="0">
                <a:solidFill>
                  <a:srgbClr val="7A1F2B"/>
                </a:solidFill>
                <a:latin typeface="Cambria"/>
              </a:rPr>
              <a:t>Cuerpo académico</a:t>
            </a:r>
          </a:p>
        </p:txBody>
      </p:sp>
      <p:sp>
        <p:nvSpPr>
          <p:cNvPr id="13" name="TextBox 12"/>
          <p:cNvSpPr txBox="1"/>
          <p:nvPr/>
        </p:nvSpPr>
        <p:spPr>
          <a:xfrm>
            <a:off x="4709159" y="2834640"/>
            <a:ext cx="2971800" cy="2743200"/>
          </a:xfrm>
          <a:prstGeom prst="rect">
            <a:avLst/>
          </a:prstGeom>
          <a:noFill/>
        </p:spPr>
        <p:txBody>
          <a:bodyPr wrap="square" lIns="36576" rIns="36576" tIns="18288" bIns="18288">
            <a:spAutoFit/>
          </a:bodyPr>
          <a:lstStyle/>
          <a:p>
            <a:pPr algn="l">
              <a:lnSpc>
                <a:spcPct val="108000"/>
              </a:lnSpc>
            </a:pPr>
            <a:r>
              <a:rPr sz="1200" b="0" i="0">
                <a:solidFill>
                  <a:srgbClr val="2B2B2B"/>
                </a:solidFill>
                <a:latin typeface="Calibri"/>
              </a:rPr>
              <a:t>El cuerpo académico cuenta con la dedicación y las credenciales académicas y profesionales necesarias para sostener el proceso de enseñanza y aprendizaje en toda la oferta formativa.</a:t>
            </a:r>
          </a:p>
        </p:txBody>
      </p:sp>
      <p:sp>
        <p:nvSpPr>
          <p:cNvPr id="14" name="Rounded Rectangle 13"/>
          <p:cNvSpPr/>
          <p:nvPr/>
        </p:nvSpPr>
        <p:spPr>
          <a:xfrm>
            <a:off x="8275320" y="1600200"/>
            <a:ext cx="352044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39912" y="1764792"/>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2" y="1764792"/>
            <a:ext cx="457200" cy="457200"/>
          </a:xfrm>
          <a:prstGeom prst="rect">
            <a:avLst/>
          </a:prstGeom>
          <a:noFill/>
        </p:spPr>
        <p:txBody>
          <a:bodyPr wrap="square" lIns="36576" rIns="36576" tIns="18288" bIns="18288" anchor="ctr">
            <a:spAutoFit/>
          </a:bodyPr>
          <a:lstStyle/>
          <a:p>
            <a:pPr algn="ctr"/>
            <a:r>
              <a:rPr sz="1500" b="1" i="0">
                <a:solidFill>
                  <a:srgbClr val="FFFFFF"/>
                </a:solidFill>
                <a:latin typeface="Cambria"/>
              </a:rPr>
              <a:t>4</a:t>
            </a:r>
          </a:p>
        </p:txBody>
      </p:sp>
      <p:sp>
        <p:nvSpPr>
          <p:cNvPr id="17" name="TextBox 16"/>
          <p:cNvSpPr txBox="1"/>
          <p:nvPr/>
        </p:nvSpPr>
        <p:spPr>
          <a:xfrm>
            <a:off x="9052560" y="1746504"/>
            <a:ext cx="2560320" cy="960120"/>
          </a:xfrm>
          <a:prstGeom prst="rect">
            <a:avLst/>
          </a:prstGeom>
          <a:noFill/>
        </p:spPr>
        <p:txBody>
          <a:bodyPr wrap="square" lIns="36576" rIns="36576" tIns="18288" bIns="18288">
            <a:spAutoFit/>
          </a:bodyPr>
          <a:lstStyle/>
          <a:p>
            <a:pPr algn="l">
              <a:lnSpc>
                <a:spcPct val="105000"/>
              </a:lnSpc>
            </a:pPr>
            <a:r>
              <a:rPr sz="1350" b="1" i="0">
                <a:solidFill>
                  <a:srgbClr val="7A1F2B"/>
                </a:solidFill>
                <a:latin typeface="Cambria"/>
              </a:rPr>
              <a:t>Investigación, innovación docente y mejora del proceso formativo</a:t>
            </a:r>
          </a:p>
        </p:txBody>
      </p:sp>
      <p:sp>
        <p:nvSpPr>
          <p:cNvPr id="18" name="TextBox 17"/>
          <p:cNvSpPr txBox="1"/>
          <p:nvPr/>
        </p:nvSpPr>
        <p:spPr>
          <a:xfrm>
            <a:off x="8549640" y="2834640"/>
            <a:ext cx="2971800" cy="2743200"/>
          </a:xfrm>
          <a:prstGeom prst="rect">
            <a:avLst/>
          </a:prstGeom>
          <a:noFill/>
        </p:spPr>
        <p:txBody>
          <a:bodyPr wrap="square" lIns="36576" rIns="36576" tIns="18288" bIns="18288">
            <a:spAutoFit/>
          </a:bodyPr>
          <a:lstStyle/>
          <a:p>
            <a:pPr algn="l">
              <a:lnSpc>
                <a:spcPct val="108000"/>
              </a:lnSpc>
            </a:pPr>
            <a:r>
              <a:rPr sz="1200" b="0" i="0">
                <a:solidFill>
                  <a:srgbClr val="2B2B2B"/>
                </a:solidFill>
                <a:latin typeface="Calibri"/>
              </a:rPr>
              <a:t>La universidad investiga e innova sobre su propia experiencia docente, generando mejoras en lo disciplinar y lo pedagógico, de acuerdo con su proyecto institucional.</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DIMENSIÓN II · OBLIGATORIA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Gestión Estratégica y Recursos Institucionales</a:t>
            </a:r>
          </a:p>
        </p:txBody>
      </p:sp>
      <p:sp>
        <p:nvSpPr>
          <p:cNvPr id="4" name="Rounded Rectangle 3"/>
          <p:cNvSpPr/>
          <p:nvPr/>
        </p:nvSpPr>
        <p:spPr>
          <a:xfrm>
            <a:off x="8869680" y="384048"/>
            <a:ext cx="2743200" cy="384048"/>
          </a:xfrm>
          <a:prstGeom prst="roundRect">
            <a:avLst>
              <a:gd name="adj" fmla="val 50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0" y="384048"/>
            <a:ext cx="2743200" cy="384048"/>
          </a:xfrm>
          <a:prstGeom prst="rect">
            <a:avLst/>
          </a:prstGeom>
          <a:noFill/>
        </p:spPr>
        <p:txBody>
          <a:bodyPr wrap="square" lIns="36576" rIns="36576" tIns="18288" bIns="18288" anchor="ctr">
            <a:spAutoFit/>
          </a:bodyPr>
          <a:lstStyle/>
          <a:p>
            <a:pPr algn="ctr"/>
            <a:r>
              <a:rPr sz="1150" b="1" i="0">
                <a:solidFill>
                  <a:srgbClr val="FFFFFF"/>
                </a:solidFill>
                <a:latin typeface="Calibri"/>
              </a:rPr>
              <a:t>4 CRITERIOS</a:t>
            </a:r>
          </a:p>
        </p:txBody>
      </p:sp>
      <p:sp>
        <p:nvSpPr>
          <p:cNvPr id="6" name="TextBox 5"/>
          <p:cNvSpPr txBox="1"/>
          <p:nvPr/>
        </p:nvSpPr>
        <p:spPr>
          <a:xfrm>
            <a:off x="594360" y="1298448"/>
            <a:ext cx="10972800" cy="777240"/>
          </a:xfrm>
          <a:prstGeom prst="rect">
            <a:avLst/>
          </a:prstGeom>
          <a:noFill/>
        </p:spPr>
        <p:txBody>
          <a:bodyPr wrap="square" lIns="36576" rIns="36576" tIns="18288" bIns="18288">
            <a:spAutoFit/>
          </a:bodyPr>
          <a:lstStyle/>
          <a:p>
            <a:pPr algn="l">
              <a:lnSpc>
                <a:spcPct val="110000"/>
              </a:lnSpc>
            </a:pPr>
            <a:r>
              <a:rPr sz="1300" b="0" i="0">
                <a:solidFill>
                  <a:srgbClr val="797371"/>
                </a:solidFill>
                <a:latin typeface="Calibri"/>
              </a:rPr>
              <a:t>La universidad cuenta con objetivos estratégicos, políticas de desarrollo y una estructura organizacional definidos y funcionales, coherentes con su misión, visión y propósitos, con instancias de toma de decisiones adecuadas.</a:t>
            </a:r>
          </a:p>
        </p:txBody>
      </p:sp>
      <p:sp>
        <p:nvSpPr>
          <p:cNvPr id="7" name="Oval 6"/>
          <p:cNvSpPr/>
          <p:nvPr/>
        </p:nvSpPr>
        <p:spPr>
          <a:xfrm>
            <a:off x="685800" y="2377440"/>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5</a:t>
            </a:r>
          </a:p>
        </p:txBody>
      </p:sp>
      <p:sp>
        <p:nvSpPr>
          <p:cNvPr id="9" name="TextBox 8"/>
          <p:cNvSpPr txBox="1"/>
          <p:nvPr/>
        </p:nvSpPr>
        <p:spPr>
          <a:xfrm>
            <a:off x="1325880" y="2414016"/>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Gobierno y estructura organizacional</a:t>
            </a:r>
          </a:p>
        </p:txBody>
      </p:sp>
      <p:sp>
        <p:nvSpPr>
          <p:cNvPr id="10" name="Oval 9"/>
          <p:cNvSpPr/>
          <p:nvPr/>
        </p:nvSpPr>
        <p:spPr>
          <a:xfrm>
            <a:off x="685800" y="3218688"/>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218688"/>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6</a:t>
            </a:r>
          </a:p>
        </p:txBody>
      </p:sp>
      <p:sp>
        <p:nvSpPr>
          <p:cNvPr id="12" name="TextBox 11"/>
          <p:cNvSpPr txBox="1"/>
          <p:nvPr/>
        </p:nvSpPr>
        <p:spPr>
          <a:xfrm>
            <a:off x="1325880" y="3255264"/>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Gestión y desarrollo de personas</a:t>
            </a:r>
          </a:p>
        </p:txBody>
      </p:sp>
      <p:sp>
        <p:nvSpPr>
          <p:cNvPr id="13" name="Oval 12"/>
          <p:cNvSpPr/>
          <p:nvPr/>
        </p:nvSpPr>
        <p:spPr>
          <a:xfrm>
            <a:off x="685800" y="4059936"/>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59936"/>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7</a:t>
            </a:r>
          </a:p>
        </p:txBody>
      </p:sp>
      <p:sp>
        <p:nvSpPr>
          <p:cNvPr id="15" name="TextBox 14"/>
          <p:cNvSpPr txBox="1"/>
          <p:nvPr/>
        </p:nvSpPr>
        <p:spPr>
          <a:xfrm>
            <a:off x="1325880" y="4096512"/>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Gestión de la convivencia, equidad de género, diversidad e inclusión</a:t>
            </a:r>
          </a:p>
        </p:txBody>
      </p:sp>
      <p:sp>
        <p:nvSpPr>
          <p:cNvPr id="16" name="Oval 15"/>
          <p:cNvSpPr/>
          <p:nvPr/>
        </p:nvSpPr>
        <p:spPr>
          <a:xfrm>
            <a:off x="685800" y="4901184"/>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901184"/>
            <a:ext cx="457200" cy="457200"/>
          </a:xfrm>
          <a:prstGeom prst="rect">
            <a:avLst/>
          </a:prstGeom>
          <a:noFill/>
        </p:spPr>
        <p:txBody>
          <a:bodyPr wrap="square" lIns="36576" rIns="36576" tIns="18288" bIns="18288" anchor="ctr">
            <a:spAutoFit/>
          </a:bodyPr>
          <a:lstStyle/>
          <a:p>
            <a:pPr algn="ctr"/>
            <a:r>
              <a:rPr sz="1400" b="1" i="0">
                <a:solidFill>
                  <a:srgbClr val="FFFFFF"/>
                </a:solidFill>
                <a:latin typeface="Cambria"/>
              </a:rPr>
              <a:t>8</a:t>
            </a:r>
          </a:p>
        </p:txBody>
      </p:sp>
      <p:sp>
        <p:nvSpPr>
          <p:cNvPr id="18" name="TextBox 17"/>
          <p:cNvSpPr txBox="1"/>
          <p:nvPr/>
        </p:nvSpPr>
        <p:spPr>
          <a:xfrm>
            <a:off x="1325880" y="4937760"/>
            <a:ext cx="9875520" cy="548640"/>
          </a:xfrm>
          <a:prstGeom prst="rect">
            <a:avLst/>
          </a:prstGeom>
          <a:noFill/>
        </p:spPr>
        <p:txBody>
          <a:bodyPr wrap="square" lIns="36576" rIns="36576" tIns="18288" bIns="18288" anchor="ctr">
            <a:spAutoFit/>
          </a:bodyPr>
          <a:lstStyle/>
          <a:p>
            <a:pPr algn="l"/>
            <a:r>
              <a:rPr sz="1500" b="0" i="0">
                <a:solidFill>
                  <a:srgbClr val="2B2B2B"/>
                </a:solidFill>
                <a:latin typeface="Calibri"/>
              </a:rPr>
              <a:t>Gestión de recursos</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CRITERIO 5 · DIMENSIÓN II</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Gobierno y estructura organizacional</a:t>
            </a:r>
          </a:p>
        </p:txBody>
      </p:sp>
      <p:sp>
        <p:nvSpPr>
          <p:cNvPr id="4" name="TextBox 3"/>
          <p:cNvSpPr txBox="1"/>
          <p:nvPr/>
        </p:nvSpPr>
        <p:spPr>
          <a:xfrm>
            <a:off x="594360" y="1298448"/>
            <a:ext cx="10972800" cy="640080"/>
          </a:xfrm>
          <a:prstGeom prst="rect">
            <a:avLst/>
          </a:prstGeom>
          <a:noFill/>
        </p:spPr>
        <p:txBody>
          <a:bodyPr wrap="square" lIns="36576" rIns="36576" tIns="18288" bIns="18288">
            <a:spAutoFit/>
          </a:bodyPr>
          <a:lstStyle/>
          <a:p>
            <a:pPr algn="l">
              <a:lnSpc>
                <a:spcPct val="115000"/>
              </a:lnSpc>
            </a:pPr>
            <a:r>
              <a:rPr sz="1300" b="0" i="0">
                <a:solidFill>
                  <a:srgbClr val="797371"/>
                </a:solidFill>
                <a:latin typeface="Calibri"/>
              </a:rPr>
              <a:t>La universidad cuenta con un sistema de gobierno y una estructura organizacional que permiten gestionar todas las funciones institucionales, enmarcadas en un plan de desarrollo institucional.</a:t>
            </a:r>
          </a:p>
        </p:txBody>
      </p:sp>
      <p:sp>
        <p:nvSpPr>
          <p:cNvPr id="5" name="Rounded Rectangle 4"/>
          <p:cNvSpPr/>
          <p:nvPr/>
        </p:nvSpPr>
        <p:spPr>
          <a:xfrm>
            <a:off x="594360" y="2148840"/>
            <a:ext cx="3520440" cy="3703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98548" y="2331720"/>
            <a:ext cx="512064" cy="512064"/>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98548" y="2331720"/>
            <a:ext cx="512064" cy="512064"/>
          </a:xfrm>
          <a:prstGeom prst="rect">
            <a:avLst/>
          </a:prstGeom>
          <a:noFill/>
        </p:spPr>
        <p:txBody>
          <a:bodyPr wrap="square" lIns="36576" rIns="36576" tIns="18288" bIns="18288" anchor="ctr">
            <a:spAutoFit/>
          </a:bodyPr>
          <a:lstStyle/>
          <a:p>
            <a:pPr algn="ctr"/>
            <a:r>
              <a:rPr sz="1400" b="1" i="0">
                <a:solidFill>
                  <a:srgbClr val="491017"/>
                </a:solidFill>
                <a:latin typeface="Cambria"/>
              </a:rPr>
              <a:t>N1</a:t>
            </a:r>
          </a:p>
        </p:txBody>
      </p:sp>
      <p:sp>
        <p:nvSpPr>
          <p:cNvPr id="8" name="TextBox 7"/>
          <p:cNvSpPr txBox="1"/>
          <p:nvPr/>
        </p:nvSpPr>
        <p:spPr>
          <a:xfrm>
            <a:off x="594360" y="3017520"/>
            <a:ext cx="3520440" cy="292608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
            </a:r>
          </a:p>
        </p:txBody>
      </p:sp>
      <p:sp>
        <p:nvSpPr>
          <p:cNvPr id="9" name="TextBox 8"/>
          <p:cNvSpPr txBox="1"/>
          <p:nvPr/>
        </p:nvSpPr>
        <p:spPr>
          <a:xfrm>
            <a:off x="868680" y="3063240"/>
            <a:ext cx="2971800" cy="2697480"/>
          </a:xfrm>
          <a:prstGeom prst="rect">
            <a:avLst/>
          </a:prstGeom>
          <a:noFill/>
        </p:spPr>
        <p:txBody>
          <a:bodyPr wrap="square" lIns="36576" rIns="36576" tIns="18288" bIns="18288">
            <a:spAutoFit/>
          </a:bodyPr>
          <a:lstStyle/>
          <a:p>
            <a:pPr algn="l">
              <a:lnSpc>
                <a:spcPct val="115000"/>
              </a:lnSpc>
            </a:pPr>
            <a:r>
              <a:rPr sz="1200" b="0" i="0">
                <a:solidFill>
                  <a:srgbClr val="2B2B2B"/>
                </a:solidFill>
                <a:latin typeface="Calibri"/>
              </a:rPr>
              <a:t>La estructura organizacional y el sistema de gobierno permiten gestionar todas las funciones institucionales. Existe un plan de desarrollo institucional de mediano y largo plazo.</a:t>
            </a:r>
          </a:p>
        </p:txBody>
      </p:sp>
      <p:sp>
        <p:nvSpPr>
          <p:cNvPr id="10" name="Rounded Rectangle 9"/>
          <p:cNvSpPr/>
          <p:nvPr/>
        </p:nvSpPr>
        <p:spPr>
          <a:xfrm>
            <a:off x="4434840" y="2148840"/>
            <a:ext cx="3520440" cy="3703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939027" y="2331720"/>
            <a:ext cx="512064" cy="512064"/>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39027" y="2331720"/>
            <a:ext cx="512064" cy="512064"/>
          </a:xfrm>
          <a:prstGeom prst="rect">
            <a:avLst/>
          </a:prstGeom>
          <a:noFill/>
        </p:spPr>
        <p:txBody>
          <a:bodyPr wrap="square" lIns="36576" rIns="36576" tIns="18288" bIns="18288" anchor="ctr">
            <a:spAutoFit/>
          </a:bodyPr>
          <a:lstStyle/>
          <a:p>
            <a:pPr algn="ctr"/>
            <a:r>
              <a:rPr sz="1400" b="1" i="0">
                <a:solidFill>
                  <a:srgbClr val="491017"/>
                </a:solidFill>
                <a:latin typeface="Cambria"/>
              </a:rPr>
              <a:t>N2</a:t>
            </a:r>
          </a:p>
        </p:txBody>
      </p:sp>
      <p:sp>
        <p:nvSpPr>
          <p:cNvPr id="13" name="TextBox 12"/>
          <p:cNvSpPr txBox="1"/>
          <p:nvPr/>
        </p:nvSpPr>
        <p:spPr>
          <a:xfrm>
            <a:off x="4434840" y="3017520"/>
            <a:ext cx="3520440" cy="292608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
            </a:r>
          </a:p>
        </p:txBody>
      </p:sp>
      <p:sp>
        <p:nvSpPr>
          <p:cNvPr id="14" name="TextBox 13"/>
          <p:cNvSpPr txBox="1"/>
          <p:nvPr/>
        </p:nvSpPr>
        <p:spPr>
          <a:xfrm>
            <a:off x="4709159" y="3063240"/>
            <a:ext cx="2971800" cy="2697480"/>
          </a:xfrm>
          <a:prstGeom prst="rect">
            <a:avLst/>
          </a:prstGeom>
          <a:noFill/>
        </p:spPr>
        <p:txBody>
          <a:bodyPr wrap="square" lIns="36576" rIns="36576" tIns="18288" bIns="18288">
            <a:spAutoFit/>
          </a:bodyPr>
          <a:lstStyle/>
          <a:p>
            <a:pPr algn="l">
              <a:lnSpc>
                <a:spcPct val="115000"/>
              </a:lnSpc>
            </a:pPr>
            <a:r>
              <a:rPr sz="1200" b="0" i="0">
                <a:solidFill>
                  <a:srgbClr val="2B2B2B"/>
                </a:solidFill>
                <a:latin typeface="Calibri"/>
              </a:rPr>
              <a:t>Existen mecanismos de evaluación de desempeño de las autoridades. El plan de desarrollo se revisa periódicamente sobre la base de evidencia; las decisiones son oportunas y consistentes.</a:t>
            </a:r>
          </a:p>
        </p:txBody>
      </p:sp>
      <p:sp>
        <p:nvSpPr>
          <p:cNvPr id="15" name="Rounded Rectangle 14"/>
          <p:cNvSpPr/>
          <p:nvPr/>
        </p:nvSpPr>
        <p:spPr>
          <a:xfrm>
            <a:off x="8275320" y="2148840"/>
            <a:ext cx="3520440" cy="37033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779508" y="2331720"/>
            <a:ext cx="512064" cy="512064"/>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79508" y="2331720"/>
            <a:ext cx="512064" cy="512064"/>
          </a:xfrm>
          <a:prstGeom prst="rect">
            <a:avLst/>
          </a:prstGeom>
          <a:noFill/>
        </p:spPr>
        <p:txBody>
          <a:bodyPr wrap="square" lIns="36576" rIns="36576" tIns="18288" bIns="18288" anchor="ctr">
            <a:spAutoFit/>
          </a:bodyPr>
          <a:lstStyle/>
          <a:p>
            <a:pPr algn="ctr"/>
            <a:r>
              <a:rPr sz="1400" b="1" i="0">
                <a:solidFill>
                  <a:srgbClr val="491017"/>
                </a:solidFill>
                <a:latin typeface="Cambria"/>
              </a:rPr>
              <a:t>N3</a:t>
            </a:r>
          </a:p>
        </p:txBody>
      </p:sp>
      <p:sp>
        <p:nvSpPr>
          <p:cNvPr id="18" name="TextBox 17"/>
          <p:cNvSpPr txBox="1"/>
          <p:nvPr/>
        </p:nvSpPr>
        <p:spPr>
          <a:xfrm>
            <a:off x="8275320" y="3017520"/>
            <a:ext cx="3520440" cy="2926080"/>
          </a:xfrm>
          <a:prstGeom prst="rect">
            <a:avLst/>
          </a:prstGeom>
          <a:noFill/>
        </p:spPr>
        <p:txBody>
          <a:bodyPr wrap="square" lIns="36576" rIns="36576" tIns="18288" bIns="18288">
            <a:spAutoFit/>
          </a:bodyPr>
          <a:lstStyle/>
          <a:p>
            <a:pPr algn="l">
              <a:lnSpc>
                <a:spcPct val="110000"/>
              </a:lnSpc>
            </a:pPr>
            <a:r>
              <a:rPr sz="1200" b="0" i="0">
                <a:solidFill>
                  <a:srgbClr val="2B2B2B"/>
                </a:solidFill>
                <a:latin typeface="Calibri"/>
              </a:rPr>
              <a:t/>
            </a:r>
          </a:p>
        </p:txBody>
      </p:sp>
      <p:sp>
        <p:nvSpPr>
          <p:cNvPr id="19" name="TextBox 18"/>
          <p:cNvSpPr txBox="1"/>
          <p:nvPr/>
        </p:nvSpPr>
        <p:spPr>
          <a:xfrm>
            <a:off x="8549640" y="3063240"/>
            <a:ext cx="2971800" cy="2697480"/>
          </a:xfrm>
          <a:prstGeom prst="rect">
            <a:avLst/>
          </a:prstGeom>
          <a:noFill/>
        </p:spPr>
        <p:txBody>
          <a:bodyPr wrap="square" lIns="36576" rIns="36576" tIns="18288" bIns="18288">
            <a:spAutoFit/>
          </a:bodyPr>
          <a:lstStyle/>
          <a:p>
            <a:pPr algn="l">
              <a:lnSpc>
                <a:spcPct val="115000"/>
              </a:lnSpc>
            </a:pPr>
            <a:r>
              <a:rPr sz="1200" b="0" i="0">
                <a:solidFill>
                  <a:srgbClr val="2B2B2B"/>
                </a:solidFill>
                <a:latin typeface="Calibri"/>
              </a:rPr>
              <a:t>Se evalúan y ajustan periódicamente el diseño y funcionamiento de la estructura de gobierno. La universidad alcanza los objetivos y metas de su planificación estratégica.</a:t>
            </a:r>
          </a:p>
        </p:txBody>
      </p:sp>
      <p:sp>
        <p:nvSpPr>
          <p:cNvPr id="20" name="TextBox 19"/>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DIMENSIÓN II · CONTINUACIÓN</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Criterios 6, 7 y 8</a:t>
            </a:r>
          </a:p>
        </p:txBody>
      </p:sp>
      <p:sp>
        <p:nvSpPr>
          <p:cNvPr id="4" name="Rounded Rectangle 3"/>
          <p:cNvSpPr/>
          <p:nvPr/>
        </p:nvSpPr>
        <p:spPr>
          <a:xfrm>
            <a:off x="594360" y="1600200"/>
            <a:ext cx="352044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58952" y="1764792"/>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64792"/>
            <a:ext cx="457200" cy="457200"/>
          </a:xfrm>
          <a:prstGeom prst="rect">
            <a:avLst/>
          </a:prstGeom>
          <a:noFill/>
        </p:spPr>
        <p:txBody>
          <a:bodyPr wrap="square" lIns="36576" rIns="36576" tIns="18288" bIns="18288" anchor="ctr">
            <a:spAutoFit/>
          </a:bodyPr>
          <a:lstStyle/>
          <a:p>
            <a:pPr algn="ctr"/>
            <a:r>
              <a:rPr sz="1500" b="1" i="0">
                <a:solidFill>
                  <a:srgbClr val="FFFFFF"/>
                </a:solidFill>
                <a:latin typeface="Cambria"/>
              </a:rPr>
              <a:t>6</a:t>
            </a:r>
          </a:p>
        </p:txBody>
      </p:sp>
      <p:sp>
        <p:nvSpPr>
          <p:cNvPr id="7" name="TextBox 6"/>
          <p:cNvSpPr txBox="1"/>
          <p:nvPr/>
        </p:nvSpPr>
        <p:spPr>
          <a:xfrm>
            <a:off x="1371600" y="1746504"/>
            <a:ext cx="2560320" cy="960120"/>
          </a:xfrm>
          <a:prstGeom prst="rect">
            <a:avLst/>
          </a:prstGeom>
          <a:noFill/>
        </p:spPr>
        <p:txBody>
          <a:bodyPr wrap="square" lIns="36576" rIns="36576" tIns="18288" bIns="18288">
            <a:spAutoFit/>
          </a:bodyPr>
          <a:lstStyle/>
          <a:p>
            <a:pPr algn="l">
              <a:lnSpc>
                <a:spcPct val="105000"/>
              </a:lnSpc>
            </a:pPr>
            <a:r>
              <a:rPr sz="1350" b="1" i="0">
                <a:solidFill>
                  <a:srgbClr val="7A1F2B"/>
                </a:solidFill>
                <a:latin typeface="Cambria"/>
              </a:rPr>
              <a:t>Gestión y desarrollo
de personas</a:t>
            </a:r>
          </a:p>
        </p:txBody>
      </p:sp>
      <p:sp>
        <p:nvSpPr>
          <p:cNvPr id="8" name="TextBox 7"/>
          <p:cNvSpPr txBox="1"/>
          <p:nvPr/>
        </p:nvSpPr>
        <p:spPr>
          <a:xfrm>
            <a:off x="868680" y="2834640"/>
            <a:ext cx="2971800" cy="2743200"/>
          </a:xfrm>
          <a:prstGeom prst="rect">
            <a:avLst/>
          </a:prstGeom>
          <a:noFill/>
        </p:spPr>
        <p:txBody>
          <a:bodyPr wrap="square" lIns="36576" rIns="36576" tIns="18288" bIns="18288">
            <a:spAutoFit/>
          </a:bodyPr>
          <a:lstStyle/>
          <a:p>
            <a:pPr algn="l">
              <a:lnSpc>
                <a:spcPct val="108000"/>
              </a:lnSpc>
            </a:pPr>
            <a:r>
              <a:rPr sz="1200" b="0" i="0">
                <a:solidFill>
                  <a:srgbClr val="2B2B2B"/>
                </a:solidFill>
                <a:latin typeface="Calibri"/>
              </a:rPr>
              <a:t>La universidad aplica mecanismos de reclutamiento, selección, inducción, desarrollo profesional, evaluación y retiro de su personal académico, profesional y administrativo.</a:t>
            </a:r>
          </a:p>
        </p:txBody>
      </p:sp>
      <p:sp>
        <p:nvSpPr>
          <p:cNvPr id="9" name="Rounded Rectangle 8"/>
          <p:cNvSpPr/>
          <p:nvPr/>
        </p:nvSpPr>
        <p:spPr>
          <a:xfrm>
            <a:off x="4434840" y="1600200"/>
            <a:ext cx="352044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9431" y="1764792"/>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1" y="1764792"/>
            <a:ext cx="457200" cy="457200"/>
          </a:xfrm>
          <a:prstGeom prst="rect">
            <a:avLst/>
          </a:prstGeom>
          <a:noFill/>
        </p:spPr>
        <p:txBody>
          <a:bodyPr wrap="square" lIns="36576" rIns="36576" tIns="18288" bIns="18288" anchor="ctr">
            <a:spAutoFit/>
          </a:bodyPr>
          <a:lstStyle/>
          <a:p>
            <a:pPr algn="ctr"/>
            <a:r>
              <a:rPr sz="1500" b="1" i="0">
                <a:solidFill>
                  <a:srgbClr val="FFFFFF"/>
                </a:solidFill>
                <a:latin typeface="Cambria"/>
              </a:rPr>
              <a:t>7</a:t>
            </a:r>
          </a:p>
        </p:txBody>
      </p:sp>
      <p:sp>
        <p:nvSpPr>
          <p:cNvPr id="12" name="TextBox 11"/>
          <p:cNvSpPr txBox="1"/>
          <p:nvPr/>
        </p:nvSpPr>
        <p:spPr>
          <a:xfrm>
            <a:off x="5212079" y="1746504"/>
            <a:ext cx="2560320" cy="960120"/>
          </a:xfrm>
          <a:prstGeom prst="rect">
            <a:avLst/>
          </a:prstGeom>
          <a:noFill/>
        </p:spPr>
        <p:txBody>
          <a:bodyPr wrap="square" lIns="36576" rIns="36576" tIns="18288" bIns="18288">
            <a:spAutoFit/>
          </a:bodyPr>
          <a:lstStyle/>
          <a:p>
            <a:pPr algn="l">
              <a:lnSpc>
                <a:spcPct val="105000"/>
              </a:lnSpc>
            </a:pPr>
            <a:r>
              <a:rPr sz="1350" b="1" i="0">
                <a:solidFill>
                  <a:srgbClr val="7A1F2B"/>
                </a:solidFill>
                <a:latin typeface="Cambria"/>
              </a:rPr>
              <a:t>Convivencia, equidad de género,
diversidad e inclusión</a:t>
            </a:r>
          </a:p>
        </p:txBody>
      </p:sp>
      <p:sp>
        <p:nvSpPr>
          <p:cNvPr id="13" name="TextBox 12"/>
          <p:cNvSpPr txBox="1"/>
          <p:nvPr/>
        </p:nvSpPr>
        <p:spPr>
          <a:xfrm>
            <a:off x="4709159" y="2834640"/>
            <a:ext cx="2971800" cy="2743200"/>
          </a:xfrm>
          <a:prstGeom prst="rect">
            <a:avLst/>
          </a:prstGeom>
          <a:noFill/>
        </p:spPr>
        <p:txBody>
          <a:bodyPr wrap="square" lIns="36576" rIns="36576" tIns="18288" bIns="18288">
            <a:spAutoFit/>
          </a:bodyPr>
          <a:lstStyle/>
          <a:p>
            <a:pPr algn="l">
              <a:lnSpc>
                <a:spcPct val="108000"/>
              </a:lnSpc>
            </a:pPr>
            <a:r>
              <a:rPr sz="1200" b="0" i="0">
                <a:solidFill>
                  <a:srgbClr val="2B2B2B"/>
                </a:solidFill>
                <a:latin typeface="Calibri"/>
              </a:rPr>
              <a:t>La universidad promueve el desarrollo integral de su comunidad y responde, en su gestión, a los desafíos de convivencia, equidad de género, diversidad e inclusión.</a:t>
            </a:r>
          </a:p>
        </p:txBody>
      </p:sp>
      <p:sp>
        <p:nvSpPr>
          <p:cNvPr id="14" name="Rounded Rectangle 13"/>
          <p:cNvSpPr/>
          <p:nvPr/>
        </p:nvSpPr>
        <p:spPr>
          <a:xfrm>
            <a:off x="8275320" y="1600200"/>
            <a:ext cx="3520440" cy="41605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39912" y="1764792"/>
            <a:ext cx="457200" cy="4572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2" y="1764792"/>
            <a:ext cx="457200" cy="457200"/>
          </a:xfrm>
          <a:prstGeom prst="rect">
            <a:avLst/>
          </a:prstGeom>
          <a:noFill/>
        </p:spPr>
        <p:txBody>
          <a:bodyPr wrap="square" lIns="36576" rIns="36576" tIns="18288" bIns="18288" anchor="ctr">
            <a:spAutoFit/>
          </a:bodyPr>
          <a:lstStyle/>
          <a:p>
            <a:pPr algn="ctr"/>
            <a:r>
              <a:rPr sz="1500" b="1" i="0">
                <a:solidFill>
                  <a:srgbClr val="FFFFFF"/>
                </a:solidFill>
                <a:latin typeface="Cambria"/>
              </a:rPr>
              <a:t>8</a:t>
            </a:r>
          </a:p>
        </p:txBody>
      </p:sp>
      <p:sp>
        <p:nvSpPr>
          <p:cNvPr id="17" name="TextBox 16"/>
          <p:cNvSpPr txBox="1"/>
          <p:nvPr/>
        </p:nvSpPr>
        <p:spPr>
          <a:xfrm>
            <a:off x="9052560" y="1746504"/>
            <a:ext cx="2560320" cy="960120"/>
          </a:xfrm>
          <a:prstGeom prst="rect">
            <a:avLst/>
          </a:prstGeom>
          <a:noFill/>
        </p:spPr>
        <p:txBody>
          <a:bodyPr wrap="square" lIns="36576" rIns="36576" tIns="18288" bIns="18288">
            <a:spAutoFit/>
          </a:bodyPr>
          <a:lstStyle/>
          <a:p>
            <a:pPr algn="l">
              <a:lnSpc>
                <a:spcPct val="105000"/>
              </a:lnSpc>
            </a:pPr>
            <a:r>
              <a:rPr sz="1350" b="1" i="0">
                <a:solidFill>
                  <a:srgbClr val="7A1F2B"/>
                </a:solidFill>
                <a:latin typeface="Cambria"/>
              </a:rPr>
              <a:t>Gestión de recursos</a:t>
            </a:r>
          </a:p>
        </p:txBody>
      </p:sp>
      <p:sp>
        <p:nvSpPr>
          <p:cNvPr id="18" name="TextBox 17"/>
          <p:cNvSpPr txBox="1"/>
          <p:nvPr/>
        </p:nvSpPr>
        <p:spPr>
          <a:xfrm>
            <a:off x="8549640" y="2834640"/>
            <a:ext cx="2971800" cy="2743200"/>
          </a:xfrm>
          <a:prstGeom prst="rect">
            <a:avLst/>
          </a:prstGeom>
          <a:noFill/>
        </p:spPr>
        <p:txBody>
          <a:bodyPr wrap="square" lIns="36576" rIns="36576" tIns="18288" bIns="18288">
            <a:spAutoFit/>
          </a:bodyPr>
          <a:lstStyle/>
          <a:p>
            <a:pPr algn="l">
              <a:lnSpc>
                <a:spcPct val="108000"/>
              </a:lnSpc>
            </a:pPr>
            <a:r>
              <a:rPr sz="1200" b="0" i="0">
                <a:solidFill>
                  <a:srgbClr val="2B2B2B"/>
                </a:solidFill>
                <a:latin typeface="Calibri"/>
              </a:rPr>
              <a:t>La universidad cuenta con políticas y mecanismos para la obtención, manejo y control de los recursos económicos, operativos y de infraestructura que aseguran su funcionamiento.</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DIMENSIÓN III · OBLIGATORIA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Aseguramiento Interno de la Calidad</a:t>
            </a:r>
          </a:p>
        </p:txBody>
      </p:sp>
      <p:sp>
        <p:nvSpPr>
          <p:cNvPr id="4" name="Rounded Rectangle 3"/>
          <p:cNvSpPr/>
          <p:nvPr/>
        </p:nvSpPr>
        <p:spPr>
          <a:xfrm>
            <a:off x="8869680" y="384048"/>
            <a:ext cx="2743200" cy="384048"/>
          </a:xfrm>
          <a:prstGeom prst="roundRect">
            <a:avLst>
              <a:gd name="adj" fmla="val 50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0" y="384048"/>
            <a:ext cx="2743200" cy="384048"/>
          </a:xfrm>
          <a:prstGeom prst="rect">
            <a:avLst/>
          </a:prstGeom>
          <a:noFill/>
        </p:spPr>
        <p:txBody>
          <a:bodyPr wrap="square" lIns="36576" rIns="36576" tIns="18288" bIns="18288" anchor="ctr">
            <a:spAutoFit/>
          </a:bodyPr>
          <a:lstStyle/>
          <a:p>
            <a:pPr algn="ctr"/>
            <a:r>
              <a:rPr sz="1150" b="1" i="0">
                <a:solidFill>
                  <a:srgbClr val="FFFFFF"/>
                </a:solidFill>
                <a:latin typeface="Calibri"/>
              </a:rPr>
              <a:t>2 CRITERIOS</a:t>
            </a:r>
          </a:p>
        </p:txBody>
      </p:sp>
      <p:sp>
        <p:nvSpPr>
          <p:cNvPr id="6" name="TextBox 5"/>
          <p:cNvSpPr txBox="1"/>
          <p:nvPr/>
        </p:nvSpPr>
        <p:spPr>
          <a:xfrm>
            <a:off x="594360" y="1298448"/>
            <a:ext cx="10972800" cy="777240"/>
          </a:xfrm>
          <a:prstGeom prst="rect">
            <a:avLst/>
          </a:prstGeom>
          <a:noFill/>
        </p:spPr>
        <p:txBody>
          <a:bodyPr wrap="square" lIns="36576" rIns="36576" tIns="18288" bIns="18288">
            <a:spAutoFit/>
          </a:bodyPr>
          <a:lstStyle/>
          <a:p>
            <a:pPr algn="l">
              <a:lnSpc>
                <a:spcPct val="110000"/>
              </a:lnSpc>
            </a:pPr>
            <a:r>
              <a:rPr sz="1300" b="0" i="0">
                <a:solidFill>
                  <a:srgbClr val="797371"/>
                </a:solidFill>
                <a:latin typeface="Calibri"/>
              </a:rPr>
              <a:t>Comprende la totalidad de las funciones que la universidad desarrolla en todas sus sedes, abarcando sistemáticamente todos sus niveles y programas, orientada al mejoramiento continuo.</a:t>
            </a:r>
          </a:p>
        </p:txBody>
      </p:sp>
      <p:sp>
        <p:nvSpPr>
          <p:cNvPr id="7" name="Rounded Rectangle 6"/>
          <p:cNvSpPr/>
          <p:nvPr/>
        </p:nvSpPr>
        <p:spPr>
          <a:xfrm>
            <a:off x="594360" y="2240280"/>
            <a:ext cx="5440680" cy="39319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50592"/>
            <a:ext cx="4846320" cy="868680"/>
          </a:xfrm>
          <a:prstGeom prst="rect">
            <a:avLst/>
          </a:prstGeom>
          <a:noFill/>
        </p:spPr>
        <p:txBody>
          <a:bodyPr wrap="square" lIns="36576" rIns="36576" tIns="18288" bIns="18288">
            <a:spAutoFit/>
          </a:bodyPr>
          <a:lstStyle/>
          <a:p>
            <a:pPr algn="l">
              <a:lnSpc>
                <a:spcPct val="105000"/>
              </a:lnSpc>
            </a:pPr>
            <a:r>
              <a:rPr sz="1500" b="1" i="0">
                <a:solidFill>
                  <a:srgbClr val="7A1F2B"/>
                </a:solidFill>
                <a:latin typeface="Cambria"/>
              </a:rPr>
              <a:t>Criterio 9 — Gestión y resultados del
aseguramiento interno de la calidad</a:t>
            </a:r>
          </a:p>
        </p:txBody>
      </p:sp>
      <p:sp>
        <p:nvSpPr>
          <p:cNvPr id="9" name="TextBox 8"/>
          <p:cNvSpPr txBox="1"/>
          <p:nvPr/>
        </p:nvSpPr>
        <p:spPr>
          <a:xfrm>
            <a:off x="914400" y="3383280"/>
            <a:ext cx="4846320" cy="265176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La universidad define, implementa, monitorea y optimiza su propio sistema interno de aseguramiento de la calidad. Exige una política con responsables, mecanismos formalizados de gestión de información, y evidencia de que la cultura de calidad compromete a todos los estamentos.</a:t>
            </a:r>
          </a:p>
        </p:txBody>
      </p:sp>
      <p:sp>
        <p:nvSpPr>
          <p:cNvPr id="10" name="Rounded Rectangle 9"/>
          <p:cNvSpPr/>
          <p:nvPr/>
        </p:nvSpPr>
        <p:spPr>
          <a:xfrm>
            <a:off x="6153912" y="2240280"/>
            <a:ext cx="5440680" cy="39319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450592"/>
            <a:ext cx="4846320" cy="868680"/>
          </a:xfrm>
          <a:prstGeom prst="rect">
            <a:avLst/>
          </a:prstGeom>
          <a:noFill/>
        </p:spPr>
        <p:txBody>
          <a:bodyPr wrap="square" lIns="36576" rIns="36576" tIns="18288" bIns="18288">
            <a:spAutoFit/>
          </a:bodyPr>
          <a:lstStyle/>
          <a:p>
            <a:pPr algn="l">
              <a:lnSpc>
                <a:spcPct val="105000"/>
              </a:lnSpc>
            </a:pPr>
            <a:r>
              <a:rPr sz="1500" b="1" i="0">
                <a:solidFill>
                  <a:srgbClr val="7A1F2B"/>
                </a:solidFill>
                <a:latin typeface="Cambria"/>
              </a:rPr>
              <a:t>Criterio 10 — Aseguramiento de la calidad
de los programas formativos</a:t>
            </a:r>
          </a:p>
        </p:txBody>
      </p:sp>
      <p:sp>
        <p:nvSpPr>
          <p:cNvPr id="12" name="TextBox 11"/>
          <p:cNvSpPr txBox="1"/>
          <p:nvPr/>
        </p:nvSpPr>
        <p:spPr>
          <a:xfrm>
            <a:off x="6473952" y="3383280"/>
            <a:ext cx="4846320" cy="265176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La institución aplica normativa y procedimientos para la mejora continua de sus programas. Introduce explícitamente el mecanismo de la muestra intencionada como estándar de evaluación, exigiendo en su nivel más alto un alto grado de equivalencia entre programas.</a:t>
            </a:r>
          </a:p>
        </p:txBody>
      </p:sp>
      <p:sp>
        <p:nvSpPr>
          <p:cNvPr id="13" name="TextBox 12"/>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DIMENSIÓN IV · OBLIGATORIA DESDE 2025</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Vinculación con el Medio</a:t>
            </a:r>
          </a:p>
        </p:txBody>
      </p:sp>
      <p:sp>
        <p:nvSpPr>
          <p:cNvPr id="4" name="Rounded Rectangle 3"/>
          <p:cNvSpPr/>
          <p:nvPr/>
        </p:nvSpPr>
        <p:spPr>
          <a:xfrm>
            <a:off x="8869680" y="384048"/>
            <a:ext cx="2743200" cy="384048"/>
          </a:xfrm>
          <a:prstGeom prst="roundRect">
            <a:avLst>
              <a:gd name="adj" fmla="val 50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0" y="384048"/>
            <a:ext cx="2743200" cy="384048"/>
          </a:xfrm>
          <a:prstGeom prst="rect">
            <a:avLst/>
          </a:prstGeom>
          <a:noFill/>
        </p:spPr>
        <p:txBody>
          <a:bodyPr wrap="square" lIns="36576" rIns="36576" tIns="18288" bIns="18288" anchor="ctr">
            <a:spAutoFit/>
          </a:bodyPr>
          <a:lstStyle/>
          <a:p>
            <a:pPr algn="ctr"/>
            <a:r>
              <a:rPr sz="1150" b="1" i="0">
                <a:solidFill>
                  <a:srgbClr val="FFFFFF"/>
                </a:solidFill>
                <a:latin typeface="Calibri"/>
              </a:rPr>
              <a:t>2 CRITERIOS</a:t>
            </a:r>
          </a:p>
        </p:txBody>
      </p:sp>
      <p:sp>
        <p:nvSpPr>
          <p:cNvPr id="6" name="TextBox 5"/>
          <p:cNvSpPr txBox="1"/>
          <p:nvPr/>
        </p:nvSpPr>
        <p:spPr>
          <a:xfrm>
            <a:off x="594360" y="1298448"/>
            <a:ext cx="8092440" cy="777240"/>
          </a:xfrm>
          <a:prstGeom prst="rect">
            <a:avLst/>
          </a:prstGeom>
          <a:noFill/>
        </p:spPr>
        <p:txBody>
          <a:bodyPr wrap="square" lIns="36576" rIns="36576" tIns="18288" bIns="18288">
            <a:spAutoFit/>
          </a:bodyPr>
          <a:lstStyle/>
          <a:p>
            <a:pPr algn="l">
              <a:lnSpc>
                <a:spcPct val="110000"/>
              </a:lnSpc>
            </a:pPr>
            <a:r>
              <a:rPr sz="1300" b="0" i="0">
                <a:solidFill>
                  <a:srgbClr val="797371"/>
                </a:solidFill>
                <a:latin typeface="Calibri"/>
              </a:rPr>
              <a:t>Políticas y mecanismos sistemáticos de vinculación, bidireccional, con el entorno significativo local, nacional o internacional, con indicadores de impacto y resultados de calidad.</a:t>
            </a:r>
          </a:p>
        </p:txBody>
      </p:sp>
      <p:sp>
        <p:nvSpPr>
          <p:cNvPr id="7" name="Rounded Rectangle 6"/>
          <p:cNvSpPr/>
          <p:nvPr/>
        </p:nvSpPr>
        <p:spPr>
          <a:xfrm>
            <a:off x="8869680" y="1298448"/>
            <a:ext cx="2743200" cy="38404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1298448"/>
            <a:ext cx="2743200" cy="384048"/>
          </a:xfrm>
          <a:prstGeom prst="rect">
            <a:avLst/>
          </a:prstGeom>
          <a:noFill/>
        </p:spPr>
        <p:txBody>
          <a:bodyPr wrap="square" lIns="36576" rIns="36576" tIns="18288" bIns="18288" anchor="ctr">
            <a:spAutoFit/>
          </a:bodyPr>
          <a:lstStyle/>
          <a:p>
            <a:pPr algn="ctr"/>
            <a:r>
              <a:rPr sz="950" b="1" i="0">
                <a:solidFill>
                  <a:srgbClr val="491017"/>
                </a:solidFill>
                <a:latin typeface="Calibri"/>
              </a:rPr>
              <a:t>OBLIGATORIA DESDE EL 30-MAY-2025</a:t>
            </a:r>
          </a:p>
        </p:txBody>
      </p:sp>
      <p:sp>
        <p:nvSpPr>
          <p:cNvPr id="9" name="Rounded Rectangle 8"/>
          <p:cNvSpPr/>
          <p:nvPr/>
        </p:nvSpPr>
        <p:spPr>
          <a:xfrm>
            <a:off x="594360" y="2240280"/>
            <a:ext cx="5440680" cy="39319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50592"/>
            <a:ext cx="4846320" cy="868680"/>
          </a:xfrm>
          <a:prstGeom prst="rect">
            <a:avLst/>
          </a:prstGeom>
          <a:noFill/>
        </p:spPr>
        <p:txBody>
          <a:bodyPr wrap="square" lIns="36576" rIns="36576" tIns="18288" bIns="18288">
            <a:spAutoFit/>
          </a:bodyPr>
          <a:lstStyle/>
          <a:p>
            <a:pPr algn="l">
              <a:lnSpc>
                <a:spcPct val="105000"/>
              </a:lnSpc>
            </a:pPr>
            <a:r>
              <a:rPr sz="1500" b="1" i="0">
                <a:solidFill>
                  <a:srgbClr val="7A1F2B"/>
                </a:solidFill>
                <a:latin typeface="Cambria"/>
              </a:rPr>
              <a:t>Criterio 11 — Política y gestión de la
vinculación con el medio</a:t>
            </a:r>
          </a:p>
        </p:txBody>
      </p:sp>
      <p:sp>
        <p:nvSpPr>
          <p:cNvPr id="11" name="TextBox 10"/>
          <p:cNvSpPr txBox="1"/>
          <p:nvPr/>
        </p:nvSpPr>
        <p:spPr>
          <a:xfrm>
            <a:off x="914400" y="3383280"/>
            <a:ext cx="4846320" cy="265176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La función de vinculación con el medio es bidireccional: corresponde a una construcción conjunta de la universidad con sus grupos de interés, explicitada en políticas y mecanismos formales.</a:t>
            </a:r>
          </a:p>
        </p:txBody>
      </p:sp>
      <p:sp>
        <p:nvSpPr>
          <p:cNvPr id="12" name="Rounded Rectangle 11"/>
          <p:cNvSpPr/>
          <p:nvPr/>
        </p:nvSpPr>
        <p:spPr>
          <a:xfrm>
            <a:off x="6153912" y="2240280"/>
            <a:ext cx="5440680" cy="39319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450592"/>
            <a:ext cx="4846320" cy="868680"/>
          </a:xfrm>
          <a:prstGeom prst="rect">
            <a:avLst/>
          </a:prstGeom>
          <a:noFill/>
        </p:spPr>
        <p:txBody>
          <a:bodyPr wrap="square" lIns="36576" rIns="36576" tIns="18288" bIns="18288">
            <a:spAutoFit/>
          </a:bodyPr>
          <a:lstStyle/>
          <a:p>
            <a:pPr algn="l">
              <a:lnSpc>
                <a:spcPct val="105000"/>
              </a:lnSpc>
            </a:pPr>
            <a:r>
              <a:rPr sz="1500" b="1" i="0">
                <a:solidFill>
                  <a:srgbClr val="7A1F2B"/>
                </a:solidFill>
                <a:latin typeface="Cambria"/>
              </a:rPr>
              <a:t>Criterio 12 — Resultados e impacto de
la vinculación con el medio</a:t>
            </a:r>
          </a:p>
        </p:txBody>
      </p:sp>
      <p:sp>
        <p:nvSpPr>
          <p:cNvPr id="14" name="TextBox 13"/>
          <p:cNvSpPr txBox="1"/>
          <p:nvPr/>
        </p:nvSpPr>
        <p:spPr>
          <a:xfrm>
            <a:off x="6473952" y="3383280"/>
            <a:ext cx="4846320" cy="265176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La universidad realiza acciones de vinculación con impacto positivo, verificable, en su entorno significativo y en la formación de las y los estudiantes, así como en otras funciones institucionales.</a:t>
            </a:r>
          </a:p>
        </p:txBody>
      </p:sp>
      <p:sp>
        <p:nvSpPr>
          <p:cNvPr id="15" name="TextBox 14"/>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DIMENSIÓN V · VOLUNTARIA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Investigación, Creación y/o Innovación</a:t>
            </a:r>
          </a:p>
        </p:txBody>
      </p:sp>
      <p:sp>
        <p:nvSpPr>
          <p:cNvPr id="4" name="Rounded Rectangle 3"/>
          <p:cNvSpPr/>
          <p:nvPr/>
        </p:nvSpPr>
        <p:spPr>
          <a:xfrm>
            <a:off x="8869680" y="384048"/>
            <a:ext cx="2743200" cy="384048"/>
          </a:xfrm>
          <a:prstGeom prst="roundRect">
            <a:avLst>
              <a:gd name="adj" fmla="val 50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0" y="384048"/>
            <a:ext cx="2743200" cy="384048"/>
          </a:xfrm>
          <a:prstGeom prst="rect">
            <a:avLst/>
          </a:prstGeom>
          <a:noFill/>
        </p:spPr>
        <p:txBody>
          <a:bodyPr wrap="square" lIns="36576" rIns="36576" tIns="18288" bIns="18288" anchor="ctr">
            <a:spAutoFit/>
          </a:bodyPr>
          <a:lstStyle/>
          <a:p>
            <a:pPr algn="ctr"/>
            <a:r>
              <a:rPr sz="1150" b="1" i="0">
                <a:solidFill>
                  <a:srgbClr val="FFFFFF"/>
                </a:solidFill>
                <a:latin typeface="Calibri"/>
              </a:rPr>
              <a:t>2 CRITERIOS</a:t>
            </a:r>
          </a:p>
        </p:txBody>
      </p:sp>
      <p:sp>
        <p:nvSpPr>
          <p:cNvPr id="6" name="TextBox 5"/>
          <p:cNvSpPr txBox="1"/>
          <p:nvPr/>
        </p:nvSpPr>
        <p:spPr>
          <a:xfrm>
            <a:off x="594360" y="1298448"/>
            <a:ext cx="8092440" cy="777240"/>
          </a:xfrm>
          <a:prstGeom prst="rect">
            <a:avLst/>
          </a:prstGeom>
          <a:noFill/>
        </p:spPr>
        <p:txBody>
          <a:bodyPr wrap="square" lIns="36576" rIns="36576" tIns="18288" bIns="18288">
            <a:spAutoFit/>
          </a:bodyPr>
          <a:lstStyle/>
          <a:p>
            <a:pPr algn="l">
              <a:lnSpc>
                <a:spcPct val="110000"/>
              </a:lnSpc>
            </a:pPr>
            <a:r>
              <a:rPr sz="1300" b="0" i="0">
                <a:solidFill>
                  <a:srgbClr val="797371"/>
                </a:solidFill>
                <a:latin typeface="Calibri"/>
              </a:rPr>
              <a:t>La universidad desarrolla actividades de generación de conocimiento —investigación, creación artística, transferencia, innovación— con impacto en la docencia, el sector público, la actividad productiva o la sociedad.</a:t>
            </a:r>
          </a:p>
        </p:txBody>
      </p:sp>
      <p:sp>
        <p:nvSpPr>
          <p:cNvPr id="7" name="Rounded Rectangle 6"/>
          <p:cNvSpPr/>
          <p:nvPr/>
        </p:nvSpPr>
        <p:spPr>
          <a:xfrm>
            <a:off x="8869680" y="1298448"/>
            <a:ext cx="2743200" cy="384048"/>
          </a:xfrm>
          <a:prstGeom prst="roundRect">
            <a:avLst>
              <a:gd name="adj" fmla="val 5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1298448"/>
            <a:ext cx="2743200" cy="384048"/>
          </a:xfrm>
          <a:prstGeom prst="rect">
            <a:avLst/>
          </a:prstGeom>
          <a:noFill/>
        </p:spPr>
        <p:txBody>
          <a:bodyPr wrap="square" lIns="36576" rIns="36576" tIns="18288" bIns="18288" anchor="ctr">
            <a:spAutoFit/>
          </a:bodyPr>
          <a:lstStyle/>
          <a:p>
            <a:pPr algn="ctr"/>
            <a:r>
              <a:rPr sz="900" b="1" i="0">
                <a:solidFill>
                  <a:srgbClr val="491017"/>
                </a:solidFill>
                <a:latin typeface="Calibri"/>
              </a:rPr>
              <a:t>NECESARIA PARA EXCELENCIA DE 7 AÑOS</a:t>
            </a:r>
          </a:p>
        </p:txBody>
      </p:sp>
      <p:sp>
        <p:nvSpPr>
          <p:cNvPr id="9" name="Rounded Rectangle 8"/>
          <p:cNvSpPr/>
          <p:nvPr/>
        </p:nvSpPr>
        <p:spPr>
          <a:xfrm>
            <a:off x="594360" y="2240280"/>
            <a:ext cx="5440680" cy="39319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50592"/>
            <a:ext cx="4846320" cy="868680"/>
          </a:xfrm>
          <a:prstGeom prst="rect">
            <a:avLst/>
          </a:prstGeom>
          <a:noFill/>
        </p:spPr>
        <p:txBody>
          <a:bodyPr wrap="square" lIns="36576" rIns="36576" tIns="18288" bIns="18288">
            <a:spAutoFit/>
          </a:bodyPr>
          <a:lstStyle/>
          <a:p>
            <a:pPr algn="l">
              <a:lnSpc>
                <a:spcPct val="105000"/>
              </a:lnSpc>
            </a:pPr>
            <a:r>
              <a:rPr sz="1500" b="1" i="0">
                <a:solidFill>
                  <a:srgbClr val="7A1F2B"/>
                </a:solidFill>
                <a:latin typeface="Cambria"/>
              </a:rPr>
              <a:t>Criterio 13 — Política y gestión de la
investigación, creación y/o innovación</a:t>
            </a:r>
          </a:p>
        </p:txBody>
      </p:sp>
      <p:sp>
        <p:nvSpPr>
          <p:cNvPr id="11" name="TextBox 10"/>
          <p:cNvSpPr txBox="1"/>
          <p:nvPr/>
        </p:nvSpPr>
        <p:spPr>
          <a:xfrm>
            <a:off x="914400" y="3383280"/>
            <a:ext cx="4846320" cy="265176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La investigación, creación y/o innovación están presentes explícitamente en la misión institucional, con mecanismos de gestión y recursos propios para su implementación.</a:t>
            </a:r>
          </a:p>
        </p:txBody>
      </p:sp>
      <p:sp>
        <p:nvSpPr>
          <p:cNvPr id="12" name="Rounded Rectangle 11"/>
          <p:cNvSpPr/>
          <p:nvPr/>
        </p:nvSpPr>
        <p:spPr>
          <a:xfrm>
            <a:off x="6153912" y="2240280"/>
            <a:ext cx="5440680" cy="393192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450592"/>
            <a:ext cx="4846320" cy="868680"/>
          </a:xfrm>
          <a:prstGeom prst="rect">
            <a:avLst/>
          </a:prstGeom>
          <a:noFill/>
        </p:spPr>
        <p:txBody>
          <a:bodyPr wrap="square" lIns="36576" rIns="36576" tIns="18288" bIns="18288">
            <a:spAutoFit/>
          </a:bodyPr>
          <a:lstStyle/>
          <a:p>
            <a:pPr algn="l">
              <a:lnSpc>
                <a:spcPct val="105000"/>
              </a:lnSpc>
            </a:pPr>
            <a:r>
              <a:rPr sz="1500" b="1" i="0">
                <a:solidFill>
                  <a:srgbClr val="7A1F2B"/>
                </a:solidFill>
                <a:latin typeface="Cambria"/>
              </a:rPr>
              <a:t>Criterio 14 — Resultados de la
investigación, creación y/o innovación</a:t>
            </a:r>
          </a:p>
        </p:txBody>
      </p:sp>
      <p:sp>
        <p:nvSpPr>
          <p:cNvPr id="14" name="TextBox 13"/>
          <p:cNvSpPr txBox="1"/>
          <p:nvPr/>
        </p:nvSpPr>
        <p:spPr>
          <a:xfrm>
            <a:off x="6473952" y="3383280"/>
            <a:ext cx="4846320" cy="2651760"/>
          </a:xfrm>
          <a:prstGeom prst="rect">
            <a:avLst/>
          </a:prstGeom>
          <a:noFill/>
        </p:spPr>
        <p:txBody>
          <a:bodyPr wrap="square" lIns="36576" rIns="36576" tIns="18288" bIns="18288">
            <a:spAutoFit/>
          </a:bodyPr>
          <a:lstStyle/>
          <a:p>
            <a:pPr algn="l">
              <a:lnSpc>
                <a:spcPct val="118000"/>
              </a:lnSpc>
            </a:pPr>
            <a:r>
              <a:rPr sz="1250" b="0" i="0">
                <a:solidFill>
                  <a:srgbClr val="2B2B2B"/>
                </a:solidFill>
                <a:latin typeface="Calibri"/>
              </a:rPr>
              <a:t>En su nivel más alto, exige sostener programas de doctorado acreditados en todas las áreas del conocimiento que desarrolla la universidad, y participación en redes internacionales.</a:t>
            </a:r>
          </a:p>
        </p:txBody>
      </p:sp>
      <p:sp>
        <p:nvSpPr>
          <p:cNvPr id="15" name="TextBox 14"/>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MUESTRA INTENCIONADA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¿Qué es la muestra intencionada?</a:t>
            </a:r>
          </a:p>
        </p:txBody>
      </p:sp>
      <p:sp>
        <p:nvSpPr>
          <p:cNvPr id="4" name="TextBox 3"/>
          <p:cNvSpPr txBox="1"/>
          <p:nvPr/>
        </p:nvSpPr>
        <p:spPr>
          <a:xfrm>
            <a:off x="594360" y="1325880"/>
            <a:ext cx="10972800" cy="868680"/>
          </a:xfrm>
          <a:prstGeom prst="rect">
            <a:avLst/>
          </a:prstGeom>
          <a:noFill/>
        </p:spPr>
        <p:txBody>
          <a:bodyPr wrap="square" lIns="36576" rIns="36576" tIns="18288" bIns="18288">
            <a:spAutoFit/>
          </a:bodyPr>
          <a:lstStyle/>
          <a:p>
            <a:pPr algn="l">
              <a:lnSpc>
                <a:spcPct val="118000"/>
              </a:lnSpc>
            </a:pPr>
            <a:r>
              <a:rPr sz="1350" b="0" i="0">
                <a:solidFill>
                  <a:srgbClr val="797371"/>
                </a:solidFill>
                <a:latin typeface="Calibri"/>
              </a:rPr>
              <a:t>Es un elemento constitutivo del proceso de evaluación externa, exigido por el Criterio 10: además de evaluar las dimensiones institucionales, la CNA revisa en profundidad una muestra de carreras y programas de pregrado y posgrado.</a:t>
            </a:r>
          </a:p>
        </p:txBody>
      </p:sp>
      <p:sp>
        <p:nvSpPr>
          <p:cNvPr id="5" name="Rounded Rectangle 4"/>
          <p:cNvSpPr/>
          <p:nvPr/>
        </p:nvSpPr>
        <p:spPr>
          <a:xfrm>
            <a:off x="594360" y="2423160"/>
            <a:ext cx="3291840" cy="329184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697480"/>
            <a:ext cx="3291840" cy="1005840"/>
          </a:xfrm>
          <a:prstGeom prst="rect">
            <a:avLst/>
          </a:prstGeom>
          <a:noFill/>
        </p:spPr>
        <p:txBody>
          <a:bodyPr wrap="square" lIns="36576" rIns="36576" tIns="18288" bIns="18288">
            <a:spAutoFit/>
          </a:bodyPr>
          <a:lstStyle/>
          <a:p>
            <a:pPr algn="ctr"/>
            <a:r>
              <a:rPr sz="4600" b="1" i="0">
                <a:solidFill>
                  <a:srgbClr val="7A1F2B"/>
                </a:solidFill>
                <a:latin typeface="Cambria"/>
              </a:rPr>
              <a:t>1–11</a:t>
            </a:r>
          </a:p>
        </p:txBody>
      </p:sp>
      <p:sp>
        <p:nvSpPr>
          <p:cNvPr id="7" name="TextBox 6"/>
          <p:cNvSpPr txBox="1"/>
          <p:nvPr/>
        </p:nvSpPr>
        <p:spPr>
          <a:xfrm>
            <a:off x="777240" y="3703320"/>
            <a:ext cx="2926080" cy="640080"/>
          </a:xfrm>
          <a:prstGeom prst="rect">
            <a:avLst/>
          </a:prstGeom>
          <a:noFill/>
        </p:spPr>
        <p:txBody>
          <a:bodyPr wrap="square" lIns="36576" rIns="36576" tIns="18288" bIns="18288">
            <a:spAutoFit/>
          </a:bodyPr>
          <a:lstStyle/>
          <a:p>
            <a:pPr algn="ctr">
              <a:lnSpc>
                <a:spcPct val="110000"/>
              </a:lnSpc>
            </a:pPr>
            <a:r>
              <a:rPr sz="1200" b="0" i="0">
                <a:solidFill>
                  <a:srgbClr val="2B2B2B"/>
                </a:solidFill>
                <a:latin typeface="Calibri"/>
              </a:rPr>
              <a:t>programas evaluados en la muestra</a:t>
            </a:r>
          </a:p>
        </p:txBody>
      </p:sp>
      <p:sp>
        <p:nvSpPr>
          <p:cNvPr id="8" name="TextBox 7"/>
          <p:cNvSpPr txBox="1"/>
          <p:nvPr/>
        </p:nvSpPr>
        <p:spPr>
          <a:xfrm>
            <a:off x="777240" y="4434840"/>
            <a:ext cx="2926080" cy="1097280"/>
          </a:xfrm>
          <a:prstGeom prst="rect">
            <a:avLst/>
          </a:prstGeom>
          <a:noFill/>
        </p:spPr>
        <p:txBody>
          <a:bodyPr wrap="square" lIns="36576" rIns="36576" tIns="18288" bIns="18288">
            <a:spAutoFit/>
          </a:bodyPr>
          <a:lstStyle/>
          <a:p>
            <a:pPr algn="ctr">
              <a:lnSpc>
                <a:spcPct val="115000"/>
              </a:lnSpc>
            </a:pPr>
            <a:r>
              <a:rPr sz="1100" b="0" i="1">
                <a:solidFill>
                  <a:srgbClr val="797371"/>
                </a:solidFill>
                <a:latin typeface="Calibri"/>
              </a:rPr>
              <a:t>+ 1 adicional, de elección voluntaria de la institución</a:t>
            </a:r>
          </a:p>
        </p:txBody>
      </p:sp>
      <p:sp>
        <p:nvSpPr>
          <p:cNvPr id="9" name="TextBox 8"/>
          <p:cNvSpPr txBox="1"/>
          <p:nvPr/>
        </p:nvSpPr>
        <p:spPr>
          <a:xfrm>
            <a:off x="4160520" y="2423160"/>
            <a:ext cx="7315200" cy="320040"/>
          </a:xfrm>
          <a:prstGeom prst="rect">
            <a:avLst/>
          </a:prstGeom>
          <a:noFill/>
        </p:spPr>
        <p:txBody>
          <a:bodyPr wrap="square" lIns="36576" rIns="36576" tIns="18288" bIns="18288">
            <a:spAutoFit/>
          </a:bodyPr>
          <a:lstStyle/>
          <a:p>
            <a:pPr algn="l"/>
            <a:r>
              <a:rPr sz="1200" b="1" i="0">
                <a:solidFill>
                  <a:srgbClr val="7A1F2B"/>
                </a:solidFill>
                <a:latin typeface="Calibri"/>
              </a:rPr>
              <a:t>10 ÁREAS DEL CONOCIMIENTO (SIES)</a:t>
            </a:r>
          </a:p>
        </p:txBody>
      </p:sp>
      <p:sp>
        <p:nvSpPr>
          <p:cNvPr id="10" name="Rounded Rectangle 9"/>
          <p:cNvSpPr/>
          <p:nvPr/>
        </p:nvSpPr>
        <p:spPr>
          <a:xfrm>
            <a:off x="4160520" y="2834640"/>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60520" y="2834640"/>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Agropecuaria</a:t>
            </a:r>
          </a:p>
        </p:txBody>
      </p:sp>
      <p:sp>
        <p:nvSpPr>
          <p:cNvPr id="12" name="Rounded Rectangle 11"/>
          <p:cNvSpPr/>
          <p:nvPr/>
        </p:nvSpPr>
        <p:spPr>
          <a:xfrm>
            <a:off x="5660136" y="2834640"/>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0136" y="2834640"/>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Arte y Arquitectura</a:t>
            </a:r>
          </a:p>
        </p:txBody>
      </p:sp>
      <p:sp>
        <p:nvSpPr>
          <p:cNvPr id="14" name="Rounded Rectangle 13"/>
          <p:cNvSpPr/>
          <p:nvPr/>
        </p:nvSpPr>
        <p:spPr>
          <a:xfrm>
            <a:off x="7159752" y="2834640"/>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59752" y="2834640"/>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Ciencias Básicas</a:t>
            </a:r>
          </a:p>
        </p:txBody>
      </p:sp>
      <p:sp>
        <p:nvSpPr>
          <p:cNvPr id="16" name="Rounded Rectangle 15"/>
          <p:cNvSpPr/>
          <p:nvPr/>
        </p:nvSpPr>
        <p:spPr>
          <a:xfrm>
            <a:off x="8659367" y="2834640"/>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59367" y="2834640"/>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Ciencias Sociales</a:t>
            </a:r>
          </a:p>
        </p:txBody>
      </p:sp>
      <p:sp>
        <p:nvSpPr>
          <p:cNvPr id="18" name="Rounded Rectangle 17"/>
          <p:cNvSpPr/>
          <p:nvPr/>
        </p:nvSpPr>
        <p:spPr>
          <a:xfrm>
            <a:off x="10158984" y="2834640"/>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58984" y="2834640"/>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Derecho</a:t>
            </a:r>
          </a:p>
        </p:txBody>
      </p:sp>
      <p:sp>
        <p:nvSpPr>
          <p:cNvPr id="20" name="Rounded Rectangle 19"/>
          <p:cNvSpPr/>
          <p:nvPr/>
        </p:nvSpPr>
        <p:spPr>
          <a:xfrm>
            <a:off x="4160520" y="3813048"/>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60520" y="3813048"/>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Humanidades</a:t>
            </a:r>
          </a:p>
        </p:txBody>
      </p:sp>
      <p:sp>
        <p:nvSpPr>
          <p:cNvPr id="22" name="Rounded Rectangle 21"/>
          <p:cNvSpPr/>
          <p:nvPr/>
        </p:nvSpPr>
        <p:spPr>
          <a:xfrm>
            <a:off x="5660136" y="3813048"/>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0136" y="3813048"/>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Educación</a:t>
            </a:r>
          </a:p>
        </p:txBody>
      </p:sp>
      <p:sp>
        <p:nvSpPr>
          <p:cNvPr id="24" name="Rounded Rectangle 23"/>
          <p:cNvSpPr/>
          <p:nvPr/>
        </p:nvSpPr>
        <p:spPr>
          <a:xfrm>
            <a:off x="7159752" y="3813048"/>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59752" y="3813048"/>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Tecnología</a:t>
            </a:r>
          </a:p>
        </p:txBody>
      </p:sp>
      <p:sp>
        <p:nvSpPr>
          <p:cNvPr id="26" name="Rounded Rectangle 25"/>
          <p:cNvSpPr/>
          <p:nvPr/>
        </p:nvSpPr>
        <p:spPr>
          <a:xfrm>
            <a:off x="8659367" y="3813048"/>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59367" y="3813048"/>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Salud</a:t>
            </a:r>
          </a:p>
        </p:txBody>
      </p:sp>
      <p:sp>
        <p:nvSpPr>
          <p:cNvPr id="28" name="Rounded Rectangle 27"/>
          <p:cNvSpPr/>
          <p:nvPr/>
        </p:nvSpPr>
        <p:spPr>
          <a:xfrm>
            <a:off x="10158984" y="3813048"/>
            <a:ext cx="1389888" cy="868680"/>
          </a:xfrm>
          <a:prstGeom prst="roundRect">
            <a:avLst>
              <a:gd name="adj" fmla="val 50000"/>
            </a:avLst>
          </a:prstGeom>
          <a:solidFill>
            <a:srgbClr val="F2E3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58984" y="3813048"/>
            <a:ext cx="1389888" cy="868680"/>
          </a:xfrm>
          <a:prstGeom prst="rect">
            <a:avLst/>
          </a:prstGeom>
          <a:noFill/>
        </p:spPr>
        <p:txBody>
          <a:bodyPr wrap="square" lIns="36576" rIns="36576" tIns="18288" bIns="18288" anchor="ctr">
            <a:spAutoFit/>
          </a:bodyPr>
          <a:lstStyle/>
          <a:p>
            <a:pPr algn="ctr"/>
            <a:r>
              <a:rPr sz="1050" b="1" i="0">
                <a:solidFill>
                  <a:srgbClr val="491017"/>
                </a:solidFill>
                <a:latin typeface="Calibri"/>
              </a:rPr>
              <a:t>Administración y Comercio</a:t>
            </a:r>
          </a:p>
        </p:txBody>
      </p:sp>
      <p:sp>
        <p:nvSpPr>
          <p:cNvPr id="30" name="TextBox 29"/>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MUESTRA INTENCIONADA</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Requisitos y mecanismo de selección</a:t>
            </a:r>
          </a:p>
        </p:txBody>
      </p:sp>
      <p:sp>
        <p:nvSpPr>
          <p:cNvPr id="4" name="TextBox 3"/>
          <p:cNvSpPr txBox="1"/>
          <p:nvPr/>
        </p:nvSpPr>
        <p:spPr>
          <a:xfrm>
            <a:off x="594360" y="1325880"/>
            <a:ext cx="5212080" cy="365760"/>
          </a:xfrm>
          <a:prstGeom prst="rect">
            <a:avLst/>
          </a:prstGeom>
          <a:noFill/>
        </p:spPr>
        <p:txBody>
          <a:bodyPr wrap="square" lIns="36576" rIns="36576" tIns="18288" bIns="18288">
            <a:spAutoFit/>
          </a:bodyPr>
          <a:lstStyle/>
          <a:p>
            <a:pPr algn="l"/>
            <a:r>
              <a:rPr sz="1500" b="1" i="0">
                <a:solidFill>
                  <a:srgbClr val="7A1F2B"/>
                </a:solidFill>
                <a:latin typeface="Cambria"/>
              </a:rPr>
              <a:t>Requisitos de elegibilidad</a:t>
            </a:r>
          </a:p>
        </p:txBody>
      </p:sp>
      <p:sp>
        <p:nvSpPr>
          <p:cNvPr id="5" name="Oval 4"/>
          <p:cNvSpPr/>
          <p:nvPr/>
        </p:nvSpPr>
        <p:spPr>
          <a:xfrm>
            <a:off x="594360" y="1828800"/>
            <a:ext cx="384048" cy="384048"/>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28800"/>
            <a:ext cx="384048" cy="384048"/>
          </a:xfrm>
          <a:prstGeom prst="rect">
            <a:avLst/>
          </a:prstGeom>
          <a:noFill/>
        </p:spPr>
        <p:txBody>
          <a:bodyPr wrap="square" lIns="36576" rIns="36576" tIns="18288" bIns="18288" anchor="ctr">
            <a:spAutoFit/>
          </a:bodyPr>
          <a:lstStyle/>
          <a:p>
            <a:pPr algn="ctr"/>
            <a:r>
              <a:rPr sz="1300" b="1" i="0">
                <a:solidFill>
                  <a:srgbClr val="FFFFFF"/>
                </a:solidFill>
                <a:latin typeface="Cambria"/>
              </a:rPr>
              <a:t>1</a:t>
            </a:r>
          </a:p>
        </p:txBody>
      </p:sp>
      <p:sp>
        <p:nvSpPr>
          <p:cNvPr id="7" name="TextBox 6"/>
          <p:cNvSpPr txBox="1"/>
          <p:nvPr/>
        </p:nvSpPr>
        <p:spPr>
          <a:xfrm>
            <a:off x="1097280" y="1810512"/>
            <a:ext cx="4709160" cy="868680"/>
          </a:xfrm>
          <a:prstGeom prst="rect">
            <a:avLst/>
          </a:prstGeom>
          <a:noFill/>
        </p:spPr>
        <p:txBody>
          <a:bodyPr wrap="square" lIns="36576" rIns="36576" tIns="18288" bIns="18288">
            <a:spAutoFit/>
          </a:bodyPr>
          <a:lstStyle/>
          <a:p>
            <a:pPr algn="l">
              <a:lnSpc>
                <a:spcPct val="112000"/>
              </a:lnSpc>
            </a:pPr>
            <a:r>
              <a:rPr sz="1200" b="0" i="0">
                <a:solidFill>
                  <a:srgbClr val="2B2B2B"/>
                </a:solidFill>
                <a:latin typeface="Calibri"/>
              </a:rPr>
              <a:t>Ser carrera o programa de pregrado o posgrado.</a:t>
            </a:r>
          </a:p>
        </p:txBody>
      </p:sp>
      <p:sp>
        <p:nvSpPr>
          <p:cNvPr id="8" name="Oval 7"/>
          <p:cNvSpPr/>
          <p:nvPr/>
        </p:nvSpPr>
        <p:spPr>
          <a:xfrm>
            <a:off x="594360" y="2788920"/>
            <a:ext cx="384048" cy="384048"/>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788920"/>
            <a:ext cx="384048" cy="384048"/>
          </a:xfrm>
          <a:prstGeom prst="rect">
            <a:avLst/>
          </a:prstGeom>
          <a:noFill/>
        </p:spPr>
        <p:txBody>
          <a:bodyPr wrap="square" lIns="36576" rIns="36576" tIns="18288" bIns="18288" anchor="ctr">
            <a:spAutoFit/>
          </a:bodyPr>
          <a:lstStyle/>
          <a:p>
            <a:pPr algn="ctr"/>
            <a:r>
              <a:rPr sz="1300" b="1" i="0">
                <a:solidFill>
                  <a:srgbClr val="FFFFFF"/>
                </a:solidFill>
                <a:latin typeface="Cambria"/>
              </a:rPr>
              <a:t>2</a:t>
            </a:r>
          </a:p>
        </p:txBody>
      </p:sp>
      <p:sp>
        <p:nvSpPr>
          <p:cNvPr id="10" name="TextBox 9"/>
          <p:cNvSpPr txBox="1"/>
          <p:nvPr/>
        </p:nvSpPr>
        <p:spPr>
          <a:xfrm>
            <a:off x="1097280" y="2770632"/>
            <a:ext cx="4709160" cy="868680"/>
          </a:xfrm>
          <a:prstGeom prst="rect">
            <a:avLst/>
          </a:prstGeom>
          <a:noFill/>
        </p:spPr>
        <p:txBody>
          <a:bodyPr wrap="square" lIns="36576" rIns="36576" tIns="18288" bIns="18288">
            <a:spAutoFit/>
          </a:bodyPr>
          <a:lstStyle/>
          <a:p>
            <a:pPr algn="l">
              <a:lnSpc>
                <a:spcPct val="112000"/>
              </a:lnSpc>
            </a:pPr>
            <a:r>
              <a:rPr sz="1200" b="0" i="0">
                <a:solidFill>
                  <a:srgbClr val="2B2B2B"/>
                </a:solidFill>
                <a:latin typeface="Calibri"/>
              </a:rPr>
              <a:t>Tener matrícula vigente de primer año mayor a cero.</a:t>
            </a:r>
          </a:p>
        </p:txBody>
      </p:sp>
      <p:sp>
        <p:nvSpPr>
          <p:cNvPr id="11" name="Oval 10"/>
          <p:cNvSpPr/>
          <p:nvPr/>
        </p:nvSpPr>
        <p:spPr>
          <a:xfrm>
            <a:off x="594360" y="3749039"/>
            <a:ext cx="384048" cy="384048"/>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749039"/>
            <a:ext cx="384048" cy="384048"/>
          </a:xfrm>
          <a:prstGeom prst="rect">
            <a:avLst/>
          </a:prstGeom>
          <a:noFill/>
        </p:spPr>
        <p:txBody>
          <a:bodyPr wrap="square" lIns="36576" rIns="36576" tIns="18288" bIns="18288" anchor="ctr">
            <a:spAutoFit/>
          </a:bodyPr>
          <a:lstStyle/>
          <a:p>
            <a:pPr algn="ctr"/>
            <a:r>
              <a:rPr sz="1300" b="1" i="0">
                <a:solidFill>
                  <a:srgbClr val="FFFFFF"/>
                </a:solidFill>
                <a:latin typeface="Cambria"/>
              </a:rPr>
              <a:t>3</a:t>
            </a:r>
          </a:p>
        </p:txBody>
      </p:sp>
      <p:sp>
        <p:nvSpPr>
          <p:cNvPr id="13" name="TextBox 12"/>
          <p:cNvSpPr txBox="1"/>
          <p:nvPr/>
        </p:nvSpPr>
        <p:spPr>
          <a:xfrm>
            <a:off x="1097280" y="3730752"/>
            <a:ext cx="4709160" cy="868680"/>
          </a:xfrm>
          <a:prstGeom prst="rect">
            <a:avLst/>
          </a:prstGeom>
          <a:noFill/>
        </p:spPr>
        <p:txBody>
          <a:bodyPr wrap="square" lIns="36576" rIns="36576" tIns="18288" bIns="18288">
            <a:spAutoFit/>
          </a:bodyPr>
          <a:lstStyle/>
          <a:p>
            <a:pPr algn="l">
              <a:lnSpc>
                <a:spcPct val="112000"/>
              </a:lnSpc>
            </a:pPr>
            <a:r>
              <a:rPr sz="1200" b="0" i="0">
                <a:solidFill>
                  <a:srgbClr val="2B2B2B"/>
                </a:solidFill>
                <a:latin typeface="Calibri"/>
              </a:rPr>
              <a:t>Poseer titulados o graduados.</a:t>
            </a:r>
          </a:p>
        </p:txBody>
      </p:sp>
      <p:sp>
        <p:nvSpPr>
          <p:cNvPr id="14" name="Oval 13"/>
          <p:cNvSpPr/>
          <p:nvPr/>
        </p:nvSpPr>
        <p:spPr>
          <a:xfrm>
            <a:off x="594360" y="4709159"/>
            <a:ext cx="384048" cy="384048"/>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709159"/>
            <a:ext cx="384048" cy="384048"/>
          </a:xfrm>
          <a:prstGeom prst="rect">
            <a:avLst/>
          </a:prstGeom>
          <a:noFill/>
        </p:spPr>
        <p:txBody>
          <a:bodyPr wrap="square" lIns="36576" rIns="36576" tIns="18288" bIns="18288" anchor="ctr">
            <a:spAutoFit/>
          </a:bodyPr>
          <a:lstStyle/>
          <a:p>
            <a:pPr algn="ctr"/>
            <a:r>
              <a:rPr sz="1300" b="1" i="0">
                <a:solidFill>
                  <a:srgbClr val="FFFFFF"/>
                </a:solidFill>
                <a:latin typeface="Cambria"/>
              </a:rPr>
              <a:t>4</a:t>
            </a:r>
          </a:p>
        </p:txBody>
      </p:sp>
      <p:sp>
        <p:nvSpPr>
          <p:cNvPr id="16" name="TextBox 15"/>
          <p:cNvSpPr txBox="1"/>
          <p:nvPr/>
        </p:nvSpPr>
        <p:spPr>
          <a:xfrm>
            <a:off x="1097280" y="4690872"/>
            <a:ext cx="4709160" cy="868680"/>
          </a:xfrm>
          <a:prstGeom prst="rect">
            <a:avLst/>
          </a:prstGeom>
          <a:noFill/>
        </p:spPr>
        <p:txBody>
          <a:bodyPr wrap="square" lIns="36576" rIns="36576" tIns="18288" bIns="18288">
            <a:spAutoFit/>
          </a:bodyPr>
          <a:lstStyle/>
          <a:p>
            <a:pPr algn="l">
              <a:lnSpc>
                <a:spcPct val="112000"/>
              </a:lnSpc>
            </a:pPr>
            <a:r>
              <a:rPr sz="1200" b="0" i="0">
                <a:solidFill>
                  <a:srgbClr val="2B2B2B"/>
                </a:solidFill>
                <a:latin typeface="Calibri"/>
              </a:rPr>
              <a:t>No haber sido seleccionado en la muestra intencionada del proceso de acreditación inmediatamente anterior (no aplica a instituciones con menos de 4 programas elegibles).</a:t>
            </a:r>
          </a:p>
        </p:txBody>
      </p:sp>
      <p:sp>
        <p:nvSpPr>
          <p:cNvPr id="17" name="TextBox 16"/>
          <p:cNvSpPr txBox="1"/>
          <p:nvPr/>
        </p:nvSpPr>
        <p:spPr>
          <a:xfrm>
            <a:off x="6126480" y="1325880"/>
            <a:ext cx="5440680" cy="365760"/>
          </a:xfrm>
          <a:prstGeom prst="rect">
            <a:avLst/>
          </a:prstGeom>
          <a:noFill/>
        </p:spPr>
        <p:txBody>
          <a:bodyPr wrap="square" lIns="36576" rIns="36576" tIns="18288" bIns="18288">
            <a:spAutoFit/>
          </a:bodyPr>
          <a:lstStyle/>
          <a:p>
            <a:pPr algn="l"/>
            <a:r>
              <a:rPr sz="1500" b="1" i="0">
                <a:solidFill>
                  <a:srgbClr val="7A1F2B"/>
                </a:solidFill>
                <a:latin typeface="Cambria"/>
              </a:rPr>
              <a:t>¿Cómo se eligen?</a:t>
            </a:r>
          </a:p>
        </p:txBody>
      </p:sp>
      <p:sp>
        <p:nvSpPr>
          <p:cNvPr id="18" name="TextBox 17"/>
          <p:cNvSpPr txBox="1"/>
          <p:nvPr/>
        </p:nvSpPr>
        <p:spPr>
          <a:xfrm>
            <a:off x="6126480" y="1783080"/>
            <a:ext cx="5440680" cy="4480560"/>
          </a:xfrm>
          <a:prstGeom prst="rect">
            <a:avLst/>
          </a:prstGeom>
          <a:noFill/>
        </p:spPr>
        <p:txBody>
          <a:bodyPr wrap="square" lIns="36576" rIns="36576" tIns="18288" bIns="18288">
            <a:spAutoFit/>
          </a:bodyPr>
          <a:lstStyle/>
          <a:p>
            <a:pPr algn="l">
              <a:lnSpc>
                <a:spcPct val="112000"/>
              </a:lnSpc>
              <a:spcAft>
                <a:spcPts val="1100"/>
              </a:spcAft>
            </a:pPr>
            <a:r>
              <a:rPr sz="1180" b="1" i="0">
                <a:solidFill>
                  <a:srgbClr val="2B2B2B"/>
                </a:solidFill>
                <a:latin typeface="Calibri"/>
              </a:rPr>
              <a:t>Ordenamiento. </a:t>
            </a:r>
            <a:r>
              <a:rPr sz="1180" b="0" i="0">
                <a:solidFill>
                  <a:srgbClr val="2B2B2B"/>
                </a:solidFill>
                <a:latin typeface="Calibri"/>
              </a:rPr>
              <a:t>Las carreras y programas elegibles se ordenan por área del conocimiento según matrícula, de mayor a menor.</a:t>
            </a:r>
          </a:p>
          <a:p>
            <a:pPr algn="l">
              <a:lnSpc>
                <a:spcPct val="112000"/>
              </a:lnSpc>
              <a:spcAft>
                <a:spcPts val="1100"/>
              </a:spcAft>
            </a:pPr>
            <a:r>
              <a:rPr sz="1180" b="1" i="0">
                <a:solidFill>
                  <a:srgbClr val="2B2B2B"/>
                </a:solidFill>
                <a:latin typeface="Calibri"/>
              </a:rPr>
              <a:t>Sorteo equiprobable. </a:t>
            </a:r>
            <a:r>
              <a:rPr sz="1180" b="0" i="0">
                <a:solidFill>
                  <a:srgbClr val="2B2B2B"/>
                </a:solidFill>
                <a:latin typeface="Calibri"/>
              </a:rPr>
              <a:t>Dentro de cada área, la selección final se realiza mediante un número aleatorio equiprobable.</a:t>
            </a:r>
          </a:p>
          <a:p>
            <a:pPr algn="l">
              <a:lnSpc>
                <a:spcPct val="112000"/>
              </a:lnSpc>
              <a:spcAft>
                <a:spcPts val="1100"/>
              </a:spcAft>
            </a:pPr>
            <a:r>
              <a:rPr sz="1180" b="1" i="0">
                <a:solidFill>
                  <a:srgbClr val="2B2B2B"/>
                </a:solidFill>
                <a:latin typeface="Calibri"/>
              </a:rPr>
              <a:t>Ponderación pregrado/posgrado. </a:t>
            </a:r>
            <a:r>
              <a:rPr sz="1180" b="0" i="0">
                <a:solidFill>
                  <a:srgbClr val="2B2B2B"/>
                </a:solidFill>
                <a:latin typeface="Calibri"/>
              </a:rPr>
              <a:t>El número de programas de posgrado se calcula con una fórmula sobre la razón pregrado/posgrado de la institución.</a:t>
            </a:r>
          </a:p>
          <a:p>
            <a:pPr algn="l">
              <a:lnSpc>
                <a:spcPct val="112000"/>
              </a:lnSpc>
              <a:spcAft>
                <a:spcPts val="1100"/>
              </a:spcAft>
            </a:pPr>
            <a:r>
              <a:rPr sz="1180" b="1" i="0">
                <a:solidFill>
                  <a:srgbClr val="2B2B2B"/>
                </a:solidFill>
                <a:latin typeface="Calibri"/>
              </a:rPr>
              <a:t>Selección de sede. </a:t>
            </a:r>
            <a:r>
              <a:rPr sz="1180" b="0" i="0">
                <a:solidFill>
                  <a:srgbClr val="2B2B2B"/>
                </a:solidFill>
                <a:latin typeface="Calibri"/>
              </a:rPr>
              <a:t>Si el programa se imparte en varias sedes: hasta 3 sedes → 1 seleccionada; entre 4 y 9 → 2; 10 o más → 3.</a:t>
            </a:r>
          </a:p>
          <a:p>
            <a:pPr algn="l">
              <a:lnSpc>
                <a:spcPct val="112000"/>
              </a:lnSpc>
              <a:spcAft>
                <a:spcPts val="1100"/>
              </a:spcAft>
            </a:pPr>
            <a:r>
              <a:rPr sz="1180" b="1" i="0">
                <a:solidFill>
                  <a:srgbClr val="2B2B2B"/>
                </a:solidFill>
                <a:latin typeface="Calibri"/>
              </a:rPr>
              <a:t>Plazos. </a:t>
            </a:r>
            <a:r>
              <a:rPr sz="1180" b="0" i="0">
                <a:solidFill>
                  <a:srgbClr val="2B2B2B"/>
                </a:solidFill>
                <a:latin typeface="Calibri"/>
              </a:rPr>
              <a:t>Comunicación en 5 días hábiles; observaciones y adición voluntaria en 3 + 3 días hábiles; informe final en 60 días corridos.</a:t>
            </a:r>
          </a:p>
        </p:txBody>
      </p:sp>
      <p:sp>
        <p:nvSpPr>
          <p:cNvPr id="19" name="TextBox 18"/>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74320"/>
          </a:xfrm>
          <a:prstGeom prst="rect">
            <a:avLst/>
          </a:prstGeom>
          <a:noFill/>
        </p:spPr>
        <p:txBody>
          <a:bodyPr wrap="square" lIns="36576" rIns="36576" tIns="18288" bIns="18288">
            <a:spAutoFit/>
          </a:bodyPr>
          <a:lstStyle/>
          <a:p>
            <a:pPr algn="l"/>
            <a:r>
              <a:rPr sz="1200" b="1" i="0">
                <a:solidFill>
                  <a:srgbClr val="C9A227"/>
                </a:solidFill>
                <a:latin typeface="Calibri"/>
              </a:rPr>
              <a:t>LA USACH Y ESTE MARCO</a:t>
            </a:r>
          </a:p>
        </p:txBody>
      </p:sp>
      <p:sp>
        <p:nvSpPr>
          <p:cNvPr id="3" name="TextBox 2"/>
          <p:cNvSpPr txBox="1"/>
          <p:nvPr/>
        </p:nvSpPr>
        <p:spPr>
          <a:xfrm>
            <a:off x="548640" y="658368"/>
            <a:ext cx="11155680" cy="731520"/>
          </a:xfrm>
          <a:prstGeom prst="rect">
            <a:avLst/>
          </a:prstGeom>
          <a:noFill/>
        </p:spPr>
        <p:txBody>
          <a:bodyPr wrap="square" lIns="36576" rIns="36576" tIns="18288" bIns="18288">
            <a:spAutoFit/>
          </a:bodyPr>
          <a:lstStyle/>
          <a:p>
            <a:pPr algn="l"/>
            <a:r>
              <a:rPr sz="3000" b="1" i="0">
                <a:solidFill>
                  <a:srgbClr val="7A1F2B"/>
                </a:solidFill>
                <a:latin typeface="Cambria"/>
              </a:rPr>
              <a:t>El camino institucional en marcha</a:t>
            </a:r>
          </a:p>
        </p:txBody>
      </p:sp>
      <p:sp>
        <p:nvSpPr>
          <p:cNvPr id="4" name="Rounded Rectangle 3"/>
          <p:cNvSpPr/>
          <p:nvPr/>
        </p:nvSpPr>
        <p:spPr>
          <a:xfrm>
            <a:off x="594360" y="1554480"/>
            <a:ext cx="3520440" cy="178308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3108960" cy="502920"/>
          </a:xfrm>
          <a:prstGeom prst="rect">
            <a:avLst/>
          </a:prstGeom>
          <a:noFill/>
        </p:spPr>
        <p:txBody>
          <a:bodyPr wrap="square" lIns="36576" rIns="36576" tIns="18288" bIns="18288">
            <a:spAutoFit/>
          </a:bodyPr>
          <a:lstStyle/>
          <a:p>
            <a:pPr algn="l"/>
            <a:r>
              <a:rPr sz="2200" b="1" i="0">
                <a:solidFill>
                  <a:srgbClr val="7A1F2B"/>
                </a:solidFill>
                <a:latin typeface="Cambria"/>
              </a:rPr>
              <a:t>2025–2030</a:t>
            </a:r>
          </a:p>
        </p:txBody>
      </p:sp>
      <p:sp>
        <p:nvSpPr>
          <p:cNvPr id="6" name="TextBox 5"/>
          <p:cNvSpPr txBox="1"/>
          <p:nvPr/>
        </p:nvSpPr>
        <p:spPr>
          <a:xfrm>
            <a:off x="822960" y="2212848"/>
            <a:ext cx="3108960" cy="502920"/>
          </a:xfrm>
          <a:prstGeom prst="rect">
            <a:avLst/>
          </a:prstGeom>
          <a:noFill/>
        </p:spPr>
        <p:txBody>
          <a:bodyPr wrap="square" lIns="36576" rIns="36576" tIns="18288" bIns="18288">
            <a:spAutoFit/>
          </a:bodyPr>
          <a:lstStyle/>
          <a:p>
            <a:pPr algn="l">
              <a:lnSpc>
                <a:spcPct val="100000"/>
              </a:lnSpc>
            </a:pPr>
            <a:r>
              <a:rPr sz="1200" b="1" i="0">
                <a:solidFill>
                  <a:srgbClr val="491017"/>
                </a:solidFill>
                <a:latin typeface="Calibri"/>
              </a:rPr>
              <a:t>Plan de Desarrollo Institucional (PDeI)</a:t>
            </a:r>
          </a:p>
        </p:txBody>
      </p:sp>
      <p:sp>
        <p:nvSpPr>
          <p:cNvPr id="7" name="TextBox 6"/>
          <p:cNvSpPr txBox="1"/>
          <p:nvPr/>
        </p:nvSpPr>
        <p:spPr>
          <a:xfrm>
            <a:off x="822960" y="2697480"/>
            <a:ext cx="3108960" cy="594360"/>
          </a:xfrm>
          <a:prstGeom prst="rect">
            <a:avLst/>
          </a:prstGeom>
          <a:noFill/>
        </p:spPr>
        <p:txBody>
          <a:bodyPr wrap="square" lIns="36576" rIns="36576" tIns="18288" bIns="18288">
            <a:spAutoFit/>
          </a:bodyPr>
          <a:lstStyle/>
          <a:p>
            <a:pPr algn="l">
              <a:lnSpc>
                <a:spcPct val="110000"/>
              </a:lnSpc>
            </a:pPr>
            <a:r>
              <a:rPr sz="1050" b="0" i="0">
                <a:solidFill>
                  <a:srgbClr val="797371"/>
                </a:solidFill>
                <a:latin typeface="Calibri"/>
              </a:rPr>
              <a:t>Marco estratégico vigente, aprobado por Resolución N°1483 de 2025.</a:t>
            </a:r>
          </a:p>
        </p:txBody>
      </p:sp>
      <p:sp>
        <p:nvSpPr>
          <p:cNvPr id="8" name="Rounded Rectangle 7"/>
          <p:cNvSpPr/>
          <p:nvPr/>
        </p:nvSpPr>
        <p:spPr>
          <a:xfrm>
            <a:off x="4416552" y="1554480"/>
            <a:ext cx="3520440" cy="178308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691640"/>
            <a:ext cx="3108960" cy="502920"/>
          </a:xfrm>
          <a:prstGeom prst="rect">
            <a:avLst/>
          </a:prstGeom>
          <a:noFill/>
        </p:spPr>
        <p:txBody>
          <a:bodyPr wrap="square" lIns="36576" rIns="36576" tIns="18288" bIns="18288">
            <a:spAutoFit/>
          </a:bodyPr>
          <a:lstStyle/>
          <a:p>
            <a:pPr algn="l"/>
            <a:r>
              <a:rPr sz="2200" b="1" i="0">
                <a:solidFill>
                  <a:srgbClr val="7A1F2B"/>
                </a:solidFill>
                <a:latin typeface="Cambria"/>
              </a:rPr>
              <a:t>8 unidades</a:t>
            </a:r>
          </a:p>
        </p:txBody>
      </p:sp>
      <p:sp>
        <p:nvSpPr>
          <p:cNvPr id="10" name="TextBox 9"/>
          <p:cNvSpPr txBox="1"/>
          <p:nvPr/>
        </p:nvSpPr>
        <p:spPr>
          <a:xfrm>
            <a:off x="4645152" y="2212848"/>
            <a:ext cx="3108960" cy="502920"/>
          </a:xfrm>
          <a:prstGeom prst="rect">
            <a:avLst/>
          </a:prstGeom>
          <a:noFill/>
        </p:spPr>
        <p:txBody>
          <a:bodyPr wrap="square" lIns="36576" rIns="36576" tIns="18288" bIns="18288">
            <a:spAutoFit/>
          </a:bodyPr>
          <a:lstStyle/>
          <a:p>
            <a:pPr algn="l">
              <a:lnSpc>
                <a:spcPct val="100000"/>
              </a:lnSpc>
            </a:pPr>
            <a:r>
              <a:rPr sz="1200" b="1" i="0">
                <a:solidFill>
                  <a:srgbClr val="491017"/>
                </a:solidFill>
                <a:latin typeface="Calibri"/>
              </a:rPr>
              <a:t>Prorrectoría y 7 Vicerrectorías</a:t>
            </a:r>
          </a:p>
        </p:txBody>
      </p:sp>
      <p:sp>
        <p:nvSpPr>
          <p:cNvPr id="11" name="TextBox 10"/>
          <p:cNvSpPr txBox="1"/>
          <p:nvPr/>
        </p:nvSpPr>
        <p:spPr>
          <a:xfrm>
            <a:off x="4645152" y="2697480"/>
            <a:ext cx="3108960" cy="594360"/>
          </a:xfrm>
          <a:prstGeom prst="rect">
            <a:avLst/>
          </a:prstGeom>
          <a:noFill/>
        </p:spPr>
        <p:txBody>
          <a:bodyPr wrap="square" lIns="36576" rIns="36576" tIns="18288" bIns="18288">
            <a:spAutoFit/>
          </a:bodyPr>
          <a:lstStyle/>
          <a:p>
            <a:pPr algn="l">
              <a:lnSpc>
                <a:spcPct val="110000"/>
              </a:lnSpc>
            </a:pPr>
            <a:r>
              <a:rPr sz="1050" b="0" i="0">
                <a:solidFill>
                  <a:srgbClr val="797371"/>
                </a:solidFill>
                <a:latin typeface="Calibri"/>
              </a:rPr>
              <a:t>Cada una declaró su propia misión, visión y lineamientos estratégicos.</a:t>
            </a:r>
          </a:p>
        </p:txBody>
      </p:sp>
      <p:sp>
        <p:nvSpPr>
          <p:cNvPr id="12" name="Rounded Rectangle 11"/>
          <p:cNvSpPr/>
          <p:nvPr/>
        </p:nvSpPr>
        <p:spPr>
          <a:xfrm>
            <a:off x="8229600" y="1554480"/>
            <a:ext cx="3520440" cy="1783080"/>
          </a:xfrm>
          <a:prstGeom prst="roundRect">
            <a:avLst>
              <a:gd name="adj" fmla="val 7000"/>
            </a:avLst>
          </a:prstGeom>
          <a:solidFill>
            <a:srgbClr val="F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1691640"/>
            <a:ext cx="3108960" cy="502920"/>
          </a:xfrm>
          <a:prstGeom prst="rect">
            <a:avLst/>
          </a:prstGeom>
          <a:noFill/>
        </p:spPr>
        <p:txBody>
          <a:bodyPr wrap="square" lIns="36576" rIns="36576" tIns="18288" bIns="18288">
            <a:spAutoFit/>
          </a:bodyPr>
          <a:lstStyle/>
          <a:p>
            <a:pPr algn="l"/>
            <a:r>
              <a:rPr sz="2200" b="1" i="0">
                <a:solidFill>
                  <a:srgbClr val="7A1F2B"/>
                </a:solidFill>
                <a:latin typeface="Cambria"/>
              </a:rPr>
              <a:t>18 de ~145</a:t>
            </a:r>
          </a:p>
        </p:txBody>
      </p:sp>
      <p:sp>
        <p:nvSpPr>
          <p:cNvPr id="14" name="TextBox 13"/>
          <p:cNvSpPr txBox="1"/>
          <p:nvPr/>
        </p:nvSpPr>
        <p:spPr>
          <a:xfrm>
            <a:off x="8458200" y="2212848"/>
            <a:ext cx="3108960" cy="502920"/>
          </a:xfrm>
          <a:prstGeom prst="rect">
            <a:avLst/>
          </a:prstGeom>
          <a:noFill/>
        </p:spPr>
        <p:txBody>
          <a:bodyPr wrap="square" lIns="36576" rIns="36576" tIns="18288" bIns="18288">
            <a:spAutoFit/>
          </a:bodyPr>
          <a:lstStyle/>
          <a:p>
            <a:pPr algn="l">
              <a:lnSpc>
                <a:spcPct val="100000"/>
              </a:lnSpc>
            </a:pPr>
            <a:r>
              <a:rPr sz="1200" b="1" i="0">
                <a:solidFill>
                  <a:srgbClr val="491017"/>
                </a:solidFill>
                <a:latin typeface="Calibri"/>
              </a:rPr>
              <a:t>Lineamientos de Aseguramiento de la Calidad</a:t>
            </a:r>
          </a:p>
        </p:txBody>
      </p:sp>
      <p:sp>
        <p:nvSpPr>
          <p:cNvPr id="15" name="TextBox 14"/>
          <p:cNvSpPr txBox="1"/>
          <p:nvPr/>
        </p:nvSpPr>
        <p:spPr>
          <a:xfrm>
            <a:off x="8458200" y="2697480"/>
            <a:ext cx="3108960" cy="594360"/>
          </a:xfrm>
          <a:prstGeom prst="rect">
            <a:avLst/>
          </a:prstGeom>
          <a:noFill/>
        </p:spPr>
        <p:txBody>
          <a:bodyPr wrap="square" lIns="36576" rIns="36576" tIns="18288" bIns="18288">
            <a:spAutoFit/>
          </a:bodyPr>
          <a:lstStyle/>
          <a:p>
            <a:pPr algn="l">
              <a:lnSpc>
                <a:spcPct val="110000"/>
              </a:lnSpc>
            </a:pPr>
            <a:r>
              <a:rPr sz="1050" b="0" i="0">
                <a:solidFill>
                  <a:srgbClr val="797371"/>
                </a:solidFill>
                <a:latin typeface="Calibri"/>
              </a:rPr>
              <a:t>Presentes en 6 de las 8 unidades mayores de gobierno universitario.</a:t>
            </a:r>
          </a:p>
        </p:txBody>
      </p:sp>
      <p:sp>
        <p:nvSpPr>
          <p:cNvPr id="16" name="TextBox 15"/>
          <p:cNvSpPr txBox="1"/>
          <p:nvPr/>
        </p:nvSpPr>
        <p:spPr>
          <a:xfrm>
            <a:off x="594360" y="3703320"/>
            <a:ext cx="10972800" cy="2377440"/>
          </a:xfrm>
          <a:prstGeom prst="rect">
            <a:avLst/>
          </a:prstGeom>
          <a:noFill/>
        </p:spPr>
        <p:txBody>
          <a:bodyPr wrap="square" lIns="36576" rIns="36576" tIns="18288" bIns="18288">
            <a:spAutoFit/>
          </a:bodyPr>
          <a:lstStyle/>
          <a:p>
            <a:pPr algn="l">
              <a:lnSpc>
                <a:spcPct val="120000"/>
              </a:lnSpc>
              <a:spcAft>
                <a:spcPts val="1400"/>
              </a:spcAft>
            </a:pPr>
            <a:r>
              <a:rPr sz="1400" b="0" i="0">
                <a:solidFill>
                  <a:srgbClr val="2B2B2B"/>
                </a:solidFill>
                <a:latin typeface="Calibri"/>
              </a:rPr>
              <a:t>El Sistema de Aseguramiento de la Calidad Institucional (SACI) y su Departamento (DAC) son las instancias llamadas a coordinar, internamente, el cumplimiento de los catorce criterios de la CNA.</a:t>
            </a:r>
          </a:p>
          <a:p>
            <a:pPr algn="l">
              <a:lnSpc>
                <a:spcPct val="120000"/>
              </a:lnSpc>
              <a:spcAft>
                <a:spcPts val="1400"/>
              </a:spcAft>
            </a:pPr>
            <a:r>
              <a:rPr sz="1400" b="0" i="0">
                <a:solidFill>
                  <a:srgbClr val="2B2B2B"/>
                </a:solidFill>
                <a:latin typeface="Calibri"/>
              </a:rPr>
              <a:t>Cumplir esta rúbrica es una tarea transversal: compromete a cada Facultad, Vicerrectoría y unidad de la Universidad — no solo a la dirección a cargo del aseguramiento de la calidad.</a:t>
            </a:r>
          </a:p>
        </p:txBody>
      </p:sp>
      <p:sp>
        <p:nvSpPr>
          <p:cNvPr id="17" name="TextBox 16"/>
          <p:cNvSpPr txBox="1"/>
          <p:nvPr/>
        </p:nvSpPr>
        <p:spPr>
          <a:xfrm>
            <a:off x="11475720" y="6492240"/>
            <a:ext cx="457200" cy="274320"/>
          </a:xfrm>
          <a:prstGeom prst="rect">
            <a:avLst/>
          </a:prstGeom>
          <a:noFill/>
        </p:spPr>
        <p:txBody>
          <a:bodyPr wrap="square" lIns="36576" rIns="36576" tIns="18288" bIns="18288">
            <a:spAutoFit/>
          </a:bodyPr>
          <a:lstStyle/>
          <a:p>
            <a:pPr algn="r"/>
            <a:r>
              <a:rPr sz="1000" b="0" i="0">
                <a:solidFill>
                  <a:srgbClr val="797371"/>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491017"/>
        </a:solidFill>
        <a:effectLst/>
      </p:bgPr>
    </p:bg>
    <p:spTree>
      <p:nvGrpSpPr>
        <p:cNvPr id="1" name=""/>
        <p:cNvGrpSpPr/>
        <p:nvPr/>
      </p:nvGrpSpPr>
      <p:grpSpPr/>
      <p:sp>
        <p:nvSpPr>
          <p:cNvPr id="2" name="Oval 1"/>
          <p:cNvSpPr/>
          <p:nvPr/>
        </p:nvSpPr>
        <p:spPr>
          <a:xfrm>
            <a:off x="9052560" y="4206240"/>
            <a:ext cx="4206240" cy="4206240"/>
          </a:xfrm>
          <a:prstGeom prst="ellipse">
            <a:avLst/>
          </a:prstGeom>
          <a:noFill/>
          <a:ln w="254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9875520" cy="365760"/>
          </a:xfrm>
          <a:prstGeom prst="rect">
            <a:avLst/>
          </a:prstGeom>
          <a:noFill/>
        </p:spPr>
        <p:txBody>
          <a:bodyPr wrap="square" lIns="36576" rIns="36576" tIns="18288" bIns="18288">
            <a:spAutoFit/>
          </a:bodyPr>
          <a:lstStyle/>
          <a:p>
            <a:pPr algn="l"/>
            <a:r>
              <a:rPr sz="1300" b="1" i="0">
                <a:solidFill>
                  <a:srgbClr val="C9A227"/>
                </a:solidFill>
                <a:latin typeface="Calibri"/>
              </a:rPr>
              <a:t>LA ACREDITACIÓN ES UNA TAREA COMPARTIDA</a:t>
            </a:r>
          </a:p>
        </p:txBody>
      </p:sp>
      <p:sp>
        <p:nvSpPr>
          <p:cNvPr id="4" name="TextBox 3"/>
          <p:cNvSpPr txBox="1"/>
          <p:nvPr/>
        </p:nvSpPr>
        <p:spPr>
          <a:xfrm>
            <a:off x="822960" y="2286000"/>
            <a:ext cx="9692640" cy="1828800"/>
          </a:xfrm>
          <a:prstGeom prst="rect">
            <a:avLst/>
          </a:prstGeom>
          <a:noFill/>
        </p:spPr>
        <p:txBody>
          <a:bodyPr wrap="square" lIns="36576" rIns="36576" tIns="18288" bIns="18288">
            <a:spAutoFit/>
          </a:bodyPr>
          <a:lstStyle/>
          <a:p>
            <a:pPr algn="l">
              <a:lnSpc>
                <a:spcPct val="115000"/>
              </a:lnSpc>
            </a:pPr>
            <a:r>
              <a:rPr sz="3000" b="1" i="0">
                <a:solidFill>
                  <a:srgbClr val="FFFFFF"/>
                </a:solidFill>
                <a:latin typeface="Cambria"/>
              </a:rPr>
              <a:t>Conocer los criterios CNA es el primer paso
para que toda la comunidad universitaria
contribuya a sostenerlos.</a:t>
            </a:r>
          </a:p>
        </p:txBody>
      </p:sp>
      <p:sp>
        <p:nvSpPr>
          <p:cNvPr id="5" name="TextBox 4"/>
          <p:cNvSpPr txBox="1"/>
          <p:nvPr/>
        </p:nvSpPr>
        <p:spPr>
          <a:xfrm>
            <a:off x="822960" y="5806440"/>
            <a:ext cx="10241280" cy="822960"/>
          </a:xfrm>
          <a:prstGeom prst="rect">
            <a:avLst/>
          </a:prstGeom>
          <a:noFill/>
        </p:spPr>
        <p:txBody>
          <a:bodyPr wrap="square" lIns="36576" rIns="36576" tIns="18288" bIns="18288">
            <a:spAutoFit/>
          </a:bodyPr>
          <a:lstStyle/>
          <a:p>
            <a:pPr algn="l">
              <a:lnSpc>
                <a:spcPct val="120000"/>
              </a:lnSpc>
            </a:pPr>
            <a:r>
              <a:rPr sz="1050" b="0" i="1">
                <a:solidFill>
                  <a:srgbClr val="D8C6C2"/>
                </a:solidFill>
                <a:latin typeface="Calibri"/>
              </a:rPr>
              <a:t>Fuentes normativas: Ley N°20.129 (2006) · Ley N°21.091 (2018) · Ley N°21.094 (2018) · Ley N°21.369 · Criterios y Estándares de Calidad para la Acreditación Institucional del Subsistema Universitario, CNA (2024) · Resoluciones Exentas DJ N°343-4 y N°346-4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